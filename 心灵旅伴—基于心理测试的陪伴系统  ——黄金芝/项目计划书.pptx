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1" d="100"/>
          <a:sy n="81" d="100"/>
        </p:scale>
        <p:origin x="67"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 y="2540"/>
            <a:ext cx="4102735" cy="6855460"/>
          </a:xfrm>
          <a:prstGeom prst="rect">
            <a:avLst/>
          </a:prstGeom>
          <a:solidFill>
            <a:srgbClr val="AAC2AC">
              <a:alpha val="37000"/>
            </a:srgbClr>
          </a:solidFill>
          <a:ln w="12700">
            <a:solidFill>
              <a:srgbClr val="7C8E7D">
                <a:alpha val="100000"/>
              </a:srgbClr>
            </a:solidFill>
            <a:prstDash val="solid"/>
          </a:ln>
        </p:spPr>
      </p:sp>
      <p:sp>
        <p:nvSpPr>
          <p:cNvPr id="3" name="AutoShape 3"/>
          <p:cNvSpPr/>
          <p:nvPr/>
        </p:nvSpPr>
        <p:spPr>
          <a:xfrm>
            <a:off x="4102735" y="0"/>
            <a:ext cx="2407920" cy="6858000"/>
          </a:xfrm>
          <a:prstGeom prst="rect">
            <a:avLst/>
          </a:prstGeom>
          <a:solidFill>
            <a:srgbClr val="AAC2AC">
              <a:alpha val="100000"/>
            </a:srgbClr>
          </a:solidFill>
          <a:ln/>
        </p:spPr>
      </p:sp>
      <p:sp>
        <p:nvSpPr>
          <p:cNvPr id="4" name="AutoShape 4"/>
          <p:cNvSpPr/>
          <p:nvPr/>
        </p:nvSpPr>
        <p:spPr>
          <a:xfrm>
            <a:off x="1912573" y="1287254"/>
            <a:ext cx="3406471" cy="3406471"/>
          </a:xfrm>
          <a:prstGeom prst="diamond">
            <a:avLst/>
          </a:prstGeom>
          <a:solidFill>
            <a:srgbClr val="F3D3BC">
              <a:alpha val="100000"/>
            </a:srgbClr>
          </a:solidFill>
          <a:ln/>
          <a:effectLst>
            <a:outerShdw blurRad="50800" dist="38100" dir="2700000">
              <a:srgbClr val="000000">
                <a:alpha val="40000"/>
              </a:srgbClr>
            </a:outerShdw>
          </a:effectLst>
        </p:spPr>
      </p:sp>
      <p:sp>
        <p:nvSpPr>
          <p:cNvPr id="5" name="AutoShape 5"/>
          <p:cNvSpPr/>
          <p:nvPr/>
        </p:nvSpPr>
        <p:spPr>
          <a:xfrm>
            <a:off x="2224855" y="1599536"/>
            <a:ext cx="2781907" cy="2781907"/>
          </a:xfrm>
          <a:prstGeom prst="diamond">
            <a:avLst/>
          </a:prstGeom>
          <a:solidFill>
            <a:srgbClr val="FFFFFF">
              <a:alpha val="81000"/>
            </a:srgbClr>
          </a:solidFill>
          <a:ln/>
          <a:effectLst>
            <a:outerShdw blurRad="50800" dist="38100" dir="2700000">
              <a:srgbClr val="000000">
                <a:alpha val="40000"/>
              </a:srgbClr>
            </a:outerShdw>
          </a:effectLst>
        </p:spPr>
      </p:sp>
      <p:sp>
        <p:nvSpPr>
          <p:cNvPr id="6" name="AutoShape 6"/>
          <p:cNvSpPr/>
          <p:nvPr/>
        </p:nvSpPr>
        <p:spPr>
          <a:xfrm>
            <a:off x="2428079" y="1802760"/>
            <a:ext cx="2375459" cy="2375459"/>
          </a:xfrm>
          <a:prstGeom prst="diamond">
            <a:avLst/>
          </a:prstGeom>
          <a:solidFill>
            <a:srgbClr val="F3D3BC">
              <a:alpha val="100000"/>
            </a:srgbClr>
          </a:solidFill>
          <a:ln/>
          <a:effectLst>
            <a:outerShdw blurRad="50800" dist="38100" dir="2700000">
              <a:srgbClr val="000000">
                <a:alpha val="40000"/>
              </a:srgbClr>
            </a:outerShdw>
          </a:effectLst>
        </p:spPr>
        <p:txBody>
          <a:bodyPr vert="horz" wrap="square" lIns="91440" tIns="45720" rIns="91440" bIns="45720" rtlCol="0" anchor="ctr" anchorCtr="0">
            <a:noAutofit/>
          </a:bodyPr>
          <a:lstStyle/>
          <a:p>
            <a:pPr algn="ctr">
              <a:defRPr/>
            </a:pPr>
            <a:endParaRPr lang="en-US" sz="1100"/>
          </a:p>
        </p:txBody>
      </p:sp>
      <p:sp>
        <p:nvSpPr>
          <p:cNvPr id="7" name="AutoShape 7"/>
          <p:cNvSpPr/>
          <p:nvPr/>
        </p:nvSpPr>
        <p:spPr>
          <a:xfrm>
            <a:off x="2161840" y="1599578"/>
            <a:ext cx="602250" cy="602250"/>
          </a:xfrm>
          <a:prstGeom prst="diamond">
            <a:avLst/>
          </a:prstGeom>
          <a:solidFill>
            <a:srgbClr val="F3D3BC">
              <a:alpha val="100000"/>
            </a:srgbClr>
          </a:solidFill>
          <a:ln/>
          <a:effectLst>
            <a:outerShdw blurRad="50800" dist="38100" dir="2700000">
              <a:srgbClr val="000000">
                <a:alpha val="40000"/>
              </a:srgbClr>
            </a:outerShdw>
          </a:effectLst>
        </p:spPr>
      </p:sp>
      <p:sp>
        <p:nvSpPr>
          <p:cNvPr id="8" name="AutoShape 8"/>
          <p:cNvSpPr/>
          <p:nvPr/>
        </p:nvSpPr>
        <p:spPr>
          <a:xfrm>
            <a:off x="2763757" y="856158"/>
            <a:ext cx="422417" cy="422417"/>
          </a:xfrm>
          <a:prstGeom prst="diamond">
            <a:avLst/>
          </a:prstGeom>
          <a:solidFill>
            <a:srgbClr val="F3D3BC">
              <a:alpha val="100000"/>
            </a:srgbClr>
          </a:solidFill>
          <a:ln/>
          <a:effectLst>
            <a:outerShdw blurRad="50800" dist="38100" dir="2700000">
              <a:srgbClr val="000000">
                <a:alpha val="40000"/>
              </a:srgbClr>
            </a:outerShdw>
          </a:effectLst>
        </p:spPr>
      </p:sp>
      <p:grpSp>
        <p:nvGrpSpPr>
          <p:cNvPr id="9" name="Group 9"/>
          <p:cNvGrpSpPr/>
          <p:nvPr/>
        </p:nvGrpSpPr>
        <p:grpSpPr>
          <a:xfrm rot="16200000" flipH="1">
            <a:off x="4789947" y="2710785"/>
            <a:ext cx="1442023" cy="719425"/>
            <a:chOff x="4789947" y="2710785"/>
            <a:chExt cx="1442023" cy="719425"/>
          </a:xfrm>
        </p:grpSpPr>
        <p:cxnSp>
          <p:nvCxnSpPr>
            <p:cNvPr id="10" name="Connector 10"/>
            <p:cNvCxnSpPr/>
            <p:nvPr/>
          </p:nvCxnSpPr>
          <p:spPr>
            <a:xfrm flipH="1">
              <a:off x="5513340" y="2711579"/>
              <a:ext cx="718630" cy="718631"/>
            </a:xfrm>
            <a:prstGeom prst="line">
              <a:avLst/>
            </a:prstGeom>
            <a:ln w="38100">
              <a:solidFill>
                <a:srgbClr val="FFFFFF">
                  <a:alpha val="100000"/>
                </a:srgbClr>
              </a:solidFill>
              <a:prstDash val="solid"/>
              <a:headEnd type="none"/>
              <a:tailEnd type="none"/>
            </a:ln>
          </p:spPr>
        </p:cxnSp>
        <p:cxnSp>
          <p:nvCxnSpPr>
            <p:cNvPr id="11" name="Connector 11"/>
            <p:cNvCxnSpPr/>
            <p:nvPr/>
          </p:nvCxnSpPr>
          <p:spPr>
            <a:xfrm flipH="1">
              <a:off x="4789947" y="2710785"/>
              <a:ext cx="718630" cy="718631"/>
            </a:xfrm>
            <a:prstGeom prst="line">
              <a:avLst/>
            </a:prstGeom>
            <a:ln w="38100">
              <a:solidFill>
                <a:srgbClr val="FFFFFF">
                  <a:alpha val="100000"/>
                </a:srgbClr>
              </a:solidFill>
              <a:prstDash val="solid"/>
              <a:headEnd type="none"/>
              <a:tailEnd type="none"/>
            </a:ln>
          </p:spPr>
        </p:cxnSp>
      </p:grpSp>
      <p:sp>
        <p:nvSpPr>
          <p:cNvPr id="12" name="AutoShape 12"/>
          <p:cNvSpPr/>
          <p:nvPr/>
        </p:nvSpPr>
        <p:spPr>
          <a:xfrm>
            <a:off x="2139442" y="563860"/>
            <a:ext cx="288637" cy="288637"/>
          </a:xfrm>
          <a:prstGeom prst="diamond">
            <a:avLst/>
          </a:prstGeom>
          <a:solidFill>
            <a:srgbClr val="F3D3BC">
              <a:alpha val="100000"/>
            </a:srgbClr>
          </a:solidFill>
          <a:ln/>
          <a:effectLst>
            <a:outerShdw blurRad="50800" dist="38100" dir="2700000">
              <a:srgbClr val="000000">
                <a:alpha val="40000"/>
              </a:srgbClr>
            </a:outerShdw>
          </a:effectLst>
        </p:spPr>
      </p:sp>
      <p:grpSp>
        <p:nvGrpSpPr>
          <p:cNvPr id="13" name="Group 13"/>
          <p:cNvGrpSpPr/>
          <p:nvPr/>
        </p:nvGrpSpPr>
        <p:grpSpPr>
          <a:xfrm>
            <a:off x="5182600" y="5711062"/>
            <a:ext cx="369804" cy="856601"/>
            <a:chOff x="5182600" y="5711062"/>
            <a:chExt cx="369804" cy="856601"/>
          </a:xfrm>
        </p:grpSpPr>
        <p:grpSp>
          <p:nvGrpSpPr>
            <p:cNvPr id="14" name="Group 14"/>
            <p:cNvGrpSpPr/>
            <p:nvPr/>
          </p:nvGrpSpPr>
          <p:grpSpPr>
            <a:xfrm>
              <a:off x="5183210" y="6035217"/>
              <a:ext cx="369194" cy="184188"/>
              <a:chOff x="5183210" y="6035217"/>
              <a:chExt cx="369194" cy="184188"/>
            </a:xfrm>
          </p:grpSpPr>
          <p:cxnSp>
            <p:nvCxnSpPr>
              <p:cNvPr id="15" name="Connector 15"/>
              <p:cNvCxnSpPr/>
              <p:nvPr/>
            </p:nvCxnSpPr>
            <p:spPr>
              <a:xfrm flipH="1">
                <a:off x="5368417" y="6035418"/>
                <a:ext cx="183987" cy="183987"/>
              </a:xfrm>
              <a:prstGeom prst="line">
                <a:avLst/>
              </a:prstGeom>
              <a:ln w="38100">
                <a:solidFill>
                  <a:srgbClr val="FFFFFF">
                    <a:alpha val="100000"/>
                  </a:srgbClr>
                </a:solidFill>
                <a:prstDash val="solid"/>
                <a:headEnd type="none"/>
                <a:tailEnd type="none"/>
              </a:ln>
            </p:spPr>
          </p:cxnSp>
          <p:cxnSp>
            <p:nvCxnSpPr>
              <p:cNvPr id="16" name="Connector 16"/>
              <p:cNvCxnSpPr/>
              <p:nvPr/>
            </p:nvCxnSpPr>
            <p:spPr>
              <a:xfrm flipH="1">
                <a:off x="5183210" y="6035217"/>
                <a:ext cx="183987" cy="183988"/>
              </a:xfrm>
              <a:prstGeom prst="line">
                <a:avLst/>
              </a:prstGeom>
              <a:ln w="38100">
                <a:solidFill>
                  <a:srgbClr val="FFFFFF">
                    <a:alpha val="100000"/>
                  </a:srgbClr>
                </a:solidFill>
                <a:prstDash val="solid"/>
                <a:headEnd type="none"/>
                <a:tailEnd type="none"/>
              </a:ln>
            </p:spPr>
          </p:cxnSp>
        </p:grpSp>
        <p:grpSp>
          <p:nvGrpSpPr>
            <p:cNvPr id="17" name="Group 17"/>
            <p:cNvGrpSpPr/>
            <p:nvPr/>
          </p:nvGrpSpPr>
          <p:grpSpPr>
            <a:xfrm>
              <a:off x="5183210" y="5711062"/>
              <a:ext cx="369193" cy="184189"/>
              <a:chOff x="5183210" y="5711062"/>
              <a:chExt cx="369193" cy="184189"/>
            </a:xfrm>
          </p:grpSpPr>
          <p:cxnSp>
            <p:nvCxnSpPr>
              <p:cNvPr id="18" name="Connector 18"/>
              <p:cNvCxnSpPr/>
              <p:nvPr/>
            </p:nvCxnSpPr>
            <p:spPr>
              <a:xfrm flipH="1">
                <a:off x="5368417" y="5711264"/>
                <a:ext cx="183986" cy="183987"/>
              </a:xfrm>
              <a:prstGeom prst="line">
                <a:avLst/>
              </a:prstGeom>
              <a:ln w="38100">
                <a:solidFill>
                  <a:srgbClr val="FFFFFF">
                    <a:alpha val="100000"/>
                  </a:srgbClr>
                </a:solidFill>
                <a:prstDash val="solid"/>
                <a:headEnd type="none"/>
                <a:tailEnd type="none"/>
              </a:ln>
            </p:spPr>
          </p:cxnSp>
          <p:cxnSp>
            <p:nvCxnSpPr>
              <p:cNvPr id="19" name="Connector 19"/>
              <p:cNvCxnSpPr/>
              <p:nvPr/>
            </p:nvCxnSpPr>
            <p:spPr>
              <a:xfrm flipH="1">
                <a:off x="5183210" y="5711062"/>
                <a:ext cx="183986" cy="183987"/>
              </a:xfrm>
              <a:prstGeom prst="line">
                <a:avLst/>
              </a:prstGeom>
              <a:ln w="38100">
                <a:solidFill>
                  <a:srgbClr val="FFFFFF">
                    <a:alpha val="100000"/>
                  </a:srgbClr>
                </a:solidFill>
                <a:prstDash val="solid"/>
                <a:headEnd type="none"/>
                <a:tailEnd type="none"/>
              </a:ln>
            </p:spPr>
          </p:cxnSp>
        </p:grpSp>
        <p:grpSp>
          <p:nvGrpSpPr>
            <p:cNvPr id="20" name="Group 20"/>
            <p:cNvGrpSpPr/>
            <p:nvPr/>
          </p:nvGrpSpPr>
          <p:grpSpPr>
            <a:xfrm>
              <a:off x="5182600" y="6383473"/>
              <a:ext cx="369193" cy="184190"/>
              <a:chOff x="5182600" y="6383473"/>
              <a:chExt cx="369193" cy="184190"/>
            </a:xfrm>
          </p:grpSpPr>
          <p:cxnSp>
            <p:nvCxnSpPr>
              <p:cNvPr id="21" name="Connector 21"/>
              <p:cNvCxnSpPr/>
              <p:nvPr/>
            </p:nvCxnSpPr>
            <p:spPr>
              <a:xfrm flipH="1">
                <a:off x="5367807" y="6383676"/>
                <a:ext cx="183986" cy="183987"/>
              </a:xfrm>
              <a:prstGeom prst="line">
                <a:avLst/>
              </a:prstGeom>
              <a:ln w="38100">
                <a:solidFill>
                  <a:srgbClr val="FFFFFF">
                    <a:alpha val="100000"/>
                  </a:srgbClr>
                </a:solidFill>
                <a:prstDash val="solid"/>
                <a:headEnd type="none"/>
                <a:tailEnd type="none"/>
              </a:ln>
            </p:spPr>
          </p:cxnSp>
          <p:cxnSp>
            <p:nvCxnSpPr>
              <p:cNvPr id="22" name="Connector 22"/>
              <p:cNvCxnSpPr/>
              <p:nvPr/>
            </p:nvCxnSpPr>
            <p:spPr>
              <a:xfrm flipH="1">
                <a:off x="5182600" y="6383473"/>
                <a:ext cx="183986" cy="183987"/>
              </a:xfrm>
              <a:prstGeom prst="line">
                <a:avLst/>
              </a:prstGeom>
              <a:ln w="38100">
                <a:solidFill>
                  <a:srgbClr val="FFFFFF">
                    <a:alpha val="100000"/>
                  </a:srgbClr>
                </a:solidFill>
                <a:prstDash val="solid"/>
                <a:headEnd type="none"/>
                <a:tailEnd type="none"/>
              </a:ln>
            </p:spPr>
          </p:cxnSp>
        </p:grpSp>
      </p:grpSp>
      <p:sp>
        <p:nvSpPr>
          <p:cNvPr id="23" name="TextBox 23"/>
          <p:cNvSpPr txBox="1"/>
          <p:nvPr/>
        </p:nvSpPr>
        <p:spPr>
          <a:xfrm>
            <a:off x="6996430" y="2505075"/>
            <a:ext cx="5121275" cy="769441"/>
          </a:xfrm>
          <a:prstGeom prst="rect">
            <a:avLst/>
          </a:prstGeom>
          <a:noFill/>
          <a:ln/>
        </p:spPr>
        <p:txBody>
          <a:bodyPr vert="horz" wrap="square" lIns="91440" tIns="45720" rIns="91440" bIns="45720" rtlCol="0" anchor="t" anchorCtr="0">
            <a:normAutofit fontScale="85000" lnSpcReduction="10000"/>
          </a:bodyPr>
          <a:lstStyle/>
          <a:p>
            <a:pPr algn="l">
              <a:lnSpc>
                <a:spcPct val="80000"/>
              </a:lnSpc>
            </a:pPr>
            <a:r>
              <a:rPr lang="zh-CN" altLang="en-US" sz="3875" dirty="0">
                <a:solidFill>
                  <a:srgbClr val="000000">
                    <a:alpha val="100000"/>
                  </a:srgbClr>
                </a:solidFill>
                <a:latin typeface="微软雅黑"/>
                <a:ea typeface="微软雅黑"/>
                <a:cs typeface="微软雅黑"/>
              </a:rPr>
              <a:t>“心灵旅伴” </a:t>
            </a:r>
            <a:r>
              <a:rPr lang="en-US" sz="3875" dirty="0" err="1">
                <a:solidFill>
                  <a:srgbClr val="000000">
                    <a:alpha val="100000"/>
                  </a:srgbClr>
                </a:solidFill>
                <a:latin typeface="微软雅黑"/>
                <a:ea typeface="微软雅黑"/>
                <a:cs typeface="微软雅黑"/>
              </a:rPr>
              <a:t>项目计划书</a:t>
            </a:r>
            <a:endParaRPr lang="en-US" sz="3875" dirty="0">
              <a:solidFill>
                <a:srgbClr val="000000">
                  <a:alpha val="100000"/>
                </a:srgbClr>
              </a:solidFill>
              <a:latin typeface="微软雅黑"/>
              <a:ea typeface="微软雅黑"/>
              <a:cs typeface="微软雅黑"/>
            </a:endParaRPr>
          </a:p>
        </p:txBody>
      </p:sp>
      <p:sp>
        <p:nvSpPr>
          <p:cNvPr id="25" name="AutoShape 25"/>
          <p:cNvSpPr/>
          <p:nvPr/>
        </p:nvSpPr>
        <p:spPr>
          <a:xfrm>
            <a:off x="8287385" y="3732530"/>
            <a:ext cx="3591560" cy="521970"/>
          </a:xfrm>
          <a:prstGeom prst="rect">
            <a:avLst/>
          </a:prstGeom>
          <a:noFill/>
          <a:ln/>
        </p:spPr>
        <p:txBody>
          <a:bodyPr vert="horz" wrap="square" lIns="91440" tIns="45720" rIns="91440" bIns="45720" rtlCol="0" anchor="t" anchorCtr="0">
            <a:noAutofit/>
          </a:bodyPr>
          <a:lstStyle/>
          <a:p>
            <a:pPr algn="ctr">
              <a:defRPr/>
            </a:pPr>
            <a:endParaRPr lang="en-US" sz="1100"/>
          </a:p>
        </p:txBody>
      </p:sp>
      <p:sp>
        <p:nvSpPr>
          <p:cNvPr id="26" name="AutoShape 26"/>
          <p:cNvSpPr/>
          <p:nvPr/>
        </p:nvSpPr>
        <p:spPr>
          <a:xfrm flipH="1">
            <a:off x="8424210" y="1632598"/>
            <a:ext cx="602250" cy="602250"/>
          </a:xfrm>
          <a:prstGeom prst="diamond">
            <a:avLst/>
          </a:prstGeom>
          <a:solidFill>
            <a:srgbClr val="AAC2AC">
              <a:alpha val="100000"/>
            </a:srgbClr>
          </a:solidFill>
          <a:ln/>
          <a:effectLst>
            <a:outerShdw blurRad="50800" dist="38100" dir="2700000">
              <a:srgbClr val="000000">
                <a:alpha val="40000"/>
              </a:srgbClr>
            </a:outerShdw>
          </a:effectLst>
        </p:spPr>
      </p:sp>
      <p:sp>
        <p:nvSpPr>
          <p:cNvPr id="27" name="AutoShape 27"/>
          <p:cNvSpPr/>
          <p:nvPr/>
        </p:nvSpPr>
        <p:spPr>
          <a:xfrm flipH="1">
            <a:off x="8986757" y="852983"/>
            <a:ext cx="422417" cy="422417"/>
          </a:xfrm>
          <a:prstGeom prst="diamond">
            <a:avLst/>
          </a:prstGeom>
          <a:solidFill>
            <a:srgbClr val="F3D3BC">
              <a:alpha val="100000"/>
            </a:srgbClr>
          </a:solidFill>
          <a:ln/>
          <a:effectLst>
            <a:outerShdw blurRad="50800" dist="38100" dir="2700000">
              <a:srgbClr val="000000">
                <a:alpha val="40000"/>
              </a:srgbClr>
            </a:outerShdw>
          </a:effectLst>
        </p:spPr>
      </p:sp>
      <p:sp>
        <p:nvSpPr>
          <p:cNvPr id="28" name="AutoShape 28"/>
          <p:cNvSpPr/>
          <p:nvPr/>
        </p:nvSpPr>
        <p:spPr>
          <a:xfrm flipH="1">
            <a:off x="11590147" y="1310620"/>
            <a:ext cx="288637" cy="288637"/>
          </a:xfrm>
          <a:prstGeom prst="diamond">
            <a:avLst/>
          </a:prstGeom>
          <a:solidFill>
            <a:srgbClr val="AAC2AC">
              <a:alpha val="100000"/>
            </a:srgbClr>
          </a:solidFill>
          <a:ln/>
          <a:effectLst>
            <a:outerShdw blurRad="50800" dist="38100" dir="2700000">
              <a:srgbClr val="000000">
                <a:alpha val="40000"/>
              </a:srgbClr>
            </a:outerShdw>
          </a:effectLst>
        </p:spPr>
      </p:sp>
      <p:sp>
        <p:nvSpPr>
          <p:cNvPr id="29" name="AutoShape 29"/>
          <p:cNvSpPr/>
          <p:nvPr/>
        </p:nvSpPr>
        <p:spPr>
          <a:xfrm>
            <a:off x="10522584" y="5177790"/>
            <a:ext cx="1203960" cy="441960"/>
          </a:xfrm>
          <a:prstGeom prst="rect">
            <a:avLst/>
          </a:prstGeom>
          <a:noFill/>
          <a:ln w="28575">
            <a:solidFill>
              <a:srgbClr val="05263F">
                <a:alpha val="10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24496" y="87424"/>
            <a:ext cx="2743008" cy="2743008"/>
          </a:xfrm>
          <a:prstGeom prst="diamond">
            <a:avLst/>
          </a:prstGeom>
          <a:solidFill>
            <a:srgbClr val="AAC2AC">
              <a:alpha val="100000"/>
            </a:srgbClr>
          </a:solidFill>
          <a:ln/>
          <a:effectLst>
            <a:outerShdw blurRad="50800" dist="38100" dir="2700000">
              <a:srgbClr val="000000">
                <a:alpha val="40000"/>
              </a:srgbClr>
            </a:outerShdw>
          </a:effectLst>
        </p:spPr>
      </p:sp>
      <p:cxnSp>
        <p:nvCxnSpPr>
          <p:cNvPr id="3" name="Connector 3"/>
          <p:cNvCxnSpPr/>
          <p:nvPr/>
        </p:nvCxnSpPr>
        <p:spPr>
          <a:xfrm>
            <a:off x="3247098" y="3585029"/>
            <a:ext cx="0" cy="2269671"/>
          </a:xfrm>
          <a:prstGeom prst="line">
            <a:avLst/>
          </a:prstGeom>
          <a:ln w="6350">
            <a:solidFill>
              <a:srgbClr val="093759">
                <a:alpha val="17000"/>
              </a:srgbClr>
            </a:solidFill>
            <a:prstDash val="solid"/>
            <a:headEnd type="none"/>
            <a:tailEnd type="none"/>
          </a:ln>
        </p:spPr>
      </p:cxnSp>
      <p:sp>
        <p:nvSpPr>
          <p:cNvPr id="4" name="AutoShape 4"/>
          <p:cNvSpPr/>
          <p:nvPr/>
        </p:nvSpPr>
        <p:spPr>
          <a:xfrm>
            <a:off x="697965" y="4566385"/>
            <a:ext cx="2307771" cy="521970"/>
          </a:xfrm>
          <a:prstGeom prst="rect">
            <a:avLst/>
          </a:prstGeom>
          <a:noFill/>
          <a:ln/>
        </p:spPr>
        <p:txBody>
          <a:bodyPr vert="horz" wrap="square" lIns="91440" tIns="45720" rIns="91440" bIns="45720" rtlCol="0" anchor="t" anchorCtr="0">
            <a:noAutofit/>
          </a:bodyPr>
          <a:lstStyle/>
          <a:p>
            <a:pPr algn="ctr">
              <a:defRPr/>
            </a:pPr>
            <a:r>
              <a:rPr lang="en-US" sz="2625">
                <a:solidFill>
                  <a:srgbClr val="3F3F3F">
                    <a:alpha val="100000"/>
                  </a:srgbClr>
                </a:solidFill>
                <a:latin typeface="文泉驿微米黑"/>
                <a:ea typeface="文泉驿微米黑"/>
                <a:cs typeface="文泉驿微米黑"/>
              </a:rPr>
              <a:t>执行概要</a:t>
            </a:r>
            <a:endParaRPr lang="en-US" sz="1100"/>
          </a:p>
        </p:txBody>
      </p:sp>
      <p:cxnSp>
        <p:nvCxnSpPr>
          <p:cNvPr id="5" name="Connector 5"/>
          <p:cNvCxnSpPr/>
          <p:nvPr/>
        </p:nvCxnSpPr>
        <p:spPr>
          <a:xfrm>
            <a:off x="6096000" y="3585029"/>
            <a:ext cx="0" cy="2269671"/>
          </a:xfrm>
          <a:prstGeom prst="line">
            <a:avLst/>
          </a:prstGeom>
          <a:ln w="6350">
            <a:solidFill>
              <a:srgbClr val="093759">
                <a:alpha val="17000"/>
              </a:srgbClr>
            </a:solidFill>
            <a:prstDash val="solid"/>
            <a:headEnd type="none"/>
            <a:tailEnd type="none"/>
          </a:ln>
        </p:spPr>
      </p:cxnSp>
      <p:sp>
        <p:nvSpPr>
          <p:cNvPr id="6" name="AutoShape 6"/>
          <p:cNvSpPr/>
          <p:nvPr/>
        </p:nvSpPr>
        <p:spPr>
          <a:xfrm>
            <a:off x="3529374" y="4554320"/>
            <a:ext cx="2307771" cy="521970"/>
          </a:xfrm>
          <a:prstGeom prst="rect">
            <a:avLst/>
          </a:prstGeom>
          <a:noFill/>
          <a:ln/>
        </p:spPr>
        <p:txBody>
          <a:bodyPr vert="horz" wrap="square" lIns="91440" tIns="45720" rIns="91440" bIns="45720" rtlCol="0" anchor="t" anchorCtr="0">
            <a:noAutofit/>
          </a:bodyPr>
          <a:lstStyle/>
          <a:p>
            <a:pPr algn="ctr">
              <a:defRPr/>
            </a:pPr>
            <a:r>
              <a:rPr lang="en-US" sz="2625">
                <a:solidFill>
                  <a:srgbClr val="3F3F3F">
                    <a:alpha val="100000"/>
                  </a:srgbClr>
                </a:solidFill>
                <a:latin typeface="文泉驿微米黑"/>
                <a:ea typeface="文泉驿微米黑"/>
                <a:cs typeface="文泉驿微米黑"/>
              </a:rPr>
              <a:t>市场分析</a:t>
            </a:r>
            <a:endParaRPr lang="en-US" sz="1100"/>
          </a:p>
        </p:txBody>
      </p:sp>
      <p:cxnSp>
        <p:nvCxnSpPr>
          <p:cNvPr id="7" name="Connector 7"/>
          <p:cNvCxnSpPr/>
          <p:nvPr/>
        </p:nvCxnSpPr>
        <p:spPr>
          <a:xfrm>
            <a:off x="9027602" y="3585029"/>
            <a:ext cx="0" cy="2269671"/>
          </a:xfrm>
          <a:prstGeom prst="line">
            <a:avLst/>
          </a:prstGeom>
          <a:ln w="6350">
            <a:solidFill>
              <a:srgbClr val="093759">
                <a:alpha val="17000"/>
              </a:srgbClr>
            </a:solidFill>
            <a:prstDash val="solid"/>
            <a:headEnd type="none"/>
            <a:tailEnd type="none"/>
          </a:ln>
        </p:spPr>
      </p:cxnSp>
      <p:sp>
        <p:nvSpPr>
          <p:cNvPr id="8" name="AutoShape 8"/>
          <p:cNvSpPr/>
          <p:nvPr/>
        </p:nvSpPr>
        <p:spPr>
          <a:xfrm>
            <a:off x="6355368" y="4553685"/>
            <a:ext cx="2307771" cy="521970"/>
          </a:xfrm>
          <a:prstGeom prst="rect">
            <a:avLst/>
          </a:prstGeom>
          <a:noFill/>
          <a:ln/>
        </p:spPr>
        <p:txBody>
          <a:bodyPr vert="horz" wrap="square" lIns="91440" tIns="45720" rIns="91440" bIns="45720" rtlCol="0" anchor="t" anchorCtr="0">
            <a:noAutofit/>
          </a:bodyPr>
          <a:lstStyle/>
          <a:p>
            <a:pPr algn="ctr">
              <a:defRPr/>
            </a:pPr>
            <a:r>
              <a:rPr lang="en-US" sz="2625">
                <a:solidFill>
                  <a:srgbClr val="3F3F3F">
                    <a:alpha val="100000"/>
                  </a:srgbClr>
                </a:solidFill>
                <a:latin typeface="文泉驿微米黑"/>
                <a:ea typeface="文泉驿微米黑"/>
                <a:cs typeface="文泉驿微米黑"/>
              </a:rPr>
              <a:t>市场营销计划</a:t>
            </a:r>
            <a:endParaRPr lang="en-US" sz="1100"/>
          </a:p>
        </p:txBody>
      </p:sp>
      <p:grpSp>
        <p:nvGrpSpPr>
          <p:cNvPr id="9" name="Group 9"/>
          <p:cNvGrpSpPr/>
          <p:nvPr/>
        </p:nvGrpSpPr>
        <p:grpSpPr>
          <a:xfrm>
            <a:off x="1342739" y="2665000"/>
            <a:ext cx="1017937" cy="1039844"/>
            <a:chOff x="1342739" y="2665000"/>
            <a:chExt cx="1017937" cy="1039844"/>
          </a:xfrm>
        </p:grpSpPr>
        <p:sp>
          <p:nvSpPr>
            <p:cNvPr id="10" name="AutoShape 10"/>
            <p:cNvSpPr/>
            <p:nvPr/>
          </p:nvSpPr>
          <p:spPr>
            <a:xfrm>
              <a:off x="1342739" y="2665000"/>
              <a:ext cx="1017937" cy="1039844"/>
            </a:xfrm>
            <a:prstGeom prst="diamond">
              <a:avLst/>
            </a:prstGeom>
            <a:solidFill>
              <a:srgbClr val="F3D3BC">
                <a:alpha val="100000"/>
              </a:srgbClr>
            </a:solidFill>
            <a:ln/>
            <a:effectLst>
              <a:outerShdw blurRad="50800" dist="38100" dir="2700000">
                <a:srgbClr val="000000">
                  <a:alpha val="40000"/>
                </a:srgbClr>
              </a:outerShdw>
            </a:effectLst>
          </p:spPr>
        </p:sp>
        <p:sp>
          <p:nvSpPr>
            <p:cNvPr id="11" name="TextBox 11"/>
            <p:cNvSpPr txBox="1"/>
            <p:nvPr/>
          </p:nvSpPr>
          <p:spPr>
            <a:xfrm>
              <a:off x="1521524" y="2892647"/>
              <a:ext cx="660368" cy="584740"/>
            </a:xfrm>
            <a:prstGeom prst="rect">
              <a:avLst/>
            </a:prstGeom>
            <a:noFill/>
            <a:ln/>
          </p:spPr>
          <p:txBody>
            <a:bodyPr vert="horz" wrap="square" lIns="91440" tIns="45720" rIns="91440" bIns="45720" rtlCol="0" anchor="t" anchorCtr="0">
              <a:spAutoFit/>
            </a:bodyPr>
            <a:lstStyle/>
            <a:p>
              <a:pPr algn="l">
                <a:lnSpc>
                  <a:spcPct val="80000"/>
                </a:lnSpc>
              </a:pPr>
              <a:r>
                <a:rPr lang="en-US" sz="3200">
                  <a:solidFill>
                    <a:srgbClr val="FFFFFF">
                      <a:alpha val="100000"/>
                    </a:srgbClr>
                  </a:solidFill>
                  <a:latin typeface="Calibri Light"/>
                  <a:ea typeface="Calibri Light"/>
                  <a:cs typeface="Calibri Light"/>
                </a:rPr>
                <a:t>01</a:t>
              </a:r>
            </a:p>
          </p:txBody>
        </p:sp>
      </p:grpSp>
      <p:grpSp>
        <p:nvGrpSpPr>
          <p:cNvPr id="12" name="Group 12"/>
          <p:cNvGrpSpPr/>
          <p:nvPr/>
        </p:nvGrpSpPr>
        <p:grpSpPr>
          <a:xfrm>
            <a:off x="4284631" y="2665000"/>
            <a:ext cx="1017937" cy="1039844"/>
            <a:chOff x="4284631" y="2665000"/>
            <a:chExt cx="1017937" cy="1039844"/>
          </a:xfrm>
        </p:grpSpPr>
        <p:sp>
          <p:nvSpPr>
            <p:cNvPr id="13" name="AutoShape 13"/>
            <p:cNvSpPr/>
            <p:nvPr/>
          </p:nvSpPr>
          <p:spPr>
            <a:xfrm>
              <a:off x="4284631" y="2665000"/>
              <a:ext cx="1017937" cy="1039844"/>
            </a:xfrm>
            <a:prstGeom prst="diamond">
              <a:avLst/>
            </a:prstGeom>
            <a:solidFill>
              <a:srgbClr val="F3D3BC">
                <a:alpha val="100000"/>
              </a:srgbClr>
            </a:solidFill>
            <a:ln/>
            <a:effectLst>
              <a:outerShdw blurRad="50800" dist="38100" dir="2700000">
                <a:srgbClr val="000000">
                  <a:alpha val="40000"/>
                </a:srgbClr>
              </a:outerShdw>
            </a:effectLst>
          </p:spPr>
        </p:sp>
        <p:sp>
          <p:nvSpPr>
            <p:cNvPr id="14" name="TextBox 14"/>
            <p:cNvSpPr txBox="1"/>
            <p:nvPr/>
          </p:nvSpPr>
          <p:spPr>
            <a:xfrm>
              <a:off x="4497896" y="2892647"/>
              <a:ext cx="660368" cy="584740"/>
            </a:xfrm>
            <a:prstGeom prst="rect">
              <a:avLst/>
            </a:prstGeom>
            <a:noFill/>
            <a:ln/>
          </p:spPr>
          <p:txBody>
            <a:bodyPr vert="horz" wrap="square" lIns="91440" tIns="45720" rIns="91440" bIns="45720" rtlCol="0" anchor="t" anchorCtr="0">
              <a:spAutoFit/>
            </a:bodyPr>
            <a:lstStyle/>
            <a:p>
              <a:pPr algn="l">
                <a:lnSpc>
                  <a:spcPct val="80000"/>
                </a:lnSpc>
              </a:pPr>
              <a:r>
                <a:rPr lang="en-US" sz="3200">
                  <a:solidFill>
                    <a:srgbClr val="FFFFFF">
                      <a:alpha val="100000"/>
                    </a:srgbClr>
                  </a:solidFill>
                  <a:latin typeface="Calibri Light"/>
                  <a:ea typeface="Calibri Light"/>
                  <a:cs typeface="Calibri Light"/>
                </a:rPr>
                <a:t>02</a:t>
              </a:r>
            </a:p>
          </p:txBody>
        </p:sp>
      </p:grpSp>
      <p:grpSp>
        <p:nvGrpSpPr>
          <p:cNvPr id="15" name="Group 15"/>
          <p:cNvGrpSpPr/>
          <p:nvPr/>
        </p:nvGrpSpPr>
        <p:grpSpPr>
          <a:xfrm>
            <a:off x="6999923" y="2544604"/>
            <a:ext cx="1017937" cy="1039844"/>
            <a:chOff x="6999923" y="2544604"/>
            <a:chExt cx="1017937" cy="1039844"/>
          </a:xfrm>
        </p:grpSpPr>
        <p:sp>
          <p:nvSpPr>
            <p:cNvPr id="16" name="AutoShape 16"/>
            <p:cNvSpPr/>
            <p:nvPr/>
          </p:nvSpPr>
          <p:spPr>
            <a:xfrm>
              <a:off x="6999923" y="2544604"/>
              <a:ext cx="1017937" cy="1039844"/>
            </a:xfrm>
            <a:prstGeom prst="diamond">
              <a:avLst/>
            </a:prstGeom>
            <a:solidFill>
              <a:srgbClr val="F3D3BC">
                <a:alpha val="100000"/>
              </a:srgbClr>
            </a:solidFill>
            <a:ln/>
            <a:effectLst>
              <a:outerShdw blurRad="50800" dist="38100" dir="2700000">
                <a:srgbClr val="000000">
                  <a:alpha val="40000"/>
                </a:srgbClr>
              </a:outerShdw>
            </a:effectLst>
          </p:spPr>
        </p:sp>
        <p:sp>
          <p:nvSpPr>
            <p:cNvPr id="17" name="TextBox 17"/>
            <p:cNvSpPr txBox="1"/>
            <p:nvPr/>
          </p:nvSpPr>
          <p:spPr>
            <a:xfrm>
              <a:off x="7225379" y="2784729"/>
              <a:ext cx="660368" cy="584740"/>
            </a:xfrm>
            <a:prstGeom prst="rect">
              <a:avLst/>
            </a:prstGeom>
            <a:noFill/>
            <a:ln/>
          </p:spPr>
          <p:txBody>
            <a:bodyPr vert="horz" wrap="square" lIns="91440" tIns="45720" rIns="91440" bIns="45720" rtlCol="0" anchor="t" anchorCtr="0">
              <a:spAutoFit/>
            </a:bodyPr>
            <a:lstStyle/>
            <a:p>
              <a:pPr algn="l">
                <a:lnSpc>
                  <a:spcPct val="80000"/>
                </a:lnSpc>
              </a:pPr>
              <a:r>
                <a:rPr lang="en-US" sz="3200">
                  <a:solidFill>
                    <a:srgbClr val="FFFFFF">
                      <a:alpha val="100000"/>
                    </a:srgbClr>
                  </a:solidFill>
                  <a:latin typeface="Calibri Light"/>
                  <a:ea typeface="Calibri Light"/>
                  <a:cs typeface="Calibri Light"/>
                </a:rPr>
                <a:t>03</a:t>
              </a:r>
            </a:p>
          </p:txBody>
        </p:sp>
      </p:grpSp>
      <p:sp>
        <p:nvSpPr>
          <p:cNvPr id="18" name="AutoShape 18"/>
          <p:cNvSpPr/>
          <p:nvPr/>
        </p:nvSpPr>
        <p:spPr>
          <a:xfrm>
            <a:off x="824164"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sp>
        <p:nvSpPr>
          <p:cNvPr id="19" name="AutoShape 19"/>
          <p:cNvSpPr/>
          <p:nvPr/>
        </p:nvSpPr>
        <p:spPr>
          <a:xfrm>
            <a:off x="3655483"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sp>
        <p:nvSpPr>
          <p:cNvPr id="20" name="AutoShape 20"/>
          <p:cNvSpPr/>
          <p:nvPr/>
        </p:nvSpPr>
        <p:spPr>
          <a:xfrm>
            <a:off x="6573778"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sp>
        <p:nvSpPr>
          <p:cNvPr id="21" name="AutoShape 21"/>
          <p:cNvSpPr/>
          <p:nvPr/>
        </p:nvSpPr>
        <p:spPr>
          <a:xfrm>
            <a:off x="9405097"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pic>
        <p:nvPicPr>
          <p:cNvPr id="22" name="Picture 22"/>
          <p:cNvPicPr>
            <a:picLocks noChangeAspect="1"/>
          </p:cNvPicPr>
          <p:nvPr/>
        </p:nvPicPr>
        <p:blipFill>
          <a:blip r:embed="rId2"/>
          <a:srcRect/>
          <a:stretch>
            <a:fillRect/>
          </a:stretch>
        </p:blipFill>
        <p:spPr>
          <a:xfrm>
            <a:off x="4984059" y="704016"/>
            <a:ext cx="2213040" cy="15972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24496" y="87424"/>
            <a:ext cx="2743008" cy="2743008"/>
          </a:xfrm>
          <a:prstGeom prst="diamond">
            <a:avLst/>
          </a:prstGeom>
          <a:solidFill>
            <a:srgbClr val="AAC2AC">
              <a:alpha val="100000"/>
            </a:srgbClr>
          </a:solidFill>
          <a:ln/>
          <a:effectLst>
            <a:outerShdw blurRad="50800" dist="38100" dir="2700000">
              <a:srgbClr val="000000">
                <a:alpha val="40000"/>
              </a:srgbClr>
            </a:outerShdw>
          </a:effectLst>
        </p:spPr>
      </p:sp>
      <p:cxnSp>
        <p:nvCxnSpPr>
          <p:cNvPr id="3" name="Connector 3"/>
          <p:cNvCxnSpPr/>
          <p:nvPr/>
        </p:nvCxnSpPr>
        <p:spPr>
          <a:xfrm>
            <a:off x="3247098" y="3585029"/>
            <a:ext cx="0" cy="2269671"/>
          </a:xfrm>
          <a:prstGeom prst="line">
            <a:avLst/>
          </a:prstGeom>
          <a:ln w="6350">
            <a:solidFill>
              <a:srgbClr val="093759">
                <a:alpha val="17000"/>
              </a:srgbClr>
            </a:solidFill>
            <a:prstDash val="solid"/>
            <a:headEnd type="none"/>
            <a:tailEnd type="none"/>
          </a:ln>
        </p:spPr>
      </p:cxnSp>
      <p:sp>
        <p:nvSpPr>
          <p:cNvPr id="4" name="AutoShape 4"/>
          <p:cNvSpPr/>
          <p:nvPr/>
        </p:nvSpPr>
        <p:spPr>
          <a:xfrm>
            <a:off x="697965" y="4566385"/>
            <a:ext cx="2307771" cy="521970"/>
          </a:xfrm>
          <a:prstGeom prst="rect">
            <a:avLst/>
          </a:prstGeom>
          <a:noFill/>
          <a:ln/>
        </p:spPr>
        <p:txBody>
          <a:bodyPr vert="horz" wrap="square" lIns="91440" tIns="45720" rIns="91440" bIns="45720" rtlCol="0" anchor="t" anchorCtr="0">
            <a:noAutofit/>
          </a:bodyPr>
          <a:lstStyle/>
          <a:p>
            <a:pPr algn="ctr">
              <a:defRPr/>
            </a:pPr>
            <a:r>
              <a:rPr lang="en-US" sz="2325">
                <a:solidFill>
                  <a:srgbClr val="3F3F3F">
                    <a:alpha val="100000"/>
                  </a:srgbClr>
                </a:solidFill>
                <a:latin typeface="文泉驿微米黑"/>
                <a:ea typeface="文泉驿微米黑"/>
                <a:cs typeface="文泉驿微米黑"/>
              </a:rPr>
              <a:t>资产情况</a:t>
            </a:r>
            <a:endParaRPr lang="en-US" sz="1100"/>
          </a:p>
        </p:txBody>
      </p:sp>
      <p:cxnSp>
        <p:nvCxnSpPr>
          <p:cNvPr id="5" name="Connector 5"/>
          <p:cNvCxnSpPr/>
          <p:nvPr/>
        </p:nvCxnSpPr>
        <p:spPr>
          <a:xfrm>
            <a:off x="6096000" y="3585029"/>
            <a:ext cx="0" cy="2269671"/>
          </a:xfrm>
          <a:prstGeom prst="line">
            <a:avLst/>
          </a:prstGeom>
          <a:ln w="6350">
            <a:solidFill>
              <a:srgbClr val="093759">
                <a:alpha val="17000"/>
              </a:srgbClr>
            </a:solidFill>
            <a:prstDash val="solid"/>
            <a:headEnd type="none"/>
            <a:tailEnd type="none"/>
          </a:ln>
        </p:spPr>
      </p:cxnSp>
      <p:sp>
        <p:nvSpPr>
          <p:cNvPr id="6" name="AutoShape 6"/>
          <p:cNvSpPr/>
          <p:nvPr/>
        </p:nvSpPr>
        <p:spPr>
          <a:xfrm>
            <a:off x="3529374" y="4554320"/>
            <a:ext cx="2307771" cy="521970"/>
          </a:xfrm>
          <a:prstGeom prst="rect">
            <a:avLst/>
          </a:prstGeom>
          <a:noFill/>
          <a:ln/>
        </p:spPr>
        <p:txBody>
          <a:bodyPr vert="horz" wrap="square" lIns="91440" tIns="45720" rIns="91440" bIns="45720" rtlCol="0" anchor="t" anchorCtr="0">
            <a:noAutofit/>
          </a:bodyPr>
          <a:lstStyle/>
          <a:p>
            <a:pPr algn="ctr">
              <a:defRPr/>
            </a:pPr>
            <a:r>
              <a:rPr lang="en-US" sz="2325">
                <a:solidFill>
                  <a:srgbClr val="3F3F3F">
                    <a:alpha val="100000"/>
                  </a:srgbClr>
                </a:solidFill>
                <a:latin typeface="文泉驿微米黑"/>
                <a:ea typeface="文泉驿微米黑"/>
                <a:cs typeface="文泉驿微米黑"/>
              </a:rPr>
              <a:t>风险评估与对策</a:t>
            </a:r>
            <a:endParaRPr lang="en-US" sz="1100"/>
          </a:p>
        </p:txBody>
      </p:sp>
      <p:cxnSp>
        <p:nvCxnSpPr>
          <p:cNvPr id="7" name="Connector 7"/>
          <p:cNvCxnSpPr/>
          <p:nvPr/>
        </p:nvCxnSpPr>
        <p:spPr>
          <a:xfrm>
            <a:off x="9027602" y="3585029"/>
            <a:ext cx="0" cy="2269671"/>
          </a:xfrm>
          <a:prstGeom prst="line">
            <a:avLst/>
          </a:prstGeom>
          <a:ln w="6350">
            <a:solidFill>
              <a:srgbClr val="093759">
                <a:alpha val="17000"/>
              </a:srgbClr>
            </a:solidFill>
            <a:prstDash val="solid"/>
            <a:headEnd type="none"/>
            <a:tailEnd type="none"/>
          </a:ln>
        </p:spPr>
      </p:cxnSp>
      <p:grpSp>
        <p:nvGrpSpPr>
          <p:cNvPr id="8" name="Group 8"/>
          <p:cNvGrpSpPr/>
          <p:nvPr/>
        </p:nvGrpSpPr>
        <p:grpSpPr>
          <a:xfrm>
            <a:off x="1342739" y="2665000"/>
            <a:ext cx="1017937" cy="1039844"/>
            <a:chOff x="1342739" y="2665000"/>
            <a:chExt cx="1017937" cy="1039844"/>
          </a:xfrm>
        </p:grpSpPr>
        <p:sp>
          <p:nvSpPr>
            <p:cNvPr id="9" name="AutoShape 9"/>
            <p:cNvSpPr/>
            <p:nvPr/>
          </p:nvSpPr>
          <p:spPr>
            <a:xfrm>
              <a:off x="1342739" y="2665000"/>
              <a:ext cx="1017937" cy="1039844"/>
            </a:xfrm>
            <a:prstGeom prst="diamond">
              <a:avLst/>
            </a:prstGeom>
            <a:solidFill>
              <a:srgbClr val="F3D3BC">
                <a:alpha val="100000"/>
              </a:srgbClr>
            </a:solidFill>
            <a:ln/>
            <a:effectLst>
              <a:outerShdw blurRad="50800" dist="38100" dir="2700000">
                <a:srgbClr val="000000">
                  <a:alpha val="40000"/>
                </a:srgbClr>
              </a:outerShdw>
            </a:effectLst>
          </p:spPr>
        </p:sp>
        <p:sp>
          <p:nvSpPr>
            <p:cNvPr id="10" name="TextBox 10"/>
            <p:cNvSpPr txBox="1"/>
            <p:nvPr/>
          </p:nvSpPr>
          <p:spPr>
            <a:xfrm>
              <a:off x="1521524" y="2892647"/>
              <a:ext cx="660368" cy="584740"/>
            </a:xfrm>
            <a:prstGeom prst="rect">
              <a:avLst/>
            </a:prstGeom>
            <a:noFill/>
            <a:ln/>
          </p:spPr>
          <p:txBody>
            <a:bodyPr vert="horz" wrap="square" lIns="91440" tIns="45720" rIns="91440" bIns="45720" rtlCol="0" anchor="t" anchorCtr="0">
              <a:spAutoFit/>
            </a:bodyPr>
            <a:lstStyle/>
            <a:p>
              <a:pPr algn="l">
                <a:lnSpc>
                  <a:spcPct val="80000"/>
                </a:lnSpc>
              </a:pPr>
              <a:r>
                <a:rPr lang="en-US" sz="3200">
                  <a:solidFill>
                    <a:srgbClr val="FFFFFF">
                      <a:alpha val="100000"/>
                    </a:srgbClr>
                  </a:solidFill>
                  <a:latin typeface="Calibri Light"/>
                  <a:ea typeface="Calibri Light"/>
                  <a:cs typeface="Calibri Light"/>
                </a:rPr>
                <a:t>04</a:t>
              </a:r>
            </a:p>
          </p:txBody>
        </p:sp>
      </p:grpSp>
      <p:grpSp>
        <p:nvGrpSpPr>
          <p:cNvPr id="11" name="Group 11"/>
          <p:cNvGrpSpPr/>
          <p:nvPr/>
        </p:nvGrpSpPr>
        <p:grpSpPr>
          <a:xfrm>
            <a:off x="4284631" y="2665000"/>
            <a:ext cx="1017937" cy="1039844"/>
            <a:chOff x="4284631" y="2665000"/>
            <a:chExt cx="1017937" cy="1039844"/>
          </a:xfrm>
        </p:grpSpPr>
        <p:sp>
          <p:nvSpPr>
            <p:cNvPr id="12" name="AutoShape 12"/>
            <p:cNvSpPr/>
            <p:nvPr/>
          </p:nvSpPr>
          <p:spPr>
            <a:xfrm>
              <a:off x="4284631" y="2665000"/>
              <a:ext cx="1017937" cy="1039844"/>
            </a:xfrm>
            <a:prstGeom prst="diamond">
              <a:avLst/>
            </a:prstGeom>
            <a:solidFill>
              <a:srgbClr val="F3D3BC">
                <a:alpha val="100000"/>
              </a:srgbClr>
            </a:solidFill>
            <a:ln/>
            <a:effectLst>
              <a:outerShdw blurRad="50800" dist="38100" dir="2700000">
                <a:srgbClr val="000000">
                  <a:alpha val="40000"/>
                </a:srgbClr>
              </a:outerShdw>
            </a:effectLst>
          </p:spPr>
        </p:sp>
        <p:sp>
          <p:nvSpPr>
            <p:cNvPr id="13" name="TextBox 13"/>
            <p:cNvSpPr txBox="1"/>
            <p:nvPr/>
          </p:nvSpPr>
          <p:spPr>
            <a:xfrm>
              <a:off x="4497896" y="2892647"/>
              <a:ext cx="660368" cy="584740"/>
            </a:xfrm>
            <a:prstGeom prst="rect">
              <a:avLst/>
            </a:prstGeom>
            <a:noFill/>
            <a:ln/>
          </p:spPr>
          <p:txBody>
            <a:bodyPr vert="horz" wrap="square" lIns="91440" tIns="45720" rIns="91440" bIns="45720" rtlCol="0" anchor="t" anchorCtr="0">
              <a:spAutoFit/>
            </a:bodyPr>
            <a:lstStyle/>
            <a:p>
              <a:pPr algn="l">
                <a:lnSpc>
                  <a:spcPct val="80000"/>
                </a:lnSpc>
              </a:pPr>
              <a:r>
                <a:rPr lang="en-US" sz="3200">
                  <a:solidFill>
                    <a:srgbClr val="FFFFFF">
                      <a:alpha val="100000"/>
                    </a:srgbClr>
                  </a:solidFill>
                  <a:latin typeface="Calibri Light"/>
                  <a:ea typeface="Calibri Light"/>
                  <a:cs typeface="Calibri Light"/>
                </a:rPr>
                <a:t>05</a:t>
              </a:r>
            </a:p>
          </p:txBody>
        </p:sp>
      </p:grpSp>
      <p:sp>
        <p:nvSpPr>
          <p:cNvPr id="14" name="AutoShape 14"/>
          <p:cNvSpPr/>
          <p:nvPr/>
        </p:nvSpPr>
        <p:spPr>
          <a:xfrm>
            <a:off x="824164"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sp>
        <p:nvSpPr>
          <p:cNvPr id="15" name="AutoShape 15"/>
          <p:cNvSpPr/>
          <p:nvPr/>
        </p:nvSpPr>
        <p:spPr>
          <a:xfrm>
            <a:off x="3655483"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sp>
        <p:nvSpPr>
          <p:cNvPr id="16" name="AutoShape 16"/>
          <p:cNvSpPr/>
          <p:nvPr/>
        </p:nvSpPr>
        <p:spPr>
          <a:xfrm>
            <a:off x="6573778"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sp>
        <p:nvSpPr>
          <p:cNvPr id="17" name="AutoShape 17"/>
          <p:cNvSpPr/>
          <p:nvPr/>
        </p:nvSpPr>
        <p:spPr>
          <a:xfrm>
            <a:off x="9405097" y="5088418"/>
            <a:ext cx="2055371" cy="307777"/>
          </a:xfrm>
          <a:prstGeom prst="rect">
            <a:avLst/>
          </a:prstGeom>
          <a:noFill/>
          <a:ln/>
        </p:spPr>
        <p:txBody>
          <a:bodyPr vert="horz" wrap="none" lIns="91440" tIns="45720" rIns="91440" bIns="45720" rtlCol="0" anchor="t" anchorCtr="0">
            <a:noAutofit/>
          </a:bodyPr>
          <a:lstStyle/>
          <a:p>
            <a:pPr algn="l">
              <a:defRPr/>
            </a:pPr>
            <a:endParaRPr lang="en-US" sz="1100"/>
          </a:p>
        </p:txBody>
      </p:sp>
      <p:pic>
        <p:nvPicPr>
          <p:cNvPr id="18" name="Picture 18"/>
          <p:cNvPicPr>
            <a:picLocks noChangeAspect="1"/>
          </p:cNvPicPr>
          <p:nvPr/>
        </p:nvPicPr>
        <p:blipFill>
          <a:blip r:embed="rId2"/>
          <a:srcRect/>
          <a:stretch>
            <a:fillRect/>
          </a:stretch>
        </p:blipFill>
        <p:spPr>
          <a:xfrm>
            <a:off x="5042315" y="660677"/>
            <a:ext cx="2213040" cy="15972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86814" y="2600498"/>
            <a:ext cx="9094573" cy="2384854"/>
          </a:xfrm>
          <a:prstGeom prst="rect">
            <a:avLst/>
          </a:prstGeom>
          <a:solidFill>
            <a:srgbClr val="AAC2AC">
              <a:alpha val="100000"/>
            </a:srgbClr>
          </a:solidFill>
          <a:ln/>
        </p:spPr>
      </p:sp>
      <p:sp>
        <p:nvSpPr>
          <p:cNvPr id="3" name="AutoShape 3"/>
          <p:cNvSpPr/>
          <p:nvPr/>
        </p:nvSpPr>
        <p:spPr>
          <a:xfrm>
            <a:off x="5118438" y="3623054"/>
            <a:ext cx="2031326" cy="646331"/>
          </a:xfrm>
          <a:prstGeom prst="rect">
            <a:avLst/>
          </a:prstGeom>
          <a:noFill/>
          <a:ln/>
        </p:spPr>
        <p:txBody>
          <a:bodyPr vert="horz" wrap="square" lIns="91440" tIns="45720" rIns="91440" bIns="45720" rtlCol="0" anchor="t" anchorCtr="0">
            <a:normAutofit/>
          </a:bodyPr>
          <a:lstStyle/>
          <a:p>
            <a:pPr algn="ctr">
              <a:defRPr/>
            </a:pPr>
            <a:r>
              <a:rPr lang="en-US" sz="3525">
                <a:solidFill>
                  <a:srgbClr val="FFFFFF">
                    <a:alpha val="100000"/>
                  </a:srgbClr>
                </a:solidFill>
                <a:latin typeface="微软雅黑 Light"/>
                <a:ea typeface="微软雅黑 Light"/>
                <a:cs typeface="微软雅黑 Light"/>
              </a:rPr>
              <a:t>执行概要</a:t>
            </a:r>
            <a:endParaRPr lang="en-US" sz="1100"/>
          </a:p>
        </p:txBody>
      </p:sp>
      <p:sp>
        <p:nvSpPr>
          <p:cNvPr id="4" name="AutoShape 4"/>
          <p:cNvSpPr/>
          <p:nvPr/>
        </p:nvSpPr>
        <p:spPr>
          <a:xfrm>
            <a:off x="4868966" y="4172114"/>
            <a:ext cx="2595582" cy="369332"/>
          </a:xfrm>
          <a:prstGeom prst="rect">
            <a:avLst/>
          </a:prstGeom>
          <a:noFill/>
          <a:ln/>
        </p:spPr>
        <p:txBody>
          <a:bodyPr vert="horz" wrap="none" lIns="91440" tIns="45720" rIns="91440" bIns="45720" rtlCol="0" anchor="t" anchorCtr="0">
            <a:noAutofit/>
          </a:bodyPr>
          <a:lstStyle/>
          <a:p>
            <a:pPr algn="l">
              <a:defRPr/>
            </a:pPr>
            <a:endParaRPr lang="en-US" sz="1100"/>
          </a:p>
        </p:txBody>
      </p:sp>
      <p:grpSp>
        <p:nvGrpSpPr>
          <p:cNvPr id="5" name="Group 5"/>
          <p:cNvGrpSpPr/>
          <p:nvPr/>
        </p:nvGrpSpPr>
        <p:grpSpPr>
          <a:xfrm>
            <a:off x="4984432" y="1086993"/>
            <a:ext cx="2299335" cy="2299335"/>
            <a:chOff x="4984432" y="1086993"/>
            <a:chExt cx="2299335" cy="2299335"/>
          </a:xfrm>
        </p:grpSpPr>
        <p:sp>
          <p:nvSpPr>
            <p:cNvPr id="6" name="AutoShape 6"/>
            <p:cNvSpPr/>
            <p:nvPr/>
          </p:nvSpPr>
          <p:spPr>
            <a:xfrm>
              <a:off x="4984432" y="1086993"/>
              <a:ext cx="2299335" cy="2299335"/>
            </a:xfrm>
            <a:prstGeom prst="diamond">
              <a:avLst/>
            </a:prstGeom>
            <a:solidFill>
              <a:srgbClr val="F3D3BC">
                <a:alpha val="100000"/>
              </a:srgbClr>
            </a:solidFill>
            <a:ln/>
          </p:spPr>
        </p:sp>
        <p:sp>
          <p:nvSpPr>
            <p:cNvPr id="7" name="TextBox 7"/>
            <p:cNvSpPr txBox="1"/>
            <p:nvPr/>
          </p:nvSpPr>
          <p:spPr>
            <a:xfrm>
              <a:off x="5462874" y="1537145"/>
              <a:ext cx="1342454" cy="1323404"/>
            </a:xfrm>
            <a:prstGeom prst="rect">
              <a:avLst/>
            </a:prstGeom>
            <a:noFill/>
            <a:ln/>
          </p:spPr>
          <p:txBody>
            <a:bodyPr vert="horz" wrap="square" lIns="91440" tIns="45720" rIns="91440" bIns="45720" rtlCol="0" anchor="t" anchorCtr="0">
              <a:spAutoFit/>
            </a:bodyPr>
            <a:lstStyle/>
            <a:p>
              <a:pPr algn="ctr">
                <a:lnSpc>
                  <a:spcPct val="80000"/>
                </a:lnSpc>
              </a:pPr>
              <a:r>
                <a:rPr lang="en-US" sz="8000" dirty="0">
                  <a:solidFill>
                    <a:srgbClr val="FFFFFF">
                      <a:alpha val="100000"/>
                    </a:srgbClr>
                  </a:solidFill>
                  <a:latin typeface="微软雅黑 Light"/>
                  <a:ea typeface="微软雅黑 Light"/>
                  <a:cs typeface="微软雅黑 Light"/>
                </a:rPr>
                <a:t>01</a:t>
              </a:r>
            </a:p>
          </p:txBody>
        </p:sp>
        <p:sp>
          <p:nvSpPr>
            <p:cNvPr id="8" name="AutoShape 8"/>
            <p:cNvSpPr/>
            <p:nvPr/>
          </p:nvSpPr>
          <p:spPr>
            <a:xfrm>
              <a:off x="5977795" y="2994088"/>
              <a:ext cx="312515" cy="312515"/>
            </a:xfrm>
            <a:prstGeom prst="diamond">
              <a:avLst/>
            </a:prstGeom>
            <a:solidFill>
              <a:srgbClr val="FFFFFF">
                <a:alpha val="100000"/>
              </a:srgbClr>
            </a:solidFill>
            <a:ln/>
          </p:spPr>
        </p:sp>
      </p:grpSp>
      <p:sp>
        <p:nvSpPr>
          <p:cNvPr id="9" name="AutoShape 9"/>
          <p:cNvSpPr/>
          <p:nvPr/>
        </p:nvSpPr>
        <p:spPr>
          <a:xfrm>
            <a:off x="0" y="2600498"/>
            <a:ext cx="6134100" cy="2384854"/>
          </a:xfrm>
          <a:prstGeom prst="rect">
            <a:avLst/>
          </a:prstGeom>
          <a:solidFill>
            <a:srgbClr val="AAC2AC">
              <a:alpha val="100000"/>
            </a:srgbClr>
          </a:solidFill>
          <a:ln/>
        </p:spPr>
      </p:sp>
      <p:sp>
        <p:nvSpPr>
          <p:cNvPr id="10" name="AutoShape 10"/>
          <p:cNvSpPr/>
          <p:nvPr/>
        </p:nvSpPr>
        <p:spPr>
          <a:xfrm>
            <a:off x="6134098" y="2600498"/>
            <a:ext cx="6134100" cy="2384854"/>
          </a:xfrm>
          <a:prstGeom prst="rect">
            <a:avLst/>
          </a:prstGeom>
          <a:solidFill>
            <a:srgbClr val="AAC2AC">
              <a:alpha val="100000"/>
            </a:srgbClr>
          </a:solidFill>
          <a:ln/>
        </p:spPr>
      </p:sp>
      <p:sp>
        <p:nvSpPr>
          <p:cNvPr id="14" name="矩形 13">
            <a:extLst>
              <a:ext uri="{FF2B5EF4-FFF2-40B4-BE49-F238E27FC236}">
                <a16:creationId xmlns:a16="http://schemas.microsoft.com/office/drawing/2014/main" id="{28AF3B50-F9EB-A61D-7A43-DF25677DD7A0}"/>
              </a:ext>
            </a:extLst>
          </p:cNvPr>
          <p:cNvSpPr/>
          <p:nvPr/>
        </p:nvSpPr>
        <p:spPr>
          <a:xfrm>
            <a:off x="4656724" y="3073257"/>
            <a:ext cx="2954655" cy="923330"/>
          </a:xfrm>
          <a:prstGeom prst="rect">
            <a:avLst/>
          </a:prstGeom>
          <a:noFill/>
        </p:spPr>
        <p:txBody>
          <a:bodyPr wrap="none" lIns="91440" tIns="45720" rIns="91440" bIns="45720">
            <a:spAutoFit/>
          </a:bodyPr>
          <a:lstStyle/>
          <a:p>
            <a:pPr algn="ct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微软雅黑 Light"/>
                <a:ea typeface="微软雅黑 Light"/>
              </a:rPr>
              <a:t>项目概述</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Freeform 4"/>
          <p:cNvSpPr/>
          <p:nvPr/>
        </p:nvSpPr>
        <p:spPr>
          <a:xfrm>
            <a:off x="8774438" y="2769956"/>
            <a:ext cx="2699808" cy="151330"/>
          </a:xfrm>
          <a:custGeom>
            <a:avLst/>
            <a:gdLst/>
            <a:ahLst/>
            <a:cxnLst/>
            <a:rect l="l" t="t" r="r" b="b"/>
            <a:pathLst>
              <a:path w="516" h="29">
                <a:moveTo>
                  <a:pt x="506" y="0"/>
                </a:moveTo>
                <a:cubicBezTo>
                  <a:pt x="0" y="0"/>
                  <a:pt x="0" y="0"/>
                  <a:pt x="0" y="0"/>
                </a:cubicBezTo>
                <a:cubicBezTo>
                  <a:pt x="1" y="5"/>
                  <a:pt x="2" y="9"/>
                  <a:pt x="2" y="14"/>
                </a:cubicBezTo>
                <a:cubicBezTo>
                  <a:pt x="2" y="19"/>
                  <a:pt x="1" y="24"/>
                  <a:pt x="0" y="29"/>
                </a:cubicBezTo>
                <a:cubicBezTo>
                  <a:pt x="506" y="29"/>
                  <a:pt x="506" y="29"/>
                  <a:pt x="506" y="29"/>
                </a:cubicBezTo>
                <a:cubicBezTo>
                  <a:pt x="511" y="29"/>
                  <a:pt x="516" y="22"/>
                  <a:pt x="516" y="14"/>
                </a:cubicBezTo>
                <a:cubicBezTo>
                  <a:pt x="516" y="7"/>
                  <a:pt x="511" y="0"/>
                  <a:pt x="506" y="0"/>
                </a:cubicBezTo>
              </a:path>
            </a:pathLst>
          </a:custGeom>
          <a:solidFill>
            <a:srgbClr val="BFBFBF">
              <a:alpha val="100000"/>
            </a:srgbClr>
          </a:solidFill>
          <a:ln/>
        </p:spPr>
      </p:sp>
      <p:sp>
        <p:nvSpPr>
          <p:cNvPr id="5" name="Freeform 5"/>
          <p:cNvSpPr/>
          <p:nvPr/>
        </p:nvSpPr>
        <p:spPr>
          <a:xfrm>
            <a:off x="871809" y="2769956"/>
            <a:ext cx="7725738" cy="151330"/>
          </a:xfrm>
          <a:custGeom>
            <a:avLst/>
            <a:gdLst/>
            <a:ahLst/>
            <a:cxnLst/>
            <a:rect l="l" t="t" r="r" b="b"/>
            <a:pathLst>
              <a:path w="1477" h="29">
                <a:moveTo>
                  <a:pt x="1477" y="0"/>
                </a:moveTo>
                <a:cubicBezTo>
                  <a:pt x="11" y="0"/>
                  <a:pt x="11" y="0"/>
                  <a:pt x="11" y="0"/>
                </a:cubicBezTo>
                <a:cubicBezTo>
                  <a:pt x="5" y="0"/>
                  <a:pt x="0" y="7"/>
                  <a:pt x="0" y="14"/>
                </a:cubicBezTo>
                <a:cubicBezTo>
                  <a:pt x="0" y="22"/>
                  <a:pt x="5" y="29"/>
                  <a:pt x="11" y="29"/>
                </a:cubicBezTo>
                <a:cubicBezTo>
                  <a:pt x="1477" y="29"/>
                  <a:pt x="1477" y="29"/>
                  <a:pt x="1477" y="29"/>
                </a:cubicBezTo>
                <a:cubicBezTo>
                  <a:pt x="1477" y="0"/>
                  <a:pt x="1477" y="0"/>
                  <a:pt x="1477" y="0"/>
                </a:cubicBezTo>
              </a:path>
            </a:pathLst>
          </a:custGeom>
          <a:solidFill>
            <a:srgbClr val="7F7F7F">
              <a:alpha val="100000"/>
            </a:srgbClr>
          </a:solidFill>
          <a:ln/>
        </p:spPr>
      </p:sp>
      <p:grpSp>
        <p:nvGrpSpPr>
          <p:cNvPr id="6" name="Group 6"/>
          <p:cNvGrpSpPr/>
          <p:nvPr/>
        </p:nvGrpSpPr>
        <p:grpSpPr>
          <a:xfrm>
            <a:off x="8414004" y="2659094"/>
            <a:ext cx="371475" cy="372999"/>
            <a:chOff x="8414004" y="2659094"/>
            <a:chExt cx="371475" cy="372999"/>
          </a:xfrm>
        </p:grpSpPr>
        <p:sp>
          <p:nvSpPr>
            <p:cNvPr id="7" name="AutoShape 7"/>
            <p:cNvSpPr/>
            <p:nvPr/>
          </p:nvSpPr>
          <p:spPr>
            <a:xfrm>
              <a:off x="8414004" y="2659094"/>
              <a:ext cx="371475" cy="372999"/>
            </a:xfrm>
            <a:prstGeom prst="ellipse">
              <a:avLst/>
            </a:prstGeom>
            <a:solidFill>
              <a:srgbClr val="262626">
                <a:alpha val="100000"/>
              </a:srgbClr>
            </a:solidFill>
            <a:ln/>
          </p:spPr>
        </p:sp>
        <p:sp>
          <p:nvSpPr>
            <p:cNvPr id="8" name="AutoShape 8"/>
            <p:cNvSpPr/>
            <p:nvPr/>
          </p:nvSpPr>
          <p:spPr>
            <a:xfrm>
              <a:off x="8548878" y="2795492"/>
              <a:ext cx="106109" cy="100203"/>
            </a:xfrm>
            <a:prstGeom prst="ellipse">
              <a:avLst/>
            </a:prstGeom>
            <a:solidFill>
              <a:srgbClr val="FFFFFF">
                <a:alpha val="100000"/>
              </a:srgbClr>
            </a:solidFill>
            <a:ln/>
          </p:spPr>
        </p:sp>
      </p:grpSp>
      <p:grpSp>
        <p:nvGrpSpPr>
          <p:cNvPr id="9" name="Group 9"/>
          <p:cNvGrpSpPr/>
          <p:nvPr/>
        </p:nvGrpSpPr>
        <p:grpSpPr>
          <a:xfrm>
            <a:off x="5479828" y="2659094"/>
            <a:ext cx="371475" cy="372999"/>
            <a:chOff x="5479828" y="2659094"/>
            <a:chExt cx="371475" cy="372999"/>
          </a:xfrm>
        </p:grpSpPr>
        <p:sp>
          <p:nvSpPr>
            <p:cNvPr id="10" name="AutoShape 10"/>
            <p:cNvSpPr/>
            <p:nvPr/>
          </p:nvSpPr>
          <p:spPr>
            <a:xfrm>
              <a:off x="5479828" y="2659094"/>
              <a:ext cx="371475" cy="372999"/>
            </a:xfrm>
            <a:prstGeom prst="ellipse">
              <a:avLst/>
            </a:prstGeom>
            <a:solidFill>
              <a:srgbClr val="595959">
                <a:alpha val="100000"/>
              </a:srgbClr>
            </a:solidFill>
            <a:ln/>
          </p:spPr>
        </p:sp>
        <p:sp>
          <p:nvSpPr>
            <p:cNvPr id="11" name="AutoShape 11"/>
            <p:cNvSpPr/>
            <p:nvPr/>
          </p:nvSpPr>
          <p:spPr>
            <a:xfrm>
              <a:off x="5614701" y="2795492"/>
              <a:ext cx="106109" cy="100203"/>
            </a:xfrm>
            <a:prstGeom prst="ellipse">
              <a:avLst/>
            </a:prstGeom>
            <a:solidFill>
              <a:srgbClr val="FFFFFF">
                <a:alpha val="100000"/>
              </a:srgbClr>
            </a:solidFill>
            <a:ln/>
          </p:spPr>
        </p:sp>
      </p:grpSp>
      <p:grpSp>
        <p:nvGrpSpPr>
          <p:cNvPr id="12" name="Group 12"/>
          <p:cNvGrpSpPr/>
          <p:nvPr/>
        </p:nvGrpSpPr>
        <p:grpSpPr>
          <a:xfrm>
            <a:off x="3109531" y="2659094"/>
            <a:ext cx="371475" cy="372999"/>
            <a:chOff x="3109531" y="2659094"/>
            <a:chExt cx="371475" cy="372999"/>
          </a:xfrm>
        </p:grpSpPr>
        <p:sp>
          <p:nvSpPr>
            <p:cNvPr id="13" name="AutoShape 13"/>
            <p:cNvSpPr/>
            <p:nvPr/>
          </p:nvSpPr>
          <p:spPr>
            <a:xfrm>
              <a:off x="3109531" y="2659094"/>
              <a:ext cx="371475" cy="372999"/>
            </a:xfrm>
            <a:prstGeom prst="ellipse">
              <a:avLst/>
            </a:prstGeom>
            <a:solidFill>
              <a:srgbClr val="595959">
                <a:alpha val="100000"/>
              </a:srgbClr>
            </a:solidFill>
            <a:ln/>
          </p:spPr>
        </p:sp>
        <p:sp>
          <p:nvSpPr>
            <p:cNvPr id="14" name="AutoShape 14"/>
            <p:cNvSpPr/>
            <p:nvPr/>
          </p:nvSpPr>
          <p:spPr>
            <a:xfrm>
              <a:off x="3246596" y="2795492"/>
              <a:ext cx="99536" cy="100203"/>
            </a:xfrm>
            <a:prstGeom prst="ellipse">
              <a:avLst/>
            </a:prstGeom>
            <a:solidFill>
              <a:srgbClr val="FFFFFF">
                <a:alpha val="100000"/>
              </a:srgbClr>
            </a:solidFill>
            <a:ln/>
          </p:spPr>
        </p:sp>
      </p:grpSp>
      <p:grpSp>
        <p:nvGrpSpPr>
          <p:cNvPr id="15" name="Group 15"/>
          <p:cNvGrpSpPr/>
          <p:nvPr/>
        </p:nvGrpSpPr>
        <p:grpSpPr>
          <a:xfrm>
            <a:off x="772287" y="2659094"/>
            <a:ext cx="371475" cy="372999"/>
            <a:chOff x="772287" y="2659094"/>
            <a:chExt cx="371475" cy="372999"/>
          </a:xfrm>
        </p:grpSpPr>
        <p:sp>
          <p:nvSpPr>
            <p:cNvPr id="16" name="AutoShape 16"/>
            <p:cNvSpPr/>
            <p:nvPr/>
          </p:nvSpPr>
          <p:spPr>
            <a:xfrm>
              <a:off x="772287" y="2659094"/>
              <a:ext cx="371475" cy="372999"/>
            </a:xfrm>
            <a:prstGeom prst="ellipse">
              <a:avLst/>
            </a:prstGeom>
            <a:solidFill>
              <a:srgbClr val="595959">
                <a:alpha val="100000"/>
              </a:srgbClr>
            </a:solidFill>
            <a:ln/>
          </p:spPr>
        </p:sp>
        <p:sp>
          <p:nvSpPr>
            <p:cNvPr id="17" name="AutoShape 17"/>
            <p:cNvSpPr/>
            <p:nvPr/>
          </p:nvSpPr>
          <p:spPr>
            <a:xfrm>
              <a:off x="907161" y="2795492"/>
              <a:ext cx="99536" cy="100203"/>
            </a:xfrm>
            <a:prstGeom prst="ellipse">
              <a:avLst/>
            </a:prstGeom>
            <a:solidFill>
              <a:srgbClr val="FFFFFF">
                <a:alpha val="100000"/>
              </a:srgbClr>
            </a:solidFill>
            <a:ln/>
          </p:spPr>
        </p:sp>
      </p:grpSp>
      <p:sp>
        <p:nvSpPr>
          <p:cNvPr id="18" name="TextBox 18"/>
          <p:cNvSpPr txBox="1"/>
          <p:nvPr/>
        </p:nvSpPr>
        <p:spPr>
          <a:xfrm>
            <a:off x="698565" y="2259890"/>
            <a:ext cx="1297305" cy="245745"/>
          </a:xfrm>
          <a:prstGeom prst="rect">
            <a:avLst/>
          </a:prstGeom>
          <a:noFill/>
          <a:ln/>
        </p:spPr>
        <p:txBody>
          <a:bodyPr vert="horz" wrap="square" lIns="91440" tIns="45720" rIns="91440" bIns="0" rtlCol="0" anchor="t" anchorCtr="0">
            <a:spAutoFit/>
          </a:bodyPr>
          <a:lstStyle/>
          <a:p>
            <a:pPr algn="l">
              <a:lnSpc>
                <a:spcPct val="80000"/>
              </a:lnSpc>
              <a:spcBef>
                <a:spcPct val="0"/>
              </a:spcBef>
            </a:pPr>
            <a:r>
              <a:rPr lang="en-US" sz="1350">
                <a:solidFill>
                  <a:srgbClr val="787878">
                    <a:alpha val="100000"/>
                  </a:srgbClr>
                </a:solidFill>
                <a:latin typeface="Calibri"/>
                <a:ea typeface="Calibri"/>
                <a:cs typeface="Calibri"/>
              </a:rPr>
              <a:t>项目介绍</a:t>
            </a:r>
          </a:p>
        </p:txBody>
      </p:sp>
      <p:sp>
        <p:nvSpPr>
          <p:cNvPr id="19" name="TextBox 19"/>
          <p:cNvSpPr txBox="1"/>
          <p:nvPr/>
        </p:nvSpPr>
        <p:spPr>
          <a:xfrm>
            <a:off x="2991079" y="2249659"/>
            <a:ext cx="1297305" cy="245745"/>
          </a:xfrm>
          <a:prstGeom prst="rect">
            <a:avLst/>
          </a:prstGeom>
          <a:noFill/>
          <a:ln/>
        </p:spPr>
        <p:txBody>
          <a:bodyPr vert="horz" wrap="square" lIns="91440" tIns="45720" rIns="91440" bIns="0" rtlCol="0" anchor="t" anchorCtr="0">
            <a:spAutoFit/>
          </a:bodyPr>
          <a:lstStyle/>
          <a:p>
            <a:pPr algn="l">
              <a:lnSpc>
                <a:spcPct val="80000"/>
              </a:lnSpc>
              <a:spcBef>
                <a:spcPct val="0"/>
              </a:spcBef>
            </a:pPr>
            <a:r>
              <a:rPr lang="en-US" sz="1350">
                <a:solidFill>
                  <a:srgbClr val="787878">
                    <a:alpha val="100000"/>
                  </a:srgbClr>
                </a:solidFill>
                <a:latin typeface="Calibri"/>
                <a:ea typeface="Calibri"/>
                <a:cs typeface="Calibri"/>
              </a:rPr>
              <a:t>功能与服务</a:t>
            </a:r>
          </a:p>
        </p:txBody>
      </p:sp>
      <p:sp>
        <p:nvSpPr>
          <p:cNvPr id="20" name="TextBox 20"/>
          <p:cNvSpPr txBox="1"/>
          <p:nvPr/>
        </p:nvSpPr>
        <p:spPr>
          <a:xfrm>
            <a:off x="5368502" y="2249659"/>
            <a:ext cx="1297305" cy="245745"/>
          </a:xfrm>
          <a:prstGeom prst="rect">
            <a:avLst/>
          </a:prstGeom>
          <a:noFill/>
          <a:ln/>
        </p:spPr>
        <p:txBody>
          <a:bodyPr vert="horz" wrap="square" lIns="91440" tIns="45720" rIns="91440" bIns="0" rtlCol="0" anchor="t" anchorCtr="0">
            <a:spAutoFit/>
          </a:bodyPr>
          <a:lstStyle/>
          <a:p>
            <a:pPr algn="l">
              <a:lnSpc>
                <a:spcPct val="80000"/>
              </a:lnSpc>
              <a:spcBef>
                <a:spcPct val="0"/>
              </a:spcBef>
            </a:pPr>
            <a:r>
              <a:rPr lang="en-US" sz="1350">
                <a:solidFill>
                  <a:srgbClr val="787878">
                    <a:alpha val="100000"/>
                  </a:srgbClr>
                </a:solidFill>
                <a:latin typeface="Calibri"/>
                <a:ea typeface="Calibri"/>
                <a:cs typeface="Calibri"/>
              </a:rPr>
              <a:t>定制与体验</a:t>
            </a:r>
          </a:p>
        </p:txBody>
      </p:sp>
      <p:sp>
        <p:nvSpPr>
          <p:cNvPr id="21" name="TextBox 21"/>
          <p:cNvSpPr txBox="1"/>
          <p:nvPr/>
        </p:nvSpPr>
        <p:spPr>
          <a:xfrm>
            <a:off x="8291348" y="2249659"/>
            <a:ext cx="1297305" cy="245745"/>
          </a:xfrm>
          <a:prstGeom prst="rect">
            <a:avLst/>
          </a:prstGeom>
          <a:noFill/>
          <a:ln/>
        </p:spPr>
        <p:txBody>
          <a:bodyPr vert="horz" wrap="square" lIns="91440" tIns="45720" rIns="91440" bIns="0" rtlCol="0" anchor="t" anchorCtr="0">
            <a:spAutoFit/>
          </a:bodyPr>
          <a:lstStyle/>
          <a:p>
            <a:pPr algn="l">
              <a:lnSpc>
                <a:spcPct val="80000"/>
              </a:lnSpc>
              <a:spcBef>
                <a:spcPct val="0"/>
              </a:spcBef>
            </a:pPr>
            <a:r>
              <a:rPr lang="en-US" sz="1350">
                <a:solidFill>
                  <a:srgbClr val="787878">
                    <a:alpha val="100000"/>
                  </a:srgbClr>
                </a:solidFill>
                <a:latin typeface="Calibri"/>
                <a:ea typeface="Calibri"/>
                <a:cs typeface="Calibri"/>
              </a:rPr>
              <a:t>紧急干预功能</a:t>
            </a:r>
          </a:p>
        </p:txBody>
      </p:sp>
      <p:grpSp>
        <p:nvGrpSpPr>
          <p:cNvPr id="22" name="Group 22"/>
          <p:cNvGrpSpPr/>
          <p:nvPr/>
        </p:nvGrpSpPr>
        <p:grpSpPr>
          <a:xfrm>
            <a:off x="704183" y="3157442"/>
            <a:ext cx="1914239" cy="1440847"/>
            <a:chOff x="704183" y="3157442"/>
            <a:chExt cx="1914239" cy="1440847"/>
          </a:xfrm>
        </p:grpSpPr>
        <p:sp>
          <p:nvSpPr>
            <p:cNvPr id="23" name="AutoShape 23"/>
            <p:cNvSpPr/>
            <p:nvPr/>
          </p:nvSpPr>
          <p:spPr>
            <a:xfrm>
              <a:off x="704183" y="3157442"/>
              <a:ext cx="1569625" cy="369284"/>
            </a:xfrm>
            <a:prstGeom prst="rect">
              <a:avLst/>
            </a:prstGeom>
            <a:noFill/>
            <a:ln/>
          </p:spPr>
        </p:sp>
        <p:sp>
          <p:nvSpPr>
            <p:cNvPr id="24" name="TextBox 24"/>
            <p:cNvSpPr txBox="1"/>
            <p:nvPr/>
          </p:nvSpPr>
          <p:spPr>
            <a:xfrm>
              <a:off x="721042" y="3619119"/>
              <a:ext cx="1897380" cy="979170"/>
            </a:xfrm>
            <a:prstGeom prst="rect">
              <a:avLst/>
            </a:prstGeom>
            <a:ln/>
          </p:spPr>
          <p:txBody>
            <a:bodyPr vert="horz" wrap="square" lIns="91440" tIns="45720" rIns="91440" bIns="0" rtlCol="0" anchor="t" anchorCtr="0">
              <a:spAutoFit/>
            </a:bodyPr>
            <a:lstStyle/>
            <a:p>
              <a:pPr algn="l">
                <a:lnSpc>
                  <a:spcPct val="130000"/>
                </a:lnSpc>
                <a:spcBef>
                  <a:spcPct val="0"/>
                </a:spcBef>
              </a:pPr>
              <a:r>
                <a:rPr lang="en-US" sz="1125">
                  <a:solidFill>
                    <a:srgbClr val="787878">
                      <a:alpha val="100000"/>
                    </a:srgbClr>
                  </a:solidFill>
                  <a:latin typeface="微软雅黑 Light"/>
                  <a:ea typeface="微软雅黑 Light"/>
                  <a:cs typeface="微软雅黑 Light"/>
                </a:rPr>
                <a:t>本项目是一个基于AI对话系统，以智能电子设备为载体，面向全年龄段大众的AI陪伴系统。</a:t>
              </a:r>
            </a:p>
          </p:txBody>
        </p:sp>
      </p:grpSp>
      <p:grpSp>
        <p:nvGrpSpPr>
          <p:cNvPr id="25" name="Group 25"/>
          <p:cNvGrpSpPr/>
          <p:nvPr/>
        </p:nvGrpSpPr>
        <p:grpSpPr>
          <a:xfrm>
            <a:off x="3017901" y="3157442"/>
            <a:ext cx="1914239" cy="1671447"/>
            <a:chOff x="3017901" y="3157442"/>
            <a:chExt cx="1914239" cy="1671447"/>
          </a:xfrm>
        </p:grpSpPr>
        <p:sp>
          <p:nvSpPr>
            <p:cNvPr id="26" name="AutoShape 26"/>
            <p:cNvSpPr/>
            <p:nvPr/>
          </p:nvSpPr>
          <p:spPr>
            <a:xfrm>
              <a:off x="3017901" y="3157442"/>
              <a:ext cx="1569625" cy="369284"/>
            </a:xfrm>
            <a:prstGeom prst="rect">
              <a:avLst/>
            </a:prstGeom>
            <a:noFill/>
            <a:ln/>
          </p:spPr>
        </p:sp>
        <p:sp>
          <p:nvSpPr>
            <p:cNvPr id="27" name="TextBox 27"/>
            <p:cNvSpPr txBox="1"/>
            <p:nvPr/>
          </p:nvSpPr>
          <p:spPr>
            <a:xfrm>
              <a:off x="3034760" y="3621119"/>
              <a:ext cx="1897380" cy="1207770"/>
            </a:xfrm>
            <a:prstGeom prst="rect">
              <a:avLst/>
            </a:prstGeom>
            <a:ln/>
          </p:spPr>
          <p:txBody>
            <a:bodyPr vert="horz" wrap="square" lIns="91440" tIns="45720" rIns="91440" bIns="0" rtlCol="0" anchor="t" anchorCtr="0">
              <a:spAutoFit/>
            </a:bodyPr>
            <a:lstStyle/>
            <a:p>
              <a:pPr algn="l">
                <a:lnSpc>
                  <a:spcPct val="130000"/>
                </a:lnSpc>
                <a:spcBef>
                  <a:spcPct val="0"/>
                </a:spcBef>
              </a:pPr>
              <a:r>
                <a:rPr lang="en-US" sz="1125">
                  <a:solidFill>
                    <a:srgbClr val="787878">
                      <a:alpha val="100000"/>
                    </a:srgbClr>
                  </a:solidFill>
                  <a:latin typeface="微软雅黑 Light"/>
                  <a:ea typeface="微软雅黑 Light"/>
                  <a:cs typeface="微软雅黑 Light"/>
                </a:rPr>
                <a:t>系统基础功能是为普通用户提供陪伴互动、聊天对话等服务，同时也为有心理问题的用户提供一定程度上的心理疏导服务。</a:t>
              </a:r>
            </a:p>
          </p:txBody>
        </p:sp>
      </p:grpSp>
      <p:grpSp>
        <p:nvGrpSpPr>
          <p:cNvPr id="28" name="Group 28"/>
          <p:cNvGrpSpPr/>
          <p:nvPr/>
        </p:nvGrpSpPr>
        <p:grpSpPr>
          <a:xfrm>
            <a:off x="5395341" y="3157442"/>
            <a:ext cx="1838039" cy="1916716"/>
            <a:chOff x="5395341" y="3157442"/>
            <a:chExt cx="1838039" cy="1916716"/>
          </a:xfrm>
        </p:grpSpPr>
        <p:sp>
          <p:nvSpPr>
            <p:cNvPr id="29" name="AutoShape 29"/>
            <p:cNvSpPr/>
            <p:nvPr/>
          </p:nvSpPr>
          <p:spPr>
            <a:xfrm>
              <a:off x="5395341" y="3157442"/>
              <a:ext cx="1569625" cy="369284"/>
            </a:xfrm>
            <a:prstGeom prst="rect">
              <a:avLst/>
            </a:prstGeom>
            <a:noFill/>
            <a:ln/>
          </p:spPr>
        </p:sp>
        <p:sp>
          <p:nvSpPr>
            <p:cNvPr id="30" name="TextBox 30"/>
            <p:cNvSpPr txBox="1"/>
            <p:nvPr/>
          </p:nvSpPr>
          <p:spPr>
            <a:xfrm>
              <a:off x="5412200" y="3637788"/>
              <a:ext cx="1821180" cy="1436370"/>
            </a:xfrm>
            <a:prstGeom prst="rect">
              <a:avLst/>
            </a:prstGeom>
            <a:ln/>
          </p:spPr>
          <p:txBody>
            <a:bodyPr vert="horz" wrap="square" lIns="91440" tIns="45720" rIns="91440" bIns="0" rtlCol="0" anchor="t" anchorCtr="0">
              <a:spAutoFit/>
            </a:bodyPr>
            <a:lstStyle/>
            <a:p>
              <a:pPr algn="l">
                <a:lnSpc>
                  <a:spcPct val="130000"/>
                </a:lnSpc>
                <a:spcBef>
                  <a:spcPct val="0"/>
                </a:spcBef>
              </a:pPr>
              <a:r>
                <a:rPr lang="en-US" sz="1125">
                  <a:solidFill>
                    <a:srgbClr val="787878">
                      <a:alpha val="100000"/>
                    </a:srgbClr>
                  </a:solidFill>
                  <a:latin typeface="微软雅黑 Light"/>
                  <a:ea typeface="微软雅黑 Light"/>
                  <a:cs typeface="微软雅黑 Light"/>
                </a:rPr>
                <a:t>用户可以为系统定制身份，以获取更好的陪伴体验。系统将配备专业的心理量表与调查问卷，针对具有心理问题的用户提供更加专业化的服务。</a:t>
              </a:r>
            </a:p>
          </p:txBody>
        </p:sp>
      </p:grpSp>
      <p:grpSp>
        <p:nvGrpSpPr>
          <p:cNvPr id="31" name="Group 31"/>
          <p:cNvGrpSpPr/>
          <p:nvPr/>
        </p:nvGrpSpPr>
        <p:grpSpPr>
          <a:xfrm>
            <a:off x="8314087" y="3157442"/>
            <a:ext cx="2228469" cy="1472280"/>
            <a:chOff x="8314087" y="3157442"/>
            <a:chExt cx="2228469" cy="1472280"/>
          </a:xfrm>
        </p:grpSpPr>
        <p:sp>
          <p:nvSpPr>
            <p:cNvPr id="32" name="AutoShape 32"/>
            <p:cNvSpPr/>
            <p:nvPr/>
          </p:nvSpPr>
          <p:spPr>
            <a:xfrm>
              <a:off x="8314087" y="3157442"/>
              <a:ext cx="1569625" cy="369284"/>
            </a:xfrm>
            <a:prstGeom prst="rect">
              <a:avLst/>
            </a:prstGeom>
            <a:noFill/>
            <a:ln/>
          </p:spPr>
        </p:sp>
        <p:sp>
          <p:nvSpPr>
            <p:cNvPr id="33" name="TextBox 33"/>
            <p:cNvSpPr txBox="1"/>
            <p:nvPr/>
          </p:nvSpPr>
          <p:spPr>
            <a:xfrm>
              <a:off x="8330851" y="3650552"/>
              <a:ext cx="2211705" cy="979170"/>
            </a:xfrm>
            <a:prstGeom prst="rect">
              <a:avLst/>
            </a:prstGeom>
            <a:ln/>
          </p:spPr>
          <p:txBody>
            <a:bodyPr vert="horz" wrap="square" lIns="91440" tIns="45720" rIns="91440" bIns="0" rtlCol="0" anchor="t" anchorCtr="0">
              <a:spAutoFit/>
            </a:bodyPr>
            <a:lstStyle/>
            <a:p>
              <a:pPr algn="l">
                <a:lnSpc>
                  <a:spcPct val="130000"/>
                </a:lnSpc>
                <a:spcBef>
                  <a:spcPct val="0"/>
                </a:spcBef>
              </a:pPr>
              <a:r>
                <a:rPr lang="en-US" sz="1125">
                  <a:solidFill>
                    <a:srgbClr val="787878">
                      <a:alpha val="100000"/>
                    </a:srgbClr>
                  </a:solidFill>
                  <a:latin typeface="微软雅黑 Light"/>
                  <a:ea typeface="微软雅黑 Light"/>
                  <a:cs typeface="微软雅黑 Light"/>
                </a:rPr>
                <a:t>系统将配备紧急干预功能，在检测到用户表达出近似于有意愿结束自己的生命的关键词时，将紧急联系相应的自杀干预部门。</a:t>
              </a:r>
            </a:p>
          </p:txBody>
        </p:sp>
      </p:grpSp>
      <p:sp>
        <p:nvSpPr>
          <p:cNvPr id="34" name="AutoShape 34"/>
          <p:cNvSpPr/>
          <p:nvPr/>
        </p:nvSpPr>
        <p:spPr>
          <a:xfrm>
            <a:off x="763865" y="166034"/>
            <a:ext cx="3057247" cy="523220"/>
          </a:xfrm>
          <a:prstGeom prst="rect">
            <a:avLst/>
          </a:prstGeom>
          <a:noFill/>
          <a:ln/>
        </p:spPr>
        <p:txBody>
          <a:bodyPr vert="horz" wrap="square" lIns="91440" tIns="45720" rIns="91440" bIns="45720" rtlCol="0" anchor="t" anchorCtr="0">
            <a:normAutofit/>
          </a:bodyPr>
          <a:lstStyle/>
          <a:p>
            <a:pPr algn="l">
              <a:defRPr/>
            </a:pPr>
            <a:r>
              <a:rPr lang="en-US" sz="2649">
                <a:solidFill>
                  <a:srgbClr val="787878">
                    <a:alpha val="100000"/>
                  </a:srgbClr>
                </a:solidFill>
                <a:latin typeface="微软雅黑 Light"/>
                <a:ea typeface="微软雅黑 Light"/>
                <a:cs typeface="微软雅黑 Light"/>
              </a:rPr>
              <a:t>执行概要</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86814" y="2600498"/>
            <a:ext cx="9094573" cy="2384854"/>
          </a:xfrm>
          <a:prstGeom prst="rect">
            <a:avLst/>
          </a:prstGeom>
          <a:solidFill>
            <a:srgbClr val="AAC2AC">
              <a:alpha val="100000"/>
            </a:srgbClr>
          </a:solidFill>
          <a:ln/>
        </p:spPr>
      </p:sp>
      <p:sp>
        <p:nvSpPr>
          <p:cNvPr id="3" name="AutoShape 3"/>
          <p:cNvSpPr/>
          <p:nvPr/>
        </p:nvSpPr>
        <p:spPr>
          <a:xfrm>
            <a:off x="5118438" y="3623054"/>
            <a:ext cx="2031326" cy="646331"/>
          </a:xfrm>
          <a:prstGeom prst="rect">
            <a:avLst/>
          </a:prstGeom>
          <a:noFill/>
          <a:ln/>
        </p:spPr>
        <p:txBody>
          <a:bodyPr vert="horz" wrap="square" lIns="91440" tIns="45720" rIns="91440" bIns="45720" rtlCol="0" anchor="t" anchorCtr="0">
            <a:normAutofit/>
          </a:bodyPr>
          <a:lstStyle/>
          <a:p>
            <a:pPr algn="ctr">
              <a:defRPr/>
            </a:pPr>
            <a:r>
              <a:rPr lang="en-US" sz="3525">
                <a:solidFill>
                  <a:srgbClr val="FFFFFF">
                    <a:alpha val="100000"/>
                  </a:srgbClr>
                </a:solidFill>
                <a:latin typeface="微软雅黑 Light"/>
                <a:ea typeface="微软雅黑 Light"/>
                <a:cs typeface="微软雅黑 Light"/>
              </a:rPr>
              <a:t>市场分析</a:t>
            </a:r>
            <a:endParaRPr lang="en-US" sz="1100"/>
          </a:p>
        </p:txBody>
      </p:sp>
      <p:sp>
        <p:nvSpPr>
          <p:cNvPr id="4" name="AutoShape 4"/>
          <p:cNvSpPr/>
          <p:nvPr/>
        </p:nvSpPr>
        <p:spPr>
          <a:xfrm>
            <a:off x="4868966" y="4172114"/>
            <a:ext cx="2595582" cy="369332"/>
          </a:xfrm>
          <a:prstGeom prst="rect">
            <a:avLst/>
          </a:prstGeom>
          <a:noFill/>
          <a:ln/>
        </p:spPr>
        <p:txBody>
          <a:bodyPr vert="horz" wrap="none" lIns="91440" tIns="45720" rIns="91440" bIns="45720" rtlCol="0" anchor="t" anchorCtr="0">
            <a:noAutofit/>
          </a:bodyPr>
          <a:lstStyle/>
          <a:p>
            <a:pPr algn="l">
              <a:defRPr/>
            </a:pPr>
            <a:endParaRPr lang="en-US" sz="1100"/>
          </a:p>
        </p:txBody>
      </p:sp>
      <p:grpSp>
        <p:nvGrpSpPr>
          <p:cNvPr id="5" name="Group 5"/>
          <p:cNvGrpSpPr/>
          <p:nvPr/>
        </p:nvGrpSpPr>
        <p:grpSpPr>
          <a:xfrm>
            <a:off x="4984432" y="1086993"/>
            <a:ext cx="2299335" cy="2299335"/>
            <a:chOff x="4984432" y="1086993"/>
            <a:chExt cx="2299335" cy="2299335"/>
          </a:xfrm>
        </p:grpSpPr>
        <p:sp>
          <p:nvSpPr>
            <p:cNvPr id="6" name="AutoShape 6"/>
            <p:cNvSpPr/>
            <p:nvPr/>
          </p:nvSpPr>
          <p:spPr>
            <a:xfrm>
              <a:off x="4984432" y="1086993"/>
              <a:ext cx="2299335" cy="2299335"/>
            </a:xfrm>
            <a:prstGeom prst="diamond">
              <a:avLst/>
            </a:prstGeom>
            <a:solidFill>
              <a:srgbClr val="F3D3BC">
                <a:alpha val="100000"/>
              </a:srgbClr>
            </a:solidFill>
            <a:ln/>
          </p:spPr>
        </p:sp>
        <p:sp>
          <p:nvSpPr>
            <p:cNvPr id="7" name="TextBox 7"/>
            <p:cNvSpPr txBox="1"/>
            <p:nvPr/>
          </p:nvSpPr>
          <p:spPr>
            <a:xfrm>
              <a:off x="5462874" y="1537145"/>
              <a:ext cx="1342454" cy="1323404"/>
            </a:xfrm>
            <a:prstGeom prst="rect">
              <a:avLst/>
            </a:prstGeom>
            <a:noFill/>
            <a:ln/>
          </p:spPr>
          <p:txBody>
            <a:bodyPr vert="horz" wrap="square" lIns="91440" tIns="45720" rIns="91440" bIns="45720" rtlCol="0" anchor="t" anchorCtr="0">
              <a:spAutoFit/>
            </a:bodyPr>
            <a:lstStyle/>
            <a:p>
              <a:pPr algn="ctr">
                <a:lnSpc>
                  <a:spcPct val="80000"/>
                </a:lnSpc>
              </a:pPr>
              <a:r>
                <a:rPr lang="en-US" sz="8000">
                  <a:solidFill>
                    <a:srgbClr val="FFFFFF">
                      <a:alpha val="100000"/>
                    </a:srgbClr>
                  </a:solidFill>
                  <a:latin typeface="微软雅黑 Light"/>
                  <a:ea typeface="微软雅黑 Light"/>
                  <a:cs typeface="微软雅黑 Light"/>
                </a:rPr>
                <a:t>02</a:t>
              </a:r>
            </a:p>
          </p:txBody>
        </p:sp>
        <p:sp>
          <p:nvSpPr>
            <p:cNvPr id="8" name="AutoShape 8"/>
            <p:cNvSpPr/>
            <p:nvPr/>
          </p:nvSpPr>
          <p:spPr>
            <a:xfrm>
              <a:off x="5977795" y="2994088"/>
              <a:ext cx="312515" cy="312515"/>
            </a:xfrm>
            <a:prstGeom prst="diamond">
              <a:avLst/>
            </a:prstGeom>
            <a:solidFill>
              <a:srgbClr val="FFFFFF">
                <a:alpha val="100000"/>
              </a:srgbClr>
            </a:solidFill>
            <a:ln/>
          </p:spPr>
        </p:sp>
      </p:grpSp>
      <p:sp>
        <p:nvSpPr>
          <p:cNvPr id="9" name="AutoShape 9"/>
          <p:cNvSpPr/>
          <p:nvPr/>
        </p:nvSpPr>
        <p:spPr>
          <a:xfrm>
            <a:off x="0" y="2600498"/>
            <a:ext cx="6134100" cy="2384854"/>
          </a:xfrm>
          <a:prstGeom prst="rect">
            <a:avLst/>
          </a:prstGeom>
          <a:solidFill>
            <a:srgbClr val="AAC2AC">
              <a:alpha val="100000"/>
            </a:srgbClr>
          </a:solidFill>
          <a:ln/>
        </p:spPr>
      </p:sp>
      <p:sp>
        <p:nvSpPr>
          <p:cNvPr id="10" name="AutoShape 10"/>
          <p:cNvSpPr/>
          <p:nvPr/>
        </p:nvSpPr>
        <p:spPr>
          <a:xfrm>
            <a:off x="6134098" y="2600498"/>
            <a:ext cx="6134100" cy="2384854"/>
          </a:xfrm>
          <a:prstGeom prst="rect">
            <a:avLst/>
          </a:prstGeom>
          <a:solidFill>
            <a:srgbClr val="AAC2AC">
              <a:alpha val="100000"/>
            </a:srgbClr>
          </a:solidFill>
          <a:ln/>
        </p:spPr>
      </p:sp>
      <p:sp>
        <p:nvSpPr>
          <p:cNvPr id="11" name="矩形 10">
            <a:extLst>
              <a:ext uri="{FF2B5EF4-FFF2-40B4-BE49-F238E27FC236}">
                <a16:creationId xmlns:a16="http://schemas.microsoft.com/office/drawing/2014/main" id="{48B587AE-A89E-57D6-27AB-CF91CCC34E57}"/>
              </a:ext>
            </a:extLst>
          </p:cNvPr>
          <p:cNvSpPr/>
          <p:nvPr/>
        </p:nvSpPr>
        <p:spPr>
          <a:xfrm>
            <a:off x="4766259" y="3098061"/>
            <a:ext cx="2954655" cy="923330"/>
          </a:xfrm>
          <a:prstGeom prst="rect">
            <a:avLst/>
          </a:prstGeom>
          <a:noFill/>
        </p:spPr>
        <p:txBody>
          <a:bodyPr wrap="none" lIns="91440" tIns="45720" rIns="91440" bIns="45720">
            <a:spAutoFit/>
          </a:bodyPr>
          <a:lstStyle/>
          <a:p>
            <a:pPr algn="ct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微软雅黑 Light"/>
                <a:ea typeface="微软雅黑 Light"/>
              </a:rPr>
              <a:t>市场分析</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AutoShape 4"/>
          <p:cNvSpPr/>
          <p:nvPr/>
        </p:nvSpPr>
        <p:spPr>
          <a:xfrm>
            <a:off x="-713974" y="1256469"/>
            <a:ext cx="4863856" cy="4863856"/>
          </a:xfrm>
          <a:prstGeom prst="ellipse">
            <a:avLst/>
          </a:prstGeom>
          <a:solidFill>
            <a:schemeClr val="accent1">
              <a:alpha val="100000"/>
            </a:schemeClr>
          </a:solidFill>
          <a:ln/>
        </p:spPr>
      </p:sp>
      <p:pic>
        <p:nvPicPr>
          <p:cNvPr id="5" name="Picture 5"/>
          <p:cNvPicPr>
            <a:picLocks noChangeAspect="1"/>
          </p:cNvPicPr>
          <p:nvPr/>
        </p:nvPicPr>
        <p:blipFill>
          <a:blip r:embed="rId2">
            <a:alphaModFix/>
          </a:blip>
          <a:srcRect/>
          <a:stretch>
            <a:fillRect/>
          </a:stretch>
        </p:blipFill>
        <p:spPr>
          <a:xfrm>
            <a:off x="-461343" y="1509100"/>
            <a:ext cx="4358594" cy="4358594"/>
          </a:xfrm>
          <a:prstGeom prst="ellipse">
            <a:avLst/>
          </a:prstGeom>
        </p:spPr>
      </p:pic>
      <p:sp>
        <p:nvSpPr>
          <p:cNvPr id="6" name="AutoShape 6"/>
          <p:cNvSpPr/>
          <p:nvPr/>
        </p:nvSpPr>
        <p:spPr>
          <a:xfrm>
            <a:off x="4701456" y="4853903"/>
            <a:ext cx="946555" cy="946555"/>
          </a:xfrm>
          <a:prstGeom prst="ellipse">
            <a:avLst/>
          </a:prstGeom>
          <a:solidFill>
            <a:schemeClr val="accent1">
              <a:alpha val="100000"/>
            </a:schemeClr>
          </a:solidFill>
          <a:ln/>
        </p:spPr>
      </p:sp>
      <p:sp>
        <p:nvSpPr>
          <p:cNvPr id="7" name="TextBox 7"/>
          <p:cNvSpPr txBox="1"/>
          <p:nvPr/>
        </p:nvSpPr>
        <p:spPr>
          <a:xfrm>
            <a:off x="4701456" y="5002020"/>
            <a:ext cx="918715" cy="650321"/>
          </a:xfrm>
          <a:prstGeom prst="rect">
            <a:avLst/>
          </a:prstGeom>
          <a:ln/>
        </p:spPr>
        <p:txBody>
          <a:bodyPr vert="horz" wrap="square" lIns="123825" tIns="123825" rIns="57150" bIns="123825" rtlCol="0" anchor="t" anchorCtr="0">
            <a:normAutofit/>
          </a:bodyPr>
          <a:lstStyle/>
          <a:p>
            <a:pPr algn="ctr">
              <a:lnSpc>
                <a:spcPct val="120000"/>
              </a:lnSpc>
            </a:pPr>
            <a:r>
              <a:rPr lang="en-US" sz="2100" b="1">
                <a:solidFill>
                  <a:srgbClr val="FFFFFF">
                    <a:alpha val="100000"/>
                  </a:srgbClr>
                </a:solidFill>
                <a:latin typeface="Microsoft Yahei"/>
                <a:ea typeface="Microsoft Yahei"/>
                <a:cs typeface="Microsoft Yahei"/>
              </a:rPr>
              <a:t>03</a:t>
            </a:r>
          </a:p>
        </p:txBody>
      </p:sp>
      <p:sp>
        <p:nvSpPr>
          <p:cNvPr id="8" name="TextBox 8"/>
          <p:cNvSpPr txBox="1"/>
          <p:nvPr/>
        </p:nvSpPr>
        <p:spPr>
          <a:xfrm>
            <a:off x="5786029" y="4621091"/>
            <a:ext cx="5413228" cy="696773"/>
          </a:xfrm>
          <a:prstGeom prst="rect">
            <a:avLst/>
          </a:prstGeom>
          <a:ln/>
        </p:spPr>
        <p:txBody>
          <a:bodyPr vert="horz" wrap="square" lIns="123825" tIns="123825" rIns="57150" bIns="123825" rtlCol="0" anchor="t" anchorCtr="0">
            <a:normAutofit/>
          </a:bodyPr>
          <a:lstStyle/>
          <a:p>
            <a:pPr>
              <a:lnSpc>
                <a:spcPct val="150000"/>
              </a:lnSpc>
            </a:pPr>
            <a:r>
              <a:rPr lang="en-US" sz="1500" b="1">
                <a:solidFill>
                  <a:schemeClr val="accent1">
                    <a:alpha val="100000"/>
                  </a:schemeClr>
                </a:solidFill>
                <a:latin typeface="Microsoft Yahei"/>
                <a:ea typeface="Microsoft Yahei"/>
                <a:cs typeface="Microsoft Yahei"/>
              </a:rPr>
              <a:t>全球AI市场展望</a:t>
            </a:r>
          </a:p>
        </p:txBody>
      </p:sp>
      <p:sp>
        <p:nvSpPr>
          <p:cNvPr id="9" name="TextBox 9"/>
          <p:cNvSpPr txBox="1"/>
          <p:nvPr/>
        </p:nvSpPr>
        <p:spPr>
          <a:xfrm>
            <a:off x="5786029" y="5087309"/>
            <a:ext cx="5225659" cy="929030"/>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全球AI市场预计到2025年将达到1500亿美元规模，AI陪伴服务市场前景广阔。</a:t>
            </a:r>
          </a:p>
        </p:txBody>
      </p:sp>
      <p:sp>
        <p:nvSpPr>
          <p:cNvPr id="10" name="AutoShape 10"/>
          <p:cNvSpPr/>
          <p:nvPr/>
        </p:nvSpPr>
        <p:spPr>
          <a:xfrm>
            <a:off x="4701456" y="1733151"/>
            <a:ext cx="946555" cy="946555"/>
          </a:xfrm>
          <a:prstGeom prst="ellipse">
            <a:avLst/>
          </a:prstGeom>
          <a:solidFill>
            <a:schemeClr val="accent1">
              <a:alpha val="100000"/>
            </a:schemeClr>
          </a:solidFill>
          <a:ln/>
        </p:spPr>
      </p:sp>
      <p:sp>
        <p:nvSpPr>
          <p:cNvPr id="11" name="TextBox 11"/>
          <p:cNvSpPr txBox="1"/>
          <p:nvPr/>
        </p:nvSpPr>
        <p:spPr>
          <a:xfrm>
            <a:off x="4701456" y="1881268"/>
            <a:ext cx="918715" cy="650321"/>
          </a:xfrm>
          <a:prstGeom prst="rect">
            <a:avLst/>
          </a:prstGeom>
          <a:ln/>
        </p:spPr>
        <p:txBody>
          <a:bodyPr vert="horz" wrap="square" lIns="123825" tIns="123825" rIns="57150" bIns="123825" rtlCol="0" anchor="ctr" anchorCtr="0">
            <a:normAutofit/>
          </a:bodyPr>
          <a:lstStyle/>
          <a:p>
            <a:pPr algn="ctr">
              <a:lnSpc>
                <a:spcPct val="120000"/>
              </a:lnSpc>
            </a:pPr>
            <a:r>
              <a:rPr lang="en-US" sz="2100" b="1">
                <a:solidFill>
                  <a:srgbClr val="FFFFFF">
                    <a:alpha val="100000"/>
                  </a:srgbClr>
                </a:solidFill>
                <a:latin typeface="Microsoft Yahei"/>
                <a:ea typeface="Microsoft Yahei"/>
                <a:cs typeface="Microsoft Yahei"/>
              </a:rPr>
              <a:t>01</a:t>
            </a:r>
          </a:p>
        </p:txBody>
      </p:sp>
      <p:sp>
        <p:nvSpPr>
          <p:cNvPr id="12" name="TextBox 12"/>
          <p:cNvSpPr txBox="1"/>
          <p:nvPr/>
        </p:nvSpPr>
        <p:spPr>
          <a:xfrm>
            <a:off x="5786029" y="1465501"/>
            <a:ext cx="5413228" cy="696773"/>
          </a:xfrm>
          <a:prstGeom prst="rect">
            <a:avLst/>
          </a:prstGeom>
          <a:ln/>
        </p:spPr>
        <p:txBody>
          <a:bodyPr vert="horz" wrap="square" lIns="123825" tIns="123825" rIns="57150" bIns="123825" rtlCol="0" anchor="t" anchorCtr="0">
            <a:normAutofit/>
          </a:bodyPr>
          <a:lstStyle/>
          <a:p>
            <a:pPr>
              <a:lnSpc>
                <a:spcPct val="150000"/>
              </a:lnSpc>
            </a:pPr>
            <a:r>
              <a:rPr lang="en-US" sz="1500" b="1">
                <a:solidFill>
                  <a:schemeClr val="accent1">
                    <a:alpha val="100000"/>
                  </a:schemeClr>
                </a:solidFill>
                <a:latin typeface="Microsoft Yahei"/>
                <a:ea typeface="Microsoft Yahei"/>
                <a:cs typeface="Microsoft Yahei"/>
              </a:rPr>
              <a:t>情感支持需求增加</a:t>
            </a:r>
          </a:p>
        </p:txBody>
      </p:sp>
      <p:sp>
        <p:nvSpPr>
          <p:cNvPr id="13" name="TextBox 13"/>
          <p:cNvSpPr txBox="1"/>
          <p:nvPr/>
        </p:nvSpPr>
        <p:spPr>
          <a:xfrm>
            <a:off x="5786029" y="1908493"/>
            <a:ext cx="5225659" cy="929030"/>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随着社会竞争加剧和工作压力增大，人们对于情感支持和陪伴的需求越来越大。</a:t>
            </a:r>
          </a:p>
        </p:txBody>
      </p:sp>
      <p:sp>
        <p:nvSpPr>
          <p:cNvPr id="14" name="AutoShape 14"/>
          <p:cNvSpPr/>
          <p:nvPr/>
        </p:nvSpPr>
        <p:spPr>
          <a:xfrm>
            <a:off x="4701456" y="3293527"/>
            <a:ext cx="946555" cy="946555"/>
          </a:xfrm>
          <a:prstGeom prst="ellipse">
            <a:avLst/>
          </a:prstGeom>
          <a:solidFill>
            <a:schemeClr val="accent1">
              <a:alpha val="100000"/>
            </a:schemeClr>
          </a:solidFill>
          <a:ln/>
        </p:spPr>
      </p:sp>
      <p:sp>
        <p:nvSpPr>
          <p:cNvPr id="15" name="TextBox 15"/>
          <p:cNvSpPr txBox="1"/>
          <p:nvPr/>
        </p:nvSpPr>
        <p:spPr>
          <a:xfrm>
            <a:off x="4701456" y="3441644"/>
            <a:ext cx="918715" cy="650321"/>
          </a:xfrm>
          <a:prstGeom prst="rect">
            <a:avLst/>
          </a:prstGeom>
          <a:ln/>
        </p:spPr>
        <p:txBody>
          <a:bodyPr vert="horz" wrap="square" lIns="123825" tIns="123825" rIns="57150" bIns="123825" rtlCol="0" anchor="t" anchorCtr="0">
            <a:normAutofit/>
          </a:bodyPr>
          <a:lstStyle/>
          <a:p>
            <a:pPr algn="ctr">
              <a:lnSpc>
                <a:spcPct val="120000"/>
              </a:lnSpc>
            </a:pPr>
            <a:r>
              <a:rPr lang="en-US" sz="2100" b="1">
                <a:solidFill>
                  <a:srgbClr val="FFFFFF">
                    <a:alpha val="100000"/>
                  </a:srgbClr>
                </a:solidFill>
                <a:latin typeface="Microsoft Yahei"/>
                <a:ea typeface="Microsoft Yahei"/>
                <a:cs typeface="Microsoft Yahei"/>
              </a:rPr>
              <a:t>02</a:t>
            </a:r>
          </a:p>
        </p:txBody>
      </p:sp>
      <p:sp>
        <p:nvSpPr>
          <p:cNvPr id="16" name="TextBox 16"/>
          <p:cNvSpPr txBox="1"/>
          <p:nvPr/>
        </p:nvSpPr>
        <p:spPr>
          <a:xfrm>
            <a:off x="5786029" y="3037490"/>
            <a:ext cx="5413228" cy="696773"/>
          </a:xfrm>
          <a:prstGeom prst="rect">
            <a:avLst/>
          </a:prstGeom>
          <a:ln/>
        </p:spPr>
        <p:txBody>
          <a:bodyPr vert="horz" wrap="square" lIns="123825" tIns="123825" rIns="57150" bIns="123825" rtlCol="0" anchor="t" anchorCtr="0">
            <a:normAutofit/>
          </a:bodyPr>
          <a:lstStyle/>
          <a:p>
            <a:pPr>
              <a:lnSpc>
                <a:spcPct val="150000"/>
              </a:lnSpc>
            </a:pPr>
            <a:r>
              <a:rPr lang="en-US" sz="1500" b="1">
                <a:solidFill>
                  <a:schemeClr val="accent1">
                    <a:alpha val="100000"/>
                  </a:schemeClr>
                </a:solidFill>
                <a:latin typeface="Microsoft Yahei"/>
                <a:ea typeface="Microsoft Yahei"/>
                <a:cs typeface="Microsoft Yahei"/>
              </a:rPr>
              <a:t>AI陪伴服务受青睐</a:t>
            </a:r>
          </a:p>
        </p:txBody>
      </p:sp>
      <p:sp>
        <p:nvSpPr>
          <p:cNvPr id="17" name="TextBox 17"/>
          <p:cNvSpPr txBox="1"/>
          <p:nvPr/>
        </p:nvSpPr>
        <p:spPr>
          <a:xfrm>
            <a:off x="5786029" y="3492094"/>
            <a:ext cx="5225659" cy="929030"/>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AI陪伴服务因其随时随地、成本低廉、便捷性高等特点，逐渐受到市场青睐。</a:t>
            </a:r>
          </a:p>
        </p:txBody>
      </p:sp>
      <p:sp>
        <p:nvSpPr>
          <p:cNvPr id="18" name="AutoShape 18"/>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649">
                <a:solidFill>
                  <a:srgbClr val="787878">
                    <a:alpha val="100000"/>
                  </a:srgbClr>
                </a:solidFill>
                <a:latin typeface="微软雅黑 Light"/>
                <a:ea typeface="微软雅黑 Light"/>
                <a:cs typeface="微软雅黑 Light"/>
              </a:rPr>
              <a:t>行业背景</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pic>
        <p:nvPicPr>
          <p:cNvPr id="4" name="Picture 4"/>
          <p:cNvPicPr>
            <a:picLocks noChangeAspect="1"/>
          </p:cNvPicPr>
          <p:nvPr/>
        </p:nvPicPr>
        <p:blipFill>
          <a:blip r:embed="rId2">
            <a:alphaModFix amt="70000"/>
          </a:blip>
          <a:srcRect l="25719" r="25719"/>
          <a:stretch>
            <a:fillRect/>
          </a:stretch>
        </p:blipFill>
        <p:spPr>
          <a:xfrm>
            <a:off x="154300" y="1109992"/>
            <a:ext cx="4095887" cy="5461182"/>
          </a:xfrm>
          <a:prstGeom prst="parallelogram">
            <a:avLst/>
          </a:prstGeom>
        </p:spPr>
      </p:pic>
      <p:sp>
        <p:nvSpPr>
          <p:cNvPr id="5" name="TextBox 5"/>
          <p:cNvSpPr txBox="1"/>
          <p:nvPr/>
        </p:nvSpPr>
        <p:spPr>
          <a:xfrm>
            <a:off x="5021790" y="1109992"/>
            <a:ext cx="5989821" cy="719999"/>
          </a:xfrm>
          <a:prstGeom prst="rect">
            <a:avLst/>
          </a:prstGeom>
          <a:ln/>
        </p:spPr>
        <p:txBody>
          <a:bodyPr vert="horz" wrap="square" lIns="123825" tIns="123825" rIns="57150" bIns="123825" rtlCol="0" anchor="t" anchorCtr="0">
            <a:normAutofit/>
          </a:bodyPr>
          <a:lstStyle/>
          <a:p>
            <a:pPr>
              <a:lnSpc>
                <a:spcPct val="140000"/>
              </a:lnSpc>
            </a:pPr>
            <a:r>
              <a:rPr lang="en-US" sz="2250" b="1">
                <a:solidFill>
                  <a:schemeClr val="accent1">
                    <a:alpha val="100000"/>
                  </a:schemeClr>
                </a:solidFill>
                <a:latin typeface="Microsoft Yahei"/>
                <a:ea typeface="Microsoft Yahei"/>
                <a:cs typeface="Microsoft Yahei"/>
              </a:rPr>
              <a:t>技术奠定基础</a:t>
            </a:r>
          </a:p>
        </p:txBody>
      </p:sp>
      <p:sp>
        <p:nvSpPr>
          <p:cNvPr id="6" name="AutoShape 6"/>
          <p:cNvSpPr/>
          <p:nvPr/>
        </p:nvSpPr>
        <p:spPr>
          <a:xfrm>
            <a:off x="3723196" y="1295798"/>
            <a:ext cx="668149" cy="523974"/>
          </a:xfrm>
          <a:prstGeom prst="rect">
            <a:avLst/>
          </a:prstGeom>
          <a:solidFill>
            <a:schemeClr val="accent2">
              <a:alpha val="100000"/>
            </a:schemeClr>
          </a:solidFill>
          <a:ln/>
        </p:spPr>
      </p:sp>
      <p:sp>
        <p:nvSpPr>
          <p:cNvPr id="7" name="AutoShape 7"/>
          <p:cNvSpPr/>
          <p:nvPr/>
        </p:nvSpPr>
        <p:spPr>
          <a:xfrm>
            <a:off x="4144917" y="1295798"/>
            <a:ext cx="523974" cy="523974"/>
          </a:xfrm>
          <a:prstGeom prst="ellipse">
            <a:avLst/>
          </a:prstGeom>
          <a:solidFill>
            <a:schemeClr val="accent2">
              <a:alpha val="100000"/>
            </a:schemeClr>
          </a:solidFill>
          <a:ln/>
        </p:spPr>
      </p:sp>
      <p:sp>
        <p:nvSpPr>
          <p:cNvPr id="8" name="AutoShape 8"/>
          <p:cNvSpPr/>
          <p:nvPr/>
        </p:nvSpPr>
        <p:spPr>
          <a:xfrm>
            <a:off x="3461209" y="1295798"/>
            <a:ext cx="523974" cy="523974"/>
          </a:xfrm>
          <a:prstGeom prst="ellipse">
            <a:avLst/>
          </a:prstGeom>
          <a:solidFill>
            <a:schemeClr val="accent2">
              <a:alpha val="100000"/>
            </a:schemeClr>
          </a:solidFill>
          <a:ln/>
        </p:spPr>
      </p:sp>
      <p:sp>
        <p:nvSpPr>
          <p:cNvPr id="9" name="TextBox 9"/>
          <p:cNvSpPr txBox="1"/>
          <p:nvPr/>
        </p:nvSpPr>
        <p:spPr>
          <a:xfrm>
            <a:off x="3629632" y="1174560"/>
            <a:ext cx="761713" cy="754837"/>
          </a:xfrm>
          <a:prstGeom prst="rect">
            <a:avLst/>
          </a:prstGeom>
          <a:ln/>
        </p:spPr>
        <p:txBody>
          <a:bodyPr vert="horz" wrap="square" lIns="123825" tIns="123825" rIns="57150" bIns="123825" rtlCol="0" anchor="t" anchorCtr="0">
            <a:normAutofit/>
          </a:bodyPr>
          <a:lstStyle/>
          <a:p>
            <a:pPr algn="ctr">
              <a:lnSpc>
                <a:spcPct val="150000"/>
              </a:lnSpc>
            </a:pPr>
            <a:r>
              <a:rPr lang="en-US" sz="2250" b="1">
                <a:solidFill>
                  <a:srgbClr val="FFFFFF">
                    <a:alpha val="100000"/>
                  </a:srgbClr>
                </a:solidFill>
                <a:latin typeface="Microsoft Yahei"/>
                <a:ea typeface="Microsoft Yahei"/>
                <a:cs typeface="Microsoft Yahei"/>
              </a:rPr>
              <a:t>01</a:t>
            </a:r>
          </a:p>
        </p:txBody>
      </p:sp>
      <p:sp>
        <p:nvSpPr>
          <p:cNvPr id="10" name="TextBox 10"/>
          <p:cNvSpPr txBox="1"/>
          <p:nvPr/>
        </p:nvSpPr>
        <p:spPr>
          <a:xfrm>
            <a:off x="5021790" y="1611739"/>
            <a:ext cx="5833336" cy="1277417"/>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人工智能技术的飞速发展，尤其是智能语音交互技术、自然语言处理技术和机器学习技术等手段的不断成熟，为AI陪伴系统的实现提供了技术基础。</a:t>
            </a:r>
          </a:p>
        </p:txBody>
      </p:sp>
      <p:sp>
        <p:nvSpPr>
          <p:cNvPr id="11" name="TextBox 11"/>
          <p:cNvSpPr txBox="1"/>
          <p:nvPr/>
        </p:nvSpPr>
        <p:spPr>
          <a:xfrm>
            <a:off x="4603086" y="2766189"/>
            <a:ext cx="5989821" cy="719999"/>
          </a:xfrm>
          <a:prstGeom prst="rect">
            <a:avLst/>
          </a:prstGeom>
          <a:ln/>
        </p:spPr>
        <p:txBody>
          <a:bodyPr vert="horz" wrap="square" lIns="123825" tIns="123825" rIns="57150" bIns="123825" rtlCol="0" anchor="t" anchorCtr="0">
            <a:normAutofit/>
          </a:bodyPr>
          <a:lstStyle/>
          <a:p>
            <a:pPr>
              <a:lnSpc>
                <a:spcPct val="140000"/>
              </a:lnSpc>
            </a:pPr>
            <a:r>
              <a:rPr lang="en-US" sz="2250" b="1">
                <a:solidFill>
                  <a:schemeClr val="accent1">
                    <a:alpha val="100000"/>
                  </a:schemeClr>
                </a:solidFill>
                <a:latin typeface="Microsoft Yahei"/>
                <a:ea typeface="Microsoft Yahei"/>
                <a:cs typeface="Microsoft Yahei"/>
              </a:rPr>
              <a:t>个性化陪伴服务</a:t>
            </a:r>
          </a:p>
        </p:txBody>
      </p:sp>
      <p:sp>
        <p:nvSpPr>
          <p:cNvPr id="12" name="AutoShape 12"/>
          <p:cNvSpPr/>
          <p:nvPr/>
        </p:nvSpPr>
        <p:spPr>
          <a:xfrm>
            <a:off x="3304492" y="2951995"/>
            <a:ext cx="668149" cy="523974"/>
          </a:xfrm>
          <a:prstGeom prst="rect">
            <a:avLst/>
          </a:prstGeom>
          <a:solidFill>
            <a:schemeClr val="accent2">
              <a:alpha val="100000"/>
            </a:schemeClr>
          </a:solidFill>
          <a:ln/>
        </p:spPr>
      </p:sp>
      <p:sp>
        <p:nvSpPr>
          <p:cNvPr id="13" name="AutoShape 13"/>
          <p:cNvSpPr/>
          <p:nvPr/>
        </p:nvSpPr>
        <p:spPr>
          <a:xfrm>
            <a:off x="3726213" y="2951995"/>
            <a:ext cx="523974" cy="523974"/>
          </a:xfrm>
          <a:prstGeom prst="ellipse">
            <a:avLst/>
          </a:prstGeom>
          <a:solidFill>
            <a:schemeClr val="accent2">
              <a:alpha val="100000"/>
            </a:schemeClr>
          </a:solidFill>
          <a:ln/>
        </p:spPr>
      </p:sp>
      <p:sp>
        <p:nvSpPr>
          <p:cNvPr id="14" name="AutoShape 14"/>
          <p:cNvSpPr/>
          <p:nvPr/>
        </p:nvSpPr>
        <p:spPr>
          <a:xfrm>
            <a:off x="3042505" y="2951995"/>
            <a:ext cx="523974" cy="523974"/>
          </a:xfrm>
          <a:prstGeom prst="ellipse">
            <a:avLst/>
          </a:prstGeom>
          <a:solidFill>
            <a:schemeClr val="accent2">
              <a:alpha val="100000"/>
            </a:schemeClr>
          </a:solidFill>
          <a:ln/>
        </p:spPr>
      </p:sp>
      <p:sp>
        <p:nvSpPr>
          <p:cNvPr id="15" name="TextBox 15"/>
          <p:cNvSpPr txBox="1"/>
          <p:nvPr/>
        </p:nvSpPr>
        <p:spPr>
          <a:xfrm>
            <a:off x="3094713" y="2830757"/>
            <a:ext cx="1050205" cy="754837"/>
          </a:xfrm>
          <a:prstGeom prst="rect">
            <a:avLst/>
          </a:prstGeom>
          <a:ln/>
        </p:spPr>
        <p:txBody>
          <a:bodyPr vert="horz" wrap="square" lIns="123825" tIns="123825" rIns="57150" bIns="123825" rtlCol="0" anchor="t" anchorCtr="0">
            <a:normAutofit/>
          </a:bodyPr>
          <a:lstStyle/>
          <a:p>
            <a:pPr algn="ctr">
              <a:lnSpc>
                <a:spcPct val="150000"/>
              </a:lnSpc>
            </a:pPr>
            <a:r>
              <a:rPr lang="en-US" sz="2250" b="1">
                <a:solidFill>
                  <a:srgbClr val="FFFFFF">
                    <a:alpha val="100000"/>
                  </a:srgbClr>
                </a:solidFill>
                <a:latin typeface="Microsoft Yahei"/>
                <a:ea typeface="Microsoft Yahei"/>
                <a:cs typeface="Microsoft Yahei"/>
              </a:rPr>
              <a:t>02</a:t>
            </a:r>
          </a:p>
        </p:txBody>
      </p:sp>
      <p:sp>
        <p:nvSpPr>
          <p:cNvPr id="16" name="TextBox 16"/>
          <p:cNvSpPr txBox="1"/>
          <p:nvPr/>
        </p:nvSpPr>
        <p:spPr>
          <a:xfrm>
            <a:off x="4603086" y="3267935"/>
            <a:ext cx="5833336" cy="1277417"/>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AI陪伴系统能够模拟人类行为和思维过程，具备智能和情感能力，理解人类语言和情感，进行对话和交流，从而提供更加个性化的陪伴服务。</a:t>
            </a:r>
          </a:p>
        </p:txBody>
      </p:sp>
      <p:sp>
        <p:nvSpPr>
          <p:cNvPr id="17" name="TextBox 17"/>
          <p:cNvSpPr txBox="1"/>
          <p:nvPr/>
        </p:nvSpPr>
        <p:spPr>
          <a:xfrm>
            <a:off x="4221062" y="4422385"/>
            <a:ext cx="5989821" cy="719999"/>
          </a:xfrm>
          <a:prstGeom prst="rect">
            <a:avLst/>
          </a:prstGeom>
          <a:ln/>
        </p:spPr>
        <p:txBody>
          <a:bodyPr vert="horz" wrap="square" lIns="123825" tIns="123825" rIns="57150" bIns="123825" rtlCol="0" anchor="t" anchorCtr="0">
            <a:normAutofit/>
          </a:bodyPr>
          <a:lstStyle/>
          <a:p>
            <a:pPr>
              <a:lnSpc>
                <a:spcPct val="140000"/>
              </a:lnSpc>
            </a:pPr>
            <a:r>
              <a:rPr lang="en-US" sz="2250" b="1">
                <a:solidFill>
                  <a:schemeClr val="accent1">
                    <a:alpha val="100000"/>
                  </a:schemeClr>
                </a:solidFill>
                <a:latin typeface="Microsoft Yahei"/>
                <a:ea typeface="Microsoft Yahei"/>
                <a:cs typeface="Microsoft Yahei"/>
              </a:rPr>
              <a:t>应用于多领域</a:t>
            </a:r>
          </a:p>
        </p:txBody>
      </p:sp>
      <p:sp>
        <p:nvSpPr>
          <p:cNvPr id="18" name="AutoShape 18"/>
          <p:cNvSpPr/>
          <p:nvPr/>
        </p:nvSpPr>
        <p:spPr>
          <a:xfrm>
            <a:off x="2922468" y="4608191"/>
            <a:ext cx="668149" cy="523974"/>
          </a:xfrm>
          <a:prstGeom prst="rect">
            <a:avLst/>
          </a:prstGeom>
          <a:solidFill>
            <a:schemeClr val="accent2">
              <a:alpha val="100000"/>
            </a:schemeClr>
          </a:solidFill>
          <a:ln/>
        </p:spPr>
      </p:sp>
      <p:sp>
        <p:nvSpPr>
          <p:cNvPr id="19" name="AutoShape 19"/>
          <p:cNvSpPr/>
          <p:nvPr/>
        </p:nvSpPr>
        <p:spPr>
          <a:xfrm>
            <a:off x="3344189" y="4608191"/>
            <a:ext cx="523974" cy="523974"/>
          </a:xfrm>
          <a:prstGeom prst="ellipse">
            <a:avLst/>
          </a:prstGeom>
          <a:solidFill>
            <a:schemeClr val="accent2">
              <a:alpha val="100000"/>
            </a:schemeClr>
          </a:solidFill>
          <a:ln/>
        </p:spPr>
      </p:sp>
      <p:sp>
        <p:nvSpPr>
          <p:cNvPr id="20" name="AutoShape 20"/>
          <p:cNvSpPr/>
          <p:nvPr/>
        </p:nvSpPr>
        <p:spPr>
          <a:xfrm>
            <a:off x="2660481" y="4608191"/>
            <a:ext cx="523974" cy="523974"/>
          </a:xfrm>
          <a:prstGeom prst="ellipse">
            <a:avLst/>
          </a:prstGeom>
          <a:solidFill>
            <a:schemeClr val="accent2">
              <a:alpha val="100000"/>
            </a:schemeClr>
          </a:solidFill>
          <a:ln/>
        </p:spPr>
      </p:sp>
      <p:sp>
        <p:nvSpPr>
          <p:cNvPr id="21" name="TextBox 21"/>
          <p:cNvSpPr txBox="1"/>
          <p:nvPr/>
        </p:nvSpPr>
        <p:spPr>
          <a:xfrm>
            <a:off x="2741771" y="4486953"/>
            <a:ext cx="1062715" cy="754837"/>
          </a:xfrm>
          <a:prstGeom prst="rect">
            <a:avLst/>
          </a:prstGeom>
          <a:ln/>
        </p:spPr>
        <p:txBody>
          <a:bodyPr vert="horz" wrap="square" lIns="123825" tIns="123825" rIns="57150" bIns="123825" rtlCol="0" anchor="t" anchorCtr="0">
            <a:normAutofit/>
          </a:bodyPr>
          <a:lstStyle/>
          <a:p>
            <a:pPr algn="ctr">
              <a:lnSpc>
                <a:spcPct val="150000"/>
              </a:lnSpc>
            </a:pPr>
            <a:r>
              <a:rPr lang="en-US" sz="2250" b="1">
                <a:solidFill>
                  <a:srgbClr val="FFFFFF">
                    <a:alpha val="100000"/>
                  </a:srgbClr>
                </a:solidFill>
                <a:latin typeface="Microsoft Yahei"/>
                <a:ea typeface="Microsoft Yahei"/>
                <a:cs typeface="Microsoft Yahei"/>
              </a:rPr>
              <a:t>03</a:t>
            </a:r>
          </a:p>
        </p:txBody>
      </p:sp>
      <p:sp>
        <p:nvSpPr>
          <p:cNvPr id="22" name="TextBox 22"/>
          <p:cNvSpPr txBox="1"/>
          <p:nvPr/>
        </p:nvSpPr>
        <p:spPr>
          <a:xfrm>
            <a:off x="4221062" y="4924131"/>
            <a:ext cx="5833336" cy="1277417"/>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AI陪伴系统可以应用于多个领域，如语言学习、数学学习、老年人陪伴、儿童教育等，满足不同用户需求，进一步拓宽其市场应用。</a:t>
            </a:r>
          </a:p>
        </p:txBody>
      </p:sp>
      <p:sp>
        <p:nvSpPr>
          <p:cNvPr id="23" name="AutoShape 23"/>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行业背景</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pic>
        <p:nvPicPr>
          <p:cNvPr id="4" name="Picture 4"/>
          <p:cNvPicPr>
            <a:picLocks noChangeAspect="1"/>
          </p:cNvPicPr>
          <p:nvPr/>
        </p:nvPicPr>
        <p:blipFill>
          <a:blip r:embed="rId2"/>
          <a:srcRect l="151" r="151"/>
          <a:stretch>
            <a:fillRect/>
          </a:stretch>
        </p:blipFill>
        <p:spPr>
          <a:xfrm>
            <a:off x="3723981" y="1190855"/>
            <a:ext cx="7475792" cy="4998982"/>
          </a:xfrm>
          <a:prstGeom prst="rect">
            <a:avLst/>
          </a:prstGeom>
        </p:spPr>
      </p:pic>
      <p:sp>
        <p:nvSpPr>
          <p:cNvPr id="5" name="AutoShape 5"/>
          <p:cNvSpPr/>
          <p:nvPr/>
        </p:nvSpPr>
        <p:spPr>
          <a:xfrm>
            <a:off x="444337" y="3587834"/>
            <a:ext cx="3785474" cy="2355264"/>
          </a:xfrm>
          <a:prstGeom prst="rect">
            <a:avLst/>
          </a:prstGeom>
          <a:solidFill>
            <a:schemeClr val="accent1">
              <a:lumMod val="75000"/>
              <a:alpha val="76862"/>
            </a:schemeClr>
          </a:solidFill>
          <a:ln/>
        </p:spPr>
      </p:sp>
      <p:sp>
        <p:nvSpPr>
          <p:cNvPr id="6" name="AutoShape 6"/>
          <p:cNvSpPr/>
          <p:nvPr/>
        </p:nvSpPr>
        <p:spPr>
          <a:xfrm>
            <a:off x="536852" y="1737750"/>
            <a:ext cx="2796943" cy="1528373"/>
          </a:xfrm>
          <a:prstGeom prst="rect">
            <a:avLst/>
          </a:prstGeom>
          <a:noFill/>
          <a:ln/>
        </p:spPr>
        <p:txBody>
          <a:bodyPr vert="horz" wrap="square" lIns="91440" tIns="45720" rIns="91440" bIns="45720" rtlCol="0" anchor="t" anchorCtr="0">
            <a:noAutofit/>
          </a:bodyPr>
          <a:lstStyle/>
          <a:p>
            <a:pPr algn="l">
              <a:lnSpc>
                <a:spcPct val="150000"/>
              </a:lnSpc>
              <a:spcBef>
                <a:spcPts val="270"/>
              </a:spcBef>
              <a:defRPr/>
            </a:pPr>
            <a:r>
              <a:rPr lang="en-US" sz="1275">
                <a:solidFill>
                  <a:schemeClr val="dk1">
                    <a:alpha val="100000"/>
                  </a:schemeClr>
                </a:solidFill>
                <a:latin typeface="Microsoft Yahei"/>
                <a:ea typeface="Microsoft Yahei"/>
                <a:cs typeface="Microsoft Yahei"/>
              </a:rPr>
              <a:t>近几年随着AI技术的迅速演进，情感识别技术逐渐发展成熟，AI陪伴系统不仅关注功能的实现，更加注重与用户之间的情感交互。</a:t>
            </a:r>
            <a:endParaRPr lang="en-US" sz="1100"/>
          </a:p>
        </p:txBody>
      </p:sp>
      <p:sp>
        <p:nvSpPr>
          <p:cNvPr id="7" name="AutoShape 7"/>
          <p:cNvSpPr/>
          <p:nvPr/>
        </p:nvSpPr>
        <p:spPr>
          <a:xfrm>
            <a:off x="573142" y="4110952"/>
            <a:ext cx="2907080" cy="1528373"/>
          </a:xfrm>
          <a:prstGeom prst="rect">
            <a:avLst/>
          </a:prstGeom>
          <a:noFill/>
          <a:ln/>
        </p:spPr>
        <p:txBody>
          <a:bodyPr vert="horz" wrap="square" lIns="91440" tIns="45720" rIns="91440" bIns="45720" rtlCol="0" anchor="t" anchorCtr="0">
            <a:noAutofit/>
          </a:bodyPr>
          <a:lstStyle/>
          <a:p>
            <a:pPr algn="l">
              <a:lnSpc>
                <a:spcPct val="150000"/>
              </a:lnSpc>
              <a:spcBef>
                <a:spcPts val="270"/>
              </a:spcBef>
              <a:defRPr/>
            </a:pPr>
            <a:r>
              <a:rPr lang="en-US" sz="1275">
                <a:solidFill>
                  <a:srgbClr val="FFFFFF">
                    <a:alpha val="100000"/>
                  </a:srgbClr>
                </a:solidFill>
                <a:latin typeface="Microsoft Yahei"/>
                <a:ea typeface="Microsoft Yahei"/>
                <a:cs typeface="Microsoft Yahei"/>
              </a:rPr>
              <a:t>全球陪伴机器人市场规模预估为920311万美元，并且未来5年年复合增长率预计达到25.68%，表明AI陪伴系统的市场规模正在持续扩大。</a:t>
            </a:r>
            <a:endParaRPr lang="en-US" sz="1100"/>
          </a:p>
        </p:txBody>
      </p:sp>
      <p:sp>
        <p:nvSpPr>
          <p:cNvPr id="8" name="AutoShape 8"/>
          <p:cNvSpPr/>
          <p:nvPr/>
        </p:nvSpPr>
        <p:spPr>
          <a:xfrm>
            <a:off x="573142" y="3787869"/>
            <a:ext cx="2796943" cy="323083"/>
          </a:xfrm>
          <a:prstGeom prst="rect">
            <a:avLst/>
          </a:prstGeom>
          <a:noFill/>
          <a:ln/>
        </p:spPr>
        <p:txBody>
          <a:bodyPr vert="horz" wrap="square" lIns="91440" tIns="45720" rIns="91440" bIns="45720" rtlCol="0" anchor="t" anchorCtr="0">
            <a:noAutofit/>
          </a:bodyPr>
          <a:lstStyle/>
          <a:p>
            <a:pPr algn="just">
              <a:defRPr/>
            </a:pPr>
            <a:r>
              <a:rPr lang="en-US" sz="1500" b="1">
                <a:solidFill>
                  <a:srgbClr val="FFFFFF">
                    <a:alpha val="100000"/>
                  </a:srgbClr>
                </a:solidFill>
                <a:latin typeface="Microsoft Yahei"/>
                <a:ea typeface="Microsoft Yahei"/>
                <a:cs typeface="Microsoft Yahei"/>
              </a:rPr>
              <a:t>市场规模与增长</a:t>
            </a:r>
            <a:endParaRPr lang="en-US" sz="1100"/>
          </a:p>
        </p:txBody>
      </p:sp>
      <p:sp>
        <p:nvSpPr>
          <p:cNvPr id="9" name="AutoShape 9"/>
          <p:cNvSpPr/>
          <p:nvPr/>
        </p:nvSpPr>
        <p:spPr>
          <a:xfrm>
            <a:off x="536852" y="1338557"/>
            <a:ext cx="2796943" cy="323083"/>
          </a:xfrm>
          <a:prstGeom prst="rect">
            <a:avLst/>
          </a:prstGeom>
          <a:noFill/>
          <a:ln/>
        </p:spPr>
        <p:txBody>
          <a:bodyPr vert="horz" wrap="square" lIns="91440" tIns="45720" rIns="91440" bIns="45720" rtlCol="0" anchor="t" anchorCtr="0">
            <a:noAutofit/>
          </a:bodyPr>
          <a:lstStyle/>
          <a:p>
            <a:pPr algn="just">
              <a:defRPr/>
            </a:pPr>
            <a:r>
              <a:rPr lang="en-US" sz="1500" b="1">
                <a:solidFill>
                  <a:schemeClr val="accent1">
                    <a:alpha val="100000"/>
                  </a:schemeClr>
                </a:solidFill>
                <a:latin typeface="Microsoft Yahei"/>
                <a:ea typeface="Microsoft Yahei"/>
                <a:cs typeface="Microsoft Yahei"/>
              </a:rPr>
              <a:t>情感识别技术</a:t>
            </a:r>
            <a:endParaRPr lang="en-US" sz="1100"/>
          </a:p>
        </p:txBody>
      </p:sp>
      <p:sp>
        <p:nvSpPr>
          <p:cNvPr id="10" name="AutoShape 10"/>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649">
                <a:solidFill>
                  <a:srgbClr val="787878">
                    <a:alpha val="100000"/>
                  </a:srgbClr>
                </a:solidFill>
                <a:latin typeface="微软雅黑 Light"/>
                <a:ea typeface="微软雅黑 Light"/>
                <a:cs typeface="微软雅黑 Light"/>
              </a:rPr>
              <a:t>行业背景</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AutoShape 4"/>
          <p:cNvSpPr/>
          <p:nvPr/>
        </p:nvSpPr>
        <p:spPr>
          <a:xfrm>
            <a:off x="6810510" y="1925939"/>
            <a:ext cx="3752401" cy="3752401"/>
          </a:xfrm>
          <a:prstGeom prst="ellipse">
            <a:avLst/>
          </a:prstGeom>
          <a:solidFill>
            <a:schemeClr val="accent2">
              <a:lumMod val="60000"/>
              <a:lumOff val="40000"/>
              <a:alpha val="100000"/>
            </a:schemeClr>
          </a:solidFill>
          <a:ln/>
        </p:spPr>
      </p:sp>
      <p:sp>
        <p:nvSpPr>
          <p:cNvPr id="5" name="TextBox 5"/>
          <p:cNvSpPr txBox="1"/>
          <p:nvPr/>
        </p:nvSpPr>
        <p:spPr>
          <a:xfrm>
            <a:off x="433352" y="1937552"/>
            <a:ext cx="5549636"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在2023年的两会上，众多政协委员和人大代表都提到了对心理咨询与心理治疗纳入医保的关注，并提交了相关的建议与提案。</a:t>
            </a:r>
          </a:p>
        </p:txBody>
      </p:sp>
      <p:sp>
        <p:nvSpPr>
          <p:cNvPr id="6" name="TextBox 6"/>
          <p:cNvSpPr txBox="1"/>
          <p:nvPr/>
        </p:nvSpPr>
        <p:spPr>
          <a:xfrm>
            <a:off x="433352" y="1500980"/>
            <a:ext cx="2575077" cy="346028"/>
          </a:xfrm>
          <a:prstGeom prst="rect">
            <a:avLst/>
          </a:prstGeom>
          <a:ln/>
        </p:spPr>
        <p:txBody>
          <a:bodyPr vert="horz" wrap="square" lIns="114300" tIns="57150" rIns="114300" bIns="57150" rtlCol="0" anchor="t" anchorCtr="0">
            <a:normAutofit/>
          </a:bodyPr>
          <a:lstStyle/>
          <a:p>
            <a:pPr>
              <a:lnSpc>
                <a:spcPct val="77000"/>
              </a:lnSpc>
            </a:pPr>
            <a:r>
              <a:rPr lang="en-US" sz="1950" b="1">
                <a:solidFill>
                  <a:schemeClr val="accent1">
                    <a:alpha val="100000"/>
                  </a:schemeClr>
                </a:solidFill>
                <a:latin typeface="Microsoft Yahei"/>
                <a:ea typeface="Microsoft Yahei"/>
                <a:cs typeface="Microsoft Yahei"/>
              </a:rPr>
              <a:t>心理问题与治疗</a:t>
            </a:r>
          </a:p>
        </p:txBody>
      </p:sp>
      <p:sp>
        <p:nvSpPr>
          <p:cNvPr id="7" name="TextBox 7"/>
          <p:cNvSpPr txBox="1"/>
          <p:nvPr/>
        </p:nvSpPr>
        <p:spPr>
          <a:xfrm>
            <a:off x="433352" y="3362368"/>
            <a:ext cx="5549636"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将抑郁症等心理疾病纳入医保门诊慢性病病种，由医保个人账户基金支付费用，降低治疗成本。</a:t>
            </a:r>
          </a:p>
        </p:txBody>
      </p:sp>
      <p:sp>
        <p:nvSpPr>
          <p:cNvPr id="8" name="TextBox 8"/>
          <p:cNvSpPr txBox="1"/>
          <p:nvPr/>
        </p:nvSpPr>
        <p:spPr>
          <a:xfrm>
            <a:off x="433352" y="2925796"/>
            <a:ext cx="2575077" cy="346028"/>
          </a:xfrm>
          <a:prstGeom prst="rect">
            <a:avLst/>
          </a:prstGeom>
          <a:ln/>
        </p:spPr>
        <p:txBody>
          <a:bodyPr vert="horz" wrap="square" lIns="114300" tIns="57150" rIns="114300" bIns="57150" rtlCol="0" anchor="t" anchorCtr="0">
            <a:normAutofit/>
          </a:bodyPr>
          <a:lstStyle/>
          <a:p>
            <a:pPr>
              <a:lnSpc>
                <a:spcPct val="77000"/>
              </a:lnSpc>
            </a:pPr>
            <a:r>
              <a:rPr lang="en-US" sz="1950" b="1">
                <a:solidFill>
                  <a:schemeClr val="accent1">
                    <a:alpha val="100000"/>
                  </a:schemeClr>
                </a:solidFill>
                <a:latin typeface="Microsoft Yahei"/>
                <a:ea typeface="Microsoft Yahei"/>
                <a:cs typeface="Microsoft Yahei"/>
              </a:rPr>
              <a:t>医保纳入优势</a:t>
            </a:r>
          </a:p>
        </p:txBody>
      </p:sp>
      <p:sp>
        <p:nvSpPr>
          <p:cNvPr id="9" name="TextBox 9"/>
          <p:cNvSpPr txBox="1"/>
          <p:nvPr/>
        </p:nvSpPr>
        <p:spPr>
          <a:xfrm>
            <a:off x="433352" y="4875829"/>
            <a:ext cx="5732473"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全国政协委员马珺关注青少年心理服务需求，提议将学生患者心理治疗、心理咨询有序纳入医保范围。</a:t>
            </a:r>
          </a:p>
        </p:txBody>
      </p:sp>
      <p:sp>
        <p:nvSpPr>
          <p:cNvPr id="10" name="TextBox 10"/>
          <p:cNvSpPr txBox="1"/>
          <p:nvPr/>
        </p:nvSpPr>
        <p:spPr>
          <a:xfrm>
            <a:off x="433352" y="4439257"/>
            <a:ext cx="2575077" cy="346028"/>
          </a:xfrm>
          <a:prstGeom prst="rect">
            <a:avLst/>
          </a:prstGeom>
          <a:ln/>
        </p:spPr>
        <p:txBody>
          <a:bodyPr vert="horz" wrap="square" lIns="114300" tIns="57150" rIns="114300" bIns="57150" rtlCol="0" anchor="t" anchorCtr="0">
            <a:normAutofit/>
          </a:bodyPr>
          <a:lstStyle/>
          <a:p>
            <a:pPr>
              <a:lnSpc>
                <a:spcPct val="77000"/>
              </a:lnSpc>
            </a:pPr>
            <a:r>
              <a:rPr lang="en-US" sz="1950" b="1">
                <a:solidFill>
                  <a:schemeClr val="accent1">
                    <a:alpha val="100000"/>
                  </a:schemeClr>
                </a:solidFill>
                <a:latin typeface="Microsoft Yahei"/>
                <a:ea typeface="Microsoft Yahei"/>
                <a:cs typeface="Microsoft Yahei"/>
              </a:rPr>
              <a:t>心理治疗项目</a:t>
            </a:r>
          </a:p>
        </p:txBody>
      </p:sp>
      <p:pic>
        <p:nvPicPr>
          <p:cNvPr id="11" name="Picture 11"/>
          <p:cNvPicPr>
            <a:picLocks noChangeAspect="1"/>
          </p:cNvPicPr>
          <p:nvPr/>
        </p:nvPicPr>
        <p:blipFill>
          <a:blip r:embed="rId2"/>
          <a:srcRect l="21875" r="21875"/>
          <a:stretch>
            <a:fillRect/>
          </a:stretch>
        </p:blipFill>
        <p:spPr>
          <a:xfrm>
            <a:off x="7311423" y="2405014"/>
            <a:ext cx="2750573" cy="2750574"/>
          </a:xfrm>
          <a:prstGeom prst="ellipse">
            <a:avLst/>
          </a:prstGeom>
        </p:spPr>
      </p:pic>
      <p:sp>
        <p:nvSpPr>
          <p:cNvPr id="12" name="AutoShape 12"/>
          <p:cNvSpPr/>
          <p:nvPr/>
        </p:nvSpPr>
        <p:spPr>
          <a:xfrm>
            <a:off x="8251667" y="1412545"/>
            <a:ext cx="870086" cy="870086"/>
          </a:xfrm>
          <a:prstGeom prst="ellipse">
            <a:avLst/>
          </a:prstGeom>
          <a:solidFill>
            <a:schemeClr val="accent2">
              <a:alpha val="100000"/>
            </a:schemeClr>
          </a:solidFill>
          <a:ln/>
        </p:spPr>
      </p:sp>
      <p:sp>
        <p:nvSpPr>
          <p:cNvPr id="13" name="AutoShape 13"/>
          <p:cNvSpPr/>
          <p:nvPr/>
        </p:nvSpPr>
        <p:spPr>
          <a:xfrm>
            <a:off x="6592870" y="4399065"/>
            <a:ext cx="870086" cy="870086"/>
          </a:xfrm>
          <a:prstGeom prst="ellipse">
            <a:avLst/>
          </a:prstGeom>
          <a:solidFill>
            <a:schemeClr val="accent2">
              <a:alpha val="100000"/>
            </a:schemeClr>
          </a:solidFill>
          <a:ln/>
        </p:spPr>
      </p:sp>
      <p:sp>
        <p:nvSpPr>
          <p:cNvPr id="14" name="AutoShape 14"/>
          <p:cNvSpPr/>
          <p:nvPr/>
        </p:nvSpPr>
        <p:spPr>
          <a:xfrm>
            <a:off x="9893403" y="4399065"/>
            <a:ext cx="870086" cy="870086"/>
          </a:xfrm>
          <a:prstGeom prst="ellipse">
            <a:avLst/>
          </a:prstGeom>
          <a:solidFill>
            <a:schemeClr val="accent2">
              <a:alpha val="100000"/>
            </a:schemeClr>
          </a:solidFill>
          <a:ln/>
        </p:spPr>
      </p:sp>
      <p:sp>
        <p:nvSpPr>
          <p:cNvPr id="15" name="Freeform 15"/>
          <p:cNvSpPr/>
          <p:nvPr/>
        </p:nvSpPr>
        <p:spPr>
          <a:xfrm>
            <a:off x="8483596" y="1611436"/>
            <a:ext cx="406228" cy="406228"/>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sp>
        <p:nvSpPr>
          <p:cNvPr id="16" name="Freeform 16"/>
          <p:cNvSpPr/>
          <p:nvPr/>
        </p:nvSpPr>
        <p:spPr>
          <a:xfrm>
            <a:off x="10133735" y="4607907"/>
            <a:ext cx="405950" cy="405950"/>
          </a:xfrm>
          <a:custGeom>
            <a:avLst/>
            <a:gdLst/>
            <a:ahLst/>
            <a:cxnLst/>
            <a:rect l="l" t="t" r="r" b="b"/>
            <a:pathLst>
              <a:path w="304800" h="304800">
                <a:moveTo>
                  <a:pt x="152400" y="190500"/>
                </a:moveTo>
                <a:cubicBezTo>
                  <a:pt x="152400" y="169459"/>
                  <a:pt x="169459" y="152400"/>
                  <a:pt x="190500" y="152400"/>
                </a:cubicBezTo>
                <a:cubicBezTo>
                  <a:pt x="211541" y="152400"/>
                  <a:pt x="228600" y="169459"/>
                  <a:pt x="228600" y="190500"/>
                </a:cubicBezTo>
                <a:cubicBezTo>
                  <a:pt x="228600" y="211541"/>
                  <a:pt x="211541" y="228600"/>
                  <a:pt x="190500" y="228600"/>
                </a:cubicBezTo>
                <a:cubicBezTo>
                  <a:pt x="169459" y="228600"/>
                  <a:pt x="152400" y="211541"/>
                  <a:pt x="152400" y="190500"/>
                </a:cubicBezTo>
                <a:close/>
                <a:moveTo>
                  <a:pt x="266700" y="76200"/>
                </a:moveTo>
                <a:lnTo>
                  <a:pt x="235372" y="12925"/>
                </a:lnTo>
                <a:cubicBezTo>
                  <a:pt x="232801" y="5410"/>
                  <a:pt x="225695" y="0"/>
                  <a:pt x="217284" y="0"/>
                </a:cubicBezTo>
                <a:lnTo>
                  <a:pt x="164973" y="0"/>
                </a:lnTo>
                <a:cubicBezTo>
                  <a:pt x="156467" y="0"/>
                  <a:pt x="149295" y="5544"/>
                  <a:pt x="146837" y="13192"/>
                </a:cubicBezTo>
                <a:lnTo>
                  <a:pt x="114338" y="76200"/>
                </a:lnTo>
                <a:lnTo>
                  <a:pt x="38100" y="76200"/>
                </a:lnTo>
                <a:cubicBezTo>
                  <a:pt x="17059" y="76200"/>
                  <a:pt x="0" y="93259"/>
                  <a:pt x="0" y="114300"/>
                </a:cubicBezTo>
                <a:lnTo>
                  <a:pt x="0" y="304800"/>
                </a:lnTo>
                <a:lnTo>
                  <a:pt x="304800" y="304800"/>
                </a:lnTo>
                <a:lnTo>
                  <a:pt x="304800" y="114300"/>
                </a:lnTo>
                <a:cubicBezTo>
                  <a:pt x="304800" y="93259"/>
                  <a:pt x="287760" y="76200"/>
                  <a:pt x="266700" y="76200"/>
                </a:cubicBezTo>
                <a:close/>
                <a:moveTo>
                  <a:pt x="57150" y="152400"/>
                </a:moveTo>
                <a:cubicBezTo>
                  <a:pt x="46625" y="152400"/>
                  <a:pt x="38100" y="143875"/>
                  <a:pt x="38100" y="133350"/>
                </a:cubicBezTo>
                <a:cubicBezTo>
                  <a:pt x="38100" y="122825"/>
                  <a:pt x="46625" y="114300"/>
                  <a:pt x="57150" y="114300"/>
                </a:cubicBezTo>
                <a:cubicBezTo>
                  <a:pt x="67675" y="114300"/>
                  <a:pt x="76200" y="122825"/>
                  <a:pt x="76200" y="133350"/>
                </a:cubicBezTo>
                <a:cubicBezTo>
                  <a:pt x="76200" y="143875"/>
                  <a:pt x="67675" y="152400"/>
                  <a:pt x="57150" y="152400"/>
                </a:cubicBezTo>
                <a:close/>
                <a:moveTo>
                  <a:pt x="190500" y="266700"/>
                </a:moveTo>
                <a:cubicBezTo>
                  <a:pt x="148419" y="266700"/>
                  <a:pt x="114300" y="232581"/>
                  <a:pt x="114300" y="190500"/>
                </a:cubicBezTo>
                <a:cubicBezTo>
                  <a:pt x="114300" y="148419"/>
                  <a:pt x="148419" y="114300"/>
                  <a:pt x="190500" y="114300"/>
                </a:cubicBezTo>
                <a:cubicBezTo>
                  <a:pt x="232581" y="114300"/>
                  <a:pt x="266700" y="148419"/>
                  <a:pt x="266700" y="190500"/>
                </a:cubicBezTo>
                <a:cubicBezTo>
                  <a:pt x="266700" y="232581"/>
                  <a:pt x="232581" y="266700"/>
                  <a:pt x="190500" y="266700"/>
                </a:cubicBezTo>
                <a:close/>
              </a:path>
            </a:pathLst>
          </a:custGeom>
          <a:solidFill>
            <a:srgbClr val="FFFFFF">
              <a:alpha val="100000"/>
            </a:srgbClr>
          </a:solidFill>
          <a:ln/>
        </p:spPr>
      </p:sp>
      <p:sp>
        <p:nvSpPr>
          <p:cNvPr id="17" name="Freeform 17"/>
          <p:cNvSpPr/>
          <p:nvPr/>
        </p:nvSpPr>
        <p:spPr>
          <a:xfrm>
            <a:off x="6798897" y="4604169"/>
            <a:ext cx="459877" cy="459877"/>
          </a:xfrm>
          <a:custGeom>
            <a:avLst/>
            <a:gdLst/>
            <a:ahLst/>
            <a:cxnLst/>
            <a:rect l="l" t="t" r="r" b="b"/>
            <a:pathLst>
              <a:path w="304800" h="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FFFFF">
              <a:alpha val="100000"/>
            </a:srgbClr>
          </a:solidFill>
          <a:ln/>
        </p:spPr>
      </p:sp>
      <p:sp>
        <p:nvSpPr>
          <p:cNvPr id="18" name="AutoShape 18"/>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PEST分析</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pic>
        <p:nvPicPr>
          <p:cNvPr id="4" name="Picture 4"/>
          <p:cNvPicPr>
            <a:picLocks noChangeAspect="1"/>
          </p:cNvPicPr>
          <p:nvPr/>
        </p:nvPicPr>
        <p:blipFill>
          <a:blip r:embed="rId2"/>
          <a:srcRect l="16667" r="16667"/>
          <a:stretch>
            <a:fillRect/>
          </a:stretch>
        </p:blipFill>
        <p:spPr>
          <a:xfrm>
            <a:off x="433352" y="1494982"/>
            <a:ext cx="4018834" cy="4018834"/>
          </a:xfrm>
          <a:prstGeom prst="ellipse">
            <a:avLst/>
          </a:prstGeom>
        </p:spPr>
      </p:pic>
      <p:grpSp>
        <p:nvGrpSpPr>
          <p:cNvPr id="5" name="Group 5"/>
          <p:cNvGrpSpPr/>
          <p:nvPr/>
        </p:nvGrpSpPr>
        <p:grpSpPr>
          <a:xfrm>
            <a:off x="4917884" y="1233328"/>
            <a:ext cx="5967300" cy="1398447"/>
            <a:chOff x="4917884" y="1233328"/>
            <a:chExt cx="5967300" cy="1398447"/>
          </a:xfrm>
        </p:grpSpPr>
        <p:sp>
          <p:nvSpPr>
            <p:cNvPr id="6" name="AutoShape 6"/>
            <p:cNvSpPr/>
            <p:nvPr/>
          </p:nvSpPr>
          <p:spPr>
            <a:xfrm>
              <a:off x="5075677" y="1233328"/>
              <a:ext cx="5809507" cy="1398447"/>
            </a:xfrm>
            <a:prstGeom prst="rect">
              <a:avLst/>
            </a:prstGeom>
            <a:solidFill>
              <a:schemeClr val="accent2">
                <a:alpha val="100000"/>
              </a:schemeClr>
            </a:solidFill>
            <a:ln/>
          </p:spPr>
        </p:sp>
        <p:sp>
          <p:nvSpPr>
            <p:cNvPr id="7" name="TextBox 7"/>
            <p:cNvSpPr txBox="1"/>
            <p:nvPr/>
          </p:nvSpPr>
          <p:spPr>
            <a:xfrm>
              <a:off x="5365347" y="1356704"/>
              <a:ext cx="2910118" cy="379596"/>
            </a:xfrm>
            <a:prstGeom prst="rect">
              <a:avLst/>
            </a:prstGeom>
            <a:ln/>
          </p:spPr>
          <p:txBody>
            <a:bodyPr vert="horz" wrap="square" lIns="114300" tIns="57150" rIns="114300" bIns="57150" rtlCol="0" anchor="t" anchorCtr="0">
              <a:normAutofit lnSpcReduction="10000"/>
            </a:bodyPr>
            <a:lstStyle/>
            <a:p>
              <a:pPr>
                <a:lnSpc>
                  <a:spcPct val="77000"/>
                </a:lnSpc>
                <a:spcBef>
                  <a:spcPts val="450"/>
                </a:spcBef>
              </a:pPr>
              <a:r>
                <a:rPr lang="en-US" sz="2250" b="1">
                  <a:solidFill>
                    <a:srgbClr val="FFFFFF">
                      <a:alpha val="100000"/>
                    </a:srgbClr>
                  </a:solidFill>
                  <a:latin typeface="Microsoft Yahei"/>
                  <a:ea typeface="Microsoft Yahei"/>
                  <a:cs typeface="Microsoft Yahei"/>
                </a:rPr>
                <a:t>国家重视心理问题</a:t>
              </a:r>
            </a:p>
          </p:txBody>
        </p:sp>
        <p:sp>
          <p:nvSpPr>
            <p:cNvPr id="8" name="TextBox 8"/>
            <p:cNvSpPr txBox="1"/>
            <p:nvPr/>
          </p:nvSpPr>
          <p:spPr>
            <a:xfrm>
              <a:off x="5365347" y="1819949"/>
              <a:ext cx="5303583"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rgbClr val="FFFFFF">
                      <a:alpha val="100000"/>
                    </a:srgbClr>
                  </a:solidFill>
                  <a:latin typeface="Microsoft Yahei"/>
                  <a:ea typeface="Microsoft Yahei"/>
                  <a:cs typeface="Microsoft Yahei"/>
                </a:rPr>
                <a:t>国家对于心理问题及其治疗的重视，为项目的发展提供了有利的政治环境。</a:t>
              </a:r>
            </a:p>
          </p:txBody>
        </p:sp>
        <p:sp>
          <p:nvSpPr>
            <p:cNvPr id="9" name="AutoShape 9"/>
            <p:cNvSpPr/>
            <p:nvPr/>
          </p:nvSpPr>
          <p:spPr>
            <a:xfrm>
              <a:off x="4917884" y="1233328"/>
              <a:ext cx="157794" cy="1398447"/>
            </a:xfrm>
            <a:prstGeom prst="rect">
              <a:avLst/>
            </a:prstGeom>
            <a:solidFill>
              <a:schemeClr val="accent1">
                <a:alpha val="100000"/>
              </a:schemeClr>
            </a:solidFill>
            <a:ln/>
          </p:spPr>
        </p:sp>
      </p:grpSp>
      <p:grpSp>
        <p:nvGrpSpPr>
          <p:cNvPr id="10" name="Group 10"/>
          <p:cNvGrpSpPr/>
          <p:nvPr/>
        </p:nvGrpSpPr>
        <p:grpSpPr>
          <a:xfrm>
            <a:off x="4917884" y="2805176"/>
            <a:ext cx="5967300" cy="1398447"/>
            <a:chOff x="4917884" y="2805176"/>
            <a:chExt cx="5967300" cy="1398447"/>
          </a:xfrm>
        </p:grpSpPr>
        <p:sp>
          <p:nvSpPr>
            <p:cNvPr id="11" name="AutoShape 11"/>
            <p:cNvSpPr/>
            <p:nvPr/>
          </p:nvSpPr>
          <p:spPr>
            <a:xfrm>
              <a:off x="5075677" y="2805176"/>
              <a:ext cx="5809507" cy="1398447"/>
            </a:xfrm>
            <a:prstGeom prst="rect">
              <a:avLst/>
            </a:prstGeom>
            <a:solidFill>
              <a:schemeClr val="accent2">
                <a:alpha val="100000"/>
              </a:schemeClr>
            </a:solidFill>
            <a:ln/>
          </p:spPr>
        </p:sp>
        <p:sp>
          <p:nvSpPr>
            <p:cNvPr id="12" name="TextBox 12"/>
            <p:cNvSpPr txBox="1"/>
            <p:nvPr/>
          </p:nvSpPr>
          <p:spPr>
            <a:xfrm>
              <a:off x="5365347" y="2928551"/>
              <a:ext cx="2910118" cy="379596"/>
            </a:xfrm>
            <a:prstGeom prst="rect">
              <a:avLst/>
            </a:prstGeom>
            <a:ln/>
          </p:spPr>
          <p:txBody>
            <a:bodyPr vert="horz" wrap="square" lIns="114300" tIns="57150" rIns="114300" bIns="57150" rtlCol="0" anchor="t" anchorCtr="0">
              <a:normAutofit lnSpcReduction="10000"/>
            </a:bodyPr>
            <a:lstStyle/>
            <a:p>
              <a:pPr>
                <a:lnSpc>
                  <a:spcPct val="77000"/>
                </a:lnSpc>
                <a:spcBef>
                  <a:spcPts val="450"/>
                </a:spcBef>
              </a:pPr>
              <a:r>
                <a:rPr lang="en-US" sz="2250" b="1">
                  <a:solidFill>
                    <a:srgbClr val="FFFFFF">
                      <a:alpha val="100000"/>
                    </a:srgbClr>
                  </a:solidFill>
                  <a:latin typeface="Microsoft Yahei"/>
                  <a:ea typeface="Microsoft Yahei"/>
                  <a:cs typeface="Microsoft Yahei"/>
                </a:rPr>
                <a:t>成本效益与优势</a:t>
              </a:r>
            </a:p>
          </p:txBody>
        </p:sp>
        <p:sp>
          <p:nvSpPr>
            <p:cNvPr id="13" name="TextBox 13"/>
            <p:cNvSpPr txBox="1"/>
            <p:nvPr/>
          </p:nvSpPr>
          <p:spPr>
            <a:xfrm>
              <a:off x="5365347" y="3391796"/>
              <a:ext cx="5303583"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rgbClr val="FFFFFF">
                      <a:alpha val="100000"/>
                    </a:srgbClr>
                  </a:solidFill>
                  <a:latin typeface="Microsoft Yahei"/>
                  <a:ea typeface="Microsoft Yahei"/>
                  <a:cs typeface="Microsoft Yahei"/>
                </a:rPr>
                <a:t>本项目具有成本效益高、可扩展性强、资源利用效率高以及降低社会成本等多方面的优势。</a:t>
              </a:r>
            </a:p>
          </p:txBody>
        </p:sp>
        <p:sp>
          <p:nvSpPr>
            <p:cNvPr id="14" name="AutoShape 14"/>
            <p:cNvSpPr/>
            <p:nvPr/>
          </p:nvSpPr>
          <p:spPr>
            <a:xfrm>
              <a:off x="4917884" y="2805176"/>
              <a:ext cx="157794" cy="1398447"/>
            </a:xfrm>
            <a:prstGeom prst="rect">
              <a:avLst/>
            </a:prstGeom>
            <a:solidFill>
              <a:schemeClr val="accent1">
                <a:alpha val="100000"/>
              </a:schemeClr>
            </a:solidFill>
            <a:ln/>
          </p:spPr>
        </p:sp>
      </p:grpSp>
      <p:grpSp>
        <p:nvGrpSpPr>
          <p:cNvPr id="15" name="Group 15"/>
          <p:cNvGrpSpPr/>
          <p:nvPr/>
        </p:nvGrpSpPr>
        <p:grpSpPr>
          <a:xfrm>
            <a:off x="4917884" y="4377023"/>
            <a:ext cx="5967300" cy="1398447"/>
            <a:chOff x="4917884" y="4377023"/>
            <a:chExt cx="5967300" cy="1398447"/>
          </a:xfrm>
        </p:grpSpPr>
        <p:sp>
          <p:nvSpPr>
            <p:cNvPr id="16" name="AutoShape 16"/>
            <p:cNvSpPr/>
            <p:nvPr/>
          </p:nvSpPr>
          <p:spPr>
            <a:xfrm>
              <a:off x="5075677" y="4377023"/>
              <a:ext cx="5809507" cy="1398447"/>
            </a:xfrm>
            <a:prstGeom prst="rect">
              <a:avLst/>
            </a:prstGeom>
            <a:solidFill>
              <a:schemeClr val="accent2">
                <a:alpha val="100000"/>
              </a:schemeClr>
            </a:solidFill>
            <a:ln/>
          </p:spPr>
        </p:sp>
        <p:sp>
          <p:nvSpPr>
            <p:cNvPr id="17" name="TextBox 17"/>
            <p:cNvSpPr txBox="1"/>
            <p:nvPr/>
          </p:nvSpPr>
          <p:spPr>
            <a:xfrm>
              <a:off x="5365347" y="4500399"/>
              <a:ext cx="2910118" cy="379596"/>
            </a:xfrm>
            <a:prstGeom prst="rect">
              <a:avLst/>
            </a:prstGeom>
            <a:ln/>
          </p:spPr>
          <p:txBody>
            <a:bodyPr vert="horz" wrap="square" lIns="114300" tIns="57150" rIns="114300" bIns="57150" rtlCol="0" anchor="t" anchorCtr="0">
              <a:normAutofit lnSpcReduction="10000"/>
            </a:bodyPr>
            <a:lstStyle/>
            <a:p>
              <a:pPr>
                <a:lnSpc>
                  <a:spcPct val="77000"/>
                </a:lnSpc>
                <a:spcBef>
                  <a:spcPts val="450"/>
                </a:spcBef>
              </a:pPr>
              <a:r>
                <a:rPr lang="en-US" sz="2250" b="1">
                  <a:solidFill>
                    <a:srgbClr val="FFFFFF">
                      <a:alpha val="100000"/>
                    </a:srgbClr>
                  </a:solidFill>
                  <a:latin typeface="Microsoft Yahei"/>
                  <a:ea typeface="Microsoft Yahei"/>
                  <a:cs typeface="Microsoft Yahei"/>
                </a:rPr>
                <a:t>扩展性与资源利用</a:t>
              </a:r>
            </a:p>
          </p:txBody>
        </p:sp>
        <p:sp>
          <p:nvSpPr>
            <p:cNvPr id="18" name="TextBox 18"/>
            <p:cNvSpPr txBox="1"/>
            <p:nvPr/>
          </p:nvSpPr>
          <p:spPr>
            <a:xfrm>
              <a:off x="5365347" y="4963644"/>
              <a:ext cx="5303583"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rgbClr val="FFFFFF">
                      <a:alpha val="100000"/>
                    </a:srgbClr>
                  </a:solidFill>
                  <a:latin typeface="Microsoft Yahei"/>
                  <a:ea typeface="Microsoft Yahei"/>
                  <a:cs typeface="Microsoft Yahei"/>
                </a:rPr>
                <a:t>与传统的心理咨询和心理治疗相比，本系统显著降低了成本，提高了资源的利用效率。</a:t>
              </a:r>
            </a:p>
          </p:txBody>
        </p:sp>
        <p:sp>
          <p:nvSpPr>
            <p:cNvPr id="19" name="AutoShape 19"/>
            <p:cNvSpPr/>
            <p:nvPr/>
          </p:nvSpPr>
          <p:spPr>
            <a:xfrm>
              <a:off x="4917884" y="4377023"/>
              <a:ext cx="157794" cy="1398447"/>
            </a:xfrm>
            <a:prstGeom prst="rect">
              <a:avLst/>
            </a:prstGeom>
            <a:solidFill>
              <a:schemeClr val="accent1">
                <a:alpha val="100000"/>
              </a:schemeClr>
            </a:solidFill>
            <a:ln/>
          </p:spPr>
        </p:sp>
      </p:grpSp>
      <p:sp>
        <p:nvSpPr>
          <p:cNvPr id="20" name="AutoShape 20"/>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PEST分析</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grpSp>
        <p:nvGrpSpPr>
          <p:cNvPr id="4" name="Group 4"/>
          <p:cNvGrpSpPr/>
          <p:nvPr/>
        </p:nvGrpSpPr>
        <p:grpSpPr>
          <a:xfrm>
            <a:off x="10222420" y="1622108"/>
            <a:ext cx="1030891" cy="2079688"/>
            <a:chOff x="10222420" y="1622108"/>
            <a:chExt cx="1030891" cy="2079688"/>
          </a:xfrm>
        </p:grpSpPr>
        <p:sp>
          <p:nvSpPr>
            <p:cNvPr id="5" name="Freeform 5"/>
            <p:cNvSpPr/>
            <p:nvPr/>
          </p:nvSpPr>
          <p:spPr>
            <a:xfrm>
              <a:off x="10306145" y="1710309"/>
              <a:ext cx="947166" cy="1907953"/>
            </a:xfrm>
            <a:custGeom>
              <a:avLst/>
              <a:gdLst/>
              <a:ahLst/>
              <a:cxnLst/>
              <a:rect l="l" t="t" r="r" b="b"/>
              <a:pathLst>
                <a:path w="227" h="454">
                  <a:moveTo>
                    <a:pt x="0" y="0"/>
                  </a:moveTo>
                  <a:cubicBezTo>
                    <a:pt x="125" y="0"/>
                    <a:pt x="227" y="101"/>
                    <a:pt x="227" y="227"/>
                  </a:cubicBezTo>
                  <a:cubicBezTo>
                    <a:pt x="227" y="352"/>
                    <a:pt x="125" y="454"/>
                    <a:pt x="0" y="454"/>
                  </a:cubicBezTo>
                </a:path>
              </a:pathLst>
            </a:custGeom>
            <a:noFill/>
            <a:ln w="23813">
              <a:solidFill>
                <a:schemeClr val="dk1">
                  <a:alpha val="100000"/>
                  <a:lumMod val="50000"/>
                  <a:lumMod val="50000"/>
                </a:schemeClr>
              </a:solidFill>
              <a:prstDash val="solid"/>
            </a:ln>
          </p:spPr>
        </p:sp>
        <p:sp>
          <p:nvSpPr>
            <p:cNvPr id="6" name="AutoShape 6"/>
            <p:cNvSpPr/>
            <p:nvPr/>
          </p:nvSpPr>
          <p:spPr>
            <a:xfrm>
              <a:off x="10222420" y="1622108"/>
              <a:ext cx="167259" cy="171831"/>
            </a:xfrm>
            <a:prstGeom prst="ellipse">
              <a:avLst/>
            </a:prstGeom>
            <a:solidFill>
              <a:srgbClr val="7F7F7F">
                <a:alpha val="100000"/>
              </a:srgbClr>
            </a:solidFill>
            <a:ln/>
          </p:spPr>
        </p:sp>
        <p:sp>
          <p:nvSpPr>
            <p:cNvPr id="7" name="AutoShape 7"/>
            <p:cNvSpPr/>
            <p:nvPr/>
          </p:nvSpPr>
          <p:spPr>
            <a:xfrm>
              <a:off x="10222420" y="3534537"/>
              <a:ext cx="167259" cy="167259"/>
            </a:xfrm>
            <a:prstGeom prst="ellipse">
              <a:avLst/>
            </a:prstGeom>
            <a:solidFill>
              <a:srgbClr val="7F7F7F">
                <a:alpha val="100000"/>
              </a:srgbClr>
            </a:solidFill>
            <a:ln/>
          </p:spPr>
        </p:sp>
      </p:grpSp>
      <p:grpSp>
        <p:nvGrpSpPr>
          <p:cNvPr id="8" name="Group 8"/>
          <p:cNvGrpSpPr/>
          <p:nvPr/>
        </p:nvGrpSpPr>
        <p:grpSpPr>
          <a:xfrm>
            <a:off x="1026414" y="1954435"/>
            <a:ext cx="1408367" cy="1415129"/>
            <a:chOff x="1026414" y="1954435"/>
            <a:chExt cx="1408367" cy="1415129"/>
          </a:xfrm>
        </p:grpSpPr>
        <p:sp>
          <p:nvSpPr>
            <p:cNvPr id="9" name="AutoShape 9"/>
            <p:cNvSpPr/>
            <p:nvPr/>
          </p:nvSpPr>
          <p:spPr>
            <a:xfrm>
              <a:off x="1026414" y="1954435"/>
              <a:ext cx="1408367" cy="1415129"/>
            </a:xfrm>
            <a:prstGeom prst="ellipse">
              <a:avLst/>
            </a:prstGeom>
            <a:solidFill>
              <a:srgbClr val="778495">
                <a:alpha val="100000"/>
              </a:srgbClr>
            </a:solidFill>
            <a:ln/>
          </p:spPr>
        </p:sp>
        <p:sp>
          <p:nvSpPr>
            <p:cNvPr id="10" name="TextBox 10"/>
            <p:cNvSpPr txBox="1"/>
            <p:nvPr/>
          </p:nvSpPr>
          <p:spPr>
            <a:xfrm>
              <a:off x="1218819" y="2338768"/>
              <a:ext cx="1120807" cy="646367"/>
            </a:xfrm>
            <a:prstGeom prst="rect">
              <a:avLst/>
            </a:prstGeom>
            <a:noFill/>
            <a:ln/>
          </p:spPr>
          <p:txBody>
            <a:bodyPr vert="horz" wrap="square" lIns="91440" tIns="45720" rIns="91440" bIns="0" rtlCol="0" anchor="t" anchorCtr="0">
              <a:spAutoFit/>
            </a:bodyPr>
            <a:lstStyle/>
            <a:p>
              <a:pPr algn="l">
                <a:lnSpc>
                  <a:spcPct val="80000"/>
                </a:lnSpc>
              </a:pPr>
              <a:r>
                <a:rPr lang="en-US" sz="3600">
                  <a:solidFill>
                    <a:srgbClr val="FFFFFF">
                      <a:alpha val="100000"/>
                    </a:srgbClr>
                  </a:solidFill>
                  <a:latin typeface="Calibri Light"/>
                  <a:ea typeface="Calibri Light"/>
                  <a:cs typeface="Calibri Light"/>
                </a:rPr>
                <a:t>技术与市场优势</a:t>
              </a:r>
            </a:p>
          </p:txBody>
        </p:sp>
      </p:grpSp>
      <p:grpSp>
        <p:nvGrpSpPr>
          <p:cNvPr id="11" name="Group 11"/>
          <p:cNvGrpSpPr/>
          <p:nvPr/>
        </p:nvGrpSpPr>
        <p:grpSpPr>
          <a:xfrm>
            <a:off x="1611916" y="1622108"/>
            <a:ext cx="3693795" cy="2079688"/>
            <a:chOff x="1611916" y="1622108"/>
            <a:chExt cx="3693795" cy="2079688"/>
          </a:xfrm>
        </p:grpSpPr>
        <p:sp>
          <p:nvSpPr>
            <p:cNvPr id="12" name="Freeform 12"/>
            <p:cNvSpPr/>
            <p:nvPr/>
          </p:nvSpPr>
          <p:spPr>
            <a:xfrm>
              <a:off x="1695545" y="1710309"/>
              <a:ext cx="949452" cy="1907953"/>
            </a:xfrm>
            <a:custGeom>
              <a:avLst/>
              <a:gdLst/>
              <a:ahLst/>
              <a:cxnLst/>
              <a:rect l="l" t="t" r="r" b="b"/>
              <a:pathLst>
                <a:path w="227" h="454">
                  <a:moveTo>
                    <a:pt x="0" y="0"/>
                  </a:moveTo>
                  <a:cubicBezTo>
                    <a:pt x="125" y="0"/>
                    <a:pt x="227" y="101"/>
                    <a:pt x="227" y="227"/>
                  </a:cubicBezTo>
                  <a:cubicBezTo>
                    <a:pt x="227" y="352"/>
                    <a:pt x="125" y="454"/>
                    <a:pt x="0" y="454"/>
                  </a:cubicBezTo>
                </a:path>
              </a:pathLst>
            </a:custGeom>
            <a:noFill/>
            <a:ln w="23813">
              <a:solidFill>
                <a:schemeClr val="dk1">
                  <a:alpha val="100000"/>
                  <a:lumMod val="50000"/>
                  <a:lumMod val="50000"/>
                </a:schemeClr>
              </a:solidFill>
              <a:prstDash val="solid"/>
            </a:ln>
          </p:spPr>
        </p:sp>
        <p:sp>
          <p:nvSpPr>
            <p:cNvPr id="13" name="AutoShape 13"/>
            <p:cNvSpPr/>
            <p:nvPr/>
          </p:nvSpPr>
          <p:spPr>
            <a:xfrm>
              <a:off x="1611916" y="1622108"/>
              <a:ext cx="167259" cy="171831"/>
            </a:xfrm>
            <a:prstGeom prst="ellipse">
              <a:avLst/>
            </a:prstGeom>
            <a:solidFill>
              <a:srgbClr val="7F7F7F">
                <a:alpha val="100000"/>
              </a:srgbClr>
            </a:solidFill>
            <a:ln/>
          </p:spPr>
        </p:sp>
        <p:sp>
          <p:nvSpPr>
            <p:cNvPr id="14" name="AutoShape 14"/>
            <p:cNvSpPr/>
            <p:nvPr/>
          </p:nvSpPr>
          <p:spPr>
            <a:xfrm>
              <a:off x="1611916" y="3534537"/>
              <a:ext cx="167259" cy="167259"/>
            </a:xfrm>
            <a:prstGeom prst="ellipse">
              <a:avLst/>
            </a:prstGeom>
            <a:solidFill>
              <a:srgbClr val="7F7F7F">
                <a:alpha val="100000"/>
              </a:srgbClr>
            </a:solidFill>
            <a:ln/>
          </p:spPr>
        </p:sp>
        <p:sp>
          <p:nvSpPr>
            <p:cNvPr id="15" name="AutoShape 15"/>
            <p:cNvSpPr/>
            <p:nvPr/>
          </p:nvSpPr>
          <p:spPr>
            <a:xfrm>
              <a:off x="3897344" y="1954435"/>
              <a:ext cx="1408367" cy="1415129"/>
            </a:xfrm>
            <a:prstGeom prst="ellipse">
              <a:avLst/>
            </a:prstGeom>
            <a:solidFill>
              <a:srgbClr val="AAC2AC">
                <a:alpha val="100000"/>
              </a:srgbClr>
            </a:solidFill>
            <a:ln/>
          </p:spPr>
        </p:sp>
        <p:cxnSp>
          <p:nvCxnSpPr>
            <p:cNvPr id="16" name="Connector 16"/>
            <p:cNvCxnSpPr/>
            <p:nvPr/>
          </p:nvCxnSpPr>
          <p:spPr>
            <a:xfrm>
              <a:off x="2645024" y="2664241"/>
              <a:ext cx="1252357" cy="0"/>
            </a:xfrm>
            <a:prstGeom prst="line">
              <a:avLst/>
            </a:prstGeom>
            <a:ln w="23813">
              <a:solidFill>
                <a:srgbClr val="7F7F7F">
                  <a:alpha val="100000"/>
                </a:srgbClr>
              </a:solidFill>
              <a:prstDash val="solid"/>
              <a:headEnd type="none"/>
              <a:tailEnd type="none"/>
            </a:ln>
          </p:spPr>
        </p:cxnSp>
        <p:sp>
          <p:nvSpPr>
            <p:cNvPr id="17" name="TextBox 17"/>
            <p:cNvSpPr txBox="1"/>
            <p:nvPr/>
          </p:nvSpPr>
          <p:spPr>
            <a:xfrm>
              <a:off x="4089749" y="2324100"/>
              <a:ext cx="1120807" cy="646367"/>
            </a:xfrm>
            <a:prstGeom prst="rect">
              <a:avLst/>
            </a:prstGeom>
            <a:noFill/>
            <a:ln/>
          </p:spPr>
          <p:txBody>
            <a:bodyPr vert="horz" wrap="square" lIns="91440" tIns="45720" rIns="91440" bIns="0" rtlCol="0" anchor="t" anchorCtr="0">
              <a:spAutoFit/>
            </a:bodyPr>
            <a:lstStyle/>
            <a:p>
              <a:pPr algn="l">
                <a:lnSpc>
                  <a:spcPct val="80000"/>
                </a:lnSpc>
              </a:pPr>
              <a:r>
                <a:rPr lang="en-US" sz="3600">
                  <a:solidFill>
                    <a:srgbClr val="FFFFFF">
                      <a:alpha val="100000"/>
                    </a:srgbClr>
                  </a:solidFill>
                  <a:latin typeface="Calibri Light"/>
                  <a:ea typeface="Calibri Light"/>
                  <a:cs typeface="Calibri Light"/>
                </a:rPr>
                <a:t>陪伴服务需求增长</a:t>
              </a:r>
            </a:p>
          </p:txBody>
        </p:sp>
      </p:grpSp>
      <p:grpSp>
        <p:nvGrpSpPr>
          <p:cNvPr id="18" name="Group 18"/>
          <p:cNvGrpSpPr/>
          <p:nvPr/>
        </p:nvGrpSpPr>
        <p:grpSpPr>
          <a:xfrm>
            <a:off x="4478369" y="1622108"/>
            <a:ext cx="3700558" cy="2079688"/>
            <a:chOff x="4478369" y="1622108"/>
            <a:chExt cx="3700558" cy="2079688"/>
          </a:xfrm>
        </p:grpSpPr>
        <p:sp>
          <p:nvSpPr>
            <p:cNvPr id="19" name="Freeform 19"/>
            <p:cNvSpPr/>
            <p:nvPr/>
          </p:nvSpPr>
          <p:spPr>
            <a:xfrm>
              <a:off x="4566476" y="1710309"/>
              <a:ext cx="949452" cy="1907953"/>
            </a:xfrm>
            <a:custGeom>
              <a:avLst/>
              <a:gdLst/>
              <a:ahLst/>
              <a:cxnLst/>
              <a:rect l="l" t="t" r="r" b="b"/>
              <a:pathLst>
                <a:path w="227" h="454">
                  <a:moveTo>
                    <a:pt x="0" y="0"/>
                  </a:moveTo>
                  <a:cubicBezTo>
                    <a:pt x="125" y="0"/>
                    <a:pt x="227" y="101"/>
                    <a:pt x="227" y="227"/>
                  </a:cubicBezTo>
                  <a:cubicBezTo>
                    <a:pt x="227" y="352"/>
                    <a:pt x="125" y="454"/>
                    <a:pt x="0" y="454"/>
                  </a:cubicBezTo>
                </a:path>
              </a:pathLst>
            </a:custGeom>
            <a:noFill/>
            <a:ln w="23813">
              <a:solidFill>
                <a:schemeClr val="dk1">
                  <a:alpha val="100000"/>
                  <a:lumMod val="50000"/>
                  <a:lumMod val="50000"/>
                </a:schemeClr>
              </a:solidFill>
              <a:prstDash val="solid"/>
            </a:ln>
          </p:spPr>
        </p:sp>
        <p:sp>
          <p:nvSpPr>
            <p:cNvPr id="20" name="AutoShape 20"/>
            <p:cNvSpPr/>
            <p:nvPr/>
          </p:nvSpPr>
          <p:spPr>
            <a:xfrm>
              <a:off x="4478369" y="1622108"/>
              <a:ext cx="171831" cy="171831"/>
            </a:xfrm>
            <a:prstGeom prst="ellipse">
              <a:avLst/>
            </a:prstGeom>
            <a:solidFill>
              <a:srgbClr val="7F7F7F">
                <a:alpha val="100000"/>
              </a:srgbClr>
            </a:solidFill>
            <a:ln/>
          </p:spPr>
        </p:sp>
        <p:sp>
          <p:nvSpPr>
            <p:cNvPr id="21" name="AutoShape 21"/>
            <p:cNvSpPr/>
            <p:nvPr/>
          </p:nvSpPr>
          <p:spPr>
            <a:xfrm>
              <a:off x="4478369" y="3534537"/>
              <a:ext cx="171831" cy="167259"/>
            </a:xfrm>
            <a:prstGeom prst="ellipse">
              <a:avLst/>
            </a:prstGeom>
            <a:solidFill>
              <a:srgbClr val="7F7F7F">
                <a:alpha val="100000"/>
              </a:srgbClr>
            </a:solidFill>
            <a:ln/>
          </p:spPr>
        </p:sp>
        <p:sp>
          <p:nvSpPr>
            <p:cNvPr id="22" name="AutoShape 22"/>
            <p:cNvSpPr/>
            <p:nvPr/>
          </p:nvSpPr>
          <p:spPr>
            <a:xfrm>
              <a:off x="6766084" y="1954435"/>
              <a:ext cx="1412843" cy="1415129"/>
            </a:xfrm>
            <a:prstGeom prst="ellipse">
              <a:avLst/>
            </a:prstGeom>
            <a:solidFill>
              <a:srgbClr val="EBB690">
                <a:alpha val="100000"/>
              </a:srgbClr>
            </a:solidFill>
            <a:ln/>
          </p:spPr>
        </p:sp>
        <p:cxnSp>
          <p:nvCxnSpPr>
            <p:cNvPr id="23" name="Connector 23"/>
            <p:cNvCxnSpPr/>
            <p:nvPr/>
          </p:nvCxnSpPr>
          <p:spPr>
            <a:xfrm>
              <a:off x="5515952" y="2664241"/>
              <a:ext cx="1250097" cy="0"/>
            </a:xfrm>
            <a:prstGeom prst="line">
              <a:avLst/>
            </a:prstGeom>
            <a:ln w="23813">
              <a:solidFill>
                <a:srgbClr val="7F7F7F">
                  <a:alpha val="100000"/>
                </a:srgbClr>
              </a:solidFill>
              <a:prstDash val="solid"/>
              <a:headEnd type="none"/>
              <a:tailEnd type="none"/>
            </a:ln>
          </p:spPr>
        </p:cxnSp>
        <p:sp>
          <p:nvSpPr>
            <p:cNvPr id="24" name="TextBox 24"/>
            <p:cNvSpPr txBox="1"/>
            <p:nvPr/>
          </p:nvSpPr>
          <p:spPr>
            <a:xfrm>
              <a:off x="6956107" y="2312765"/>
              <a:ext cx="1120807" cy="646367"/>
            </a:xfrm>
            <a:prstGeom prst="rect">
              <a:avLst/>
            </a:prstGeom>
            <a:noFill/>
            <a:ln/>
          </p:spPr>
          <p:txBody>
            <a:bodyPr vert="horz" wrap="square" lIns="91440" tIns="45720" rIns="91440" bIns="0" rtlCol="0" anchor="t" anchorCtr="0">
              <a:spAutoFit/>
            </a:bodyPr>
            <a:lstStyle/>
            <a:p>
              <a:pPr algn="l">
                <a:lnSpc>
                  <a:spcPct val="80000"/>
                </a:lnSpc>
              </a:pPr>
              <a:r>
                <a:rPr lang="en-US" sz="3600">
                  <a:solidFill>
                    <a:srgbClr val="FFFFFF">
                      <a:alpha val="100000"/>
                    </a:srgbClr>
                  </a:solidFill>
                  <a:latin typeface="Calibri Light"/>
                  <a:ea typeface="Calibri Light"/>
                  <a:cs typeface="Calibri Light"/>
                </a:rPr>
                <a:t>社会成本降低</a:t>
              </a:r>
            </a:p>
          </p:txBody>
        </p:sp>
      </p:grpSp>
      <p:grpSp>
        <p:nvGrpSpPr>
          <p:cNvPr id="25" name="Group 25"/>
          <p:cNvGrpSpPr/>
          <p:nvPr/>
        </p:nvGrpSpPr>
        <p:grpSpPr>
          <a:xfrm>
            <a:off x="7349300" y="1622108"/>
            <a:ext cx="3696081" cy="2079688"/>
            <a:chOff x="7349300" y="1622108"/>
            <a:chExt cx="3696081" cy="2079688"/>
          </a:xfrm>
        </p:grpSpPr>
        <p:sp>
          <p:nvSpPr>
            <p:cNvPr id="26" name="Freeform 26"/>
            <p:cNvSpPr/>
            <p:nvPr/>
          </p:nvSpPr>
          <p:spPr>
            <a:xfrm>
              <a:off x="7432929" y="1710309"/>
              <a:ext cx="949452" cy="1907953"/>
            </a:xfrm>
            <a:custGeom>
              <a:avLst/>
              <a:gdLst/>
              <a:ahLst/>
              <a:cxnLst/>
              <a:rect l="l" t="t" r="r" b="b"/>
              <a:pathLst>
                <a:path w="227" h="454">
                  <a:moveTo>
                    <a:pt x="0" y="0"/>
                  </a:moveTo>
                  <a:cubicBezTo>
                    <a:pt x="126" y="0"/>
                    <a:pt x="227" y="101"/>
                    <a:pt x="227" y="227"/>
                  </a:cubicBezTo>
                  <a:cubicBezTo>
                    <a:pt x="227" y="352"/>
                    <a:pt x="126" y="454"/>
                    <a:pt x="0" y="454"/>
                  </a:cubicBezTo>
                </a:path>
              </a:pathLst>
            </a:custGeom>
            <a:noFill/>
            <a:ln w="23813">
              <a:solidFill>
                <a:schemeClr val="dk1">
                  <a:alpha val="100000"/>
                  <a:lumMod val="50000"/>
                  <a:lumMod val="50000"/>
                </a:schemeClr>
              </a:solidFill>
              <a:prstDash val="solid"/>
            </a:ln>
          </p:spPr>
        </p:sp>
        <p:sp>
          <p:nvSpPr>
            <p:cNvPr id="27" name="AutoShape 27"/>
            <p:cNvSpPr/>
            <p:nvPr/>
          </p:nvSpPr>
          <p:spPr>
            <a:xfrm>
              <a:off x="7349300" y="1622108"/>
              <a:ext cx="167259" cy="171831"/>
            </a:xfrm>
            <a:prstGeom prst="ellipse">
              <a:avLst/>
            </a:prstGeom>
            <a:solidFill>
              <a:srgbClr val="7F7F7F">
                <a:alpha val="100000"/>
              </a:srgbClr>
            </a:solidFill>
            <a:ln/>
          </p:spPr>
        </p:sp>
        <p:sp>
          <p:nvSpPr>
            <p:cNvPr id="28" name="AutoShape 28"/>
            <p:cNvSpPr/>
            <p:nvPr/>
          </p:nvSpPr>
          <p:spPr>
            <a:xfrm>
              <a:off x="7349300" y="3534537"/>
              <a:ext cx="167259" cy="167259"/>
            </a:xfrm>
            <a:prstGeom prst="ellipse">
              <a:avLst/>
            </a:prstGeom>
            <a:solidFill>
              <a:srgbClr val="7F7F7F">
                <a:alpha val="100000"/>
              </a:srgbClr>
            </a:solidFill>
            <a:ln/>
          </p:spPr>
        </p:sp>
        <p:sp>
          <p:nvSpPr>
            <p:cNvPr id="29" name="AutoShape 29"/>
            <p:cNvSpPr/>
            <p:nvPr/>
          </p:nvSpPr>
          <p:spPr>
            <a:xfrm>
              <a:off x="9637014" y="1954435"/>
              <a:ext cx="1408367" cy="1415129"/>
            </a:xfrm>
            <a:prstGeom prst="ellipse">
              <a:avLst/>
            </a:prstGeom>
            <a:solidFill>
              <a:srgbClr val="5F5F5F">
                <a:alpha val="100000"/>
              </a:srgbClr>
            </a:solidFill>
            <a:ln/>
          </p:spPr>
        </p:sp>
        <p:cxnSp>
          <p:nvCxnSpPr>
            <p:cNvPr id="30" name="Connector 30"/>
            <p:cNvCxnSpPr/>
            <p:nvPr/>
          </p:nvCxnSpPr>
          <p:spPr>
            <a:xfrm>
              <a:off x="8386879" y="2650677"/>
              <a:ext cx="1254619" cy="0"/>
            </a:xfrm>
            <a:prstGeom prst="line">
              <a:avLst/>
            </a:prstGeom>
            <a:ln w="23813">
              <a:solidFill>
                <a:srgbClr val="7F7F7F">
                  <a:alpha val="100000"/>
                </a:srgbClr>
              </a:solidFill>
              <a:prstDash val="solid"/>
              <a:headEnd type="none"/>
              <a:tailEnd type="none"/>
            </a:ln>
          </p:spPr>
        </p:cxnSp>
        <p:sp>
          <p:nvSpPr>
            <p:cNvPr id="31" name="TextBox 31"/>
            <p:cNvSpPr txBox="1"/>
            <p:nvPr/>
          </p:nvSpPr>
          <p:spPr>
            <a:xfrm>
              <a:off x="9780746" y="2321338"/>
              <a:ext cx="1120807" cy="646367"/>
            </a:xfrm>
            <a:prstGeom prst="rect">
              <a:avLst/>
            </a:prstGeom>
            <a:noFill/>
            <a:ln/>
          </p:spPr>
          <p:txBody>
            <a:bodyPr vert="horz" wrap="square" lIns="91440" tIns="45720" rIns="91440" bIns="0" rtlCol="0" anchor="t" anchorCtr="0">
              <a:spAutoFit/>
            </a:bodyPr>
            <a:lstStyle/>
            <a:p>
              <a:pPr algn="l">
                <a:lnSpc>
                  <a:spcPct val="80000"/>
                </a:lnSpc>
              </a:pPr>
              <a:r>
                <a:rPr lang="en-US" sz="3600">
                  <a:solidFill>
                    <a:srgbClr val="FFFFFF">
                      <a:alpha val="100000"/>
                    </a:srgbClr>
                  </a:solidFill>
                  <a:latin typeface="Calibri Light"/>
                  <a:ea typeface="Calibri Light"/>
                  <a:cs typeface="Calibri Light"/>
                </a:rPr>
                <a:t>发展前景与市场潜力</a:t>
              </a:r>
            </a:p>
          </p:txBody>
        </p:sp>
      </p:grpSp>
      <p:grpSp>
        <p:nvGrpSpPr>
          <p:cNvPr id="32" name="Group 32"/>
          <p:cNvGrpSpPr/>
          <p:nvPr/>
        </p:nvGrpSpPr>
        <p:grpSpPr>
          <a:xfrm>
            <a:off x="663797" y="4026789"/>
            <a:ext cx="1896332" cy="2292477"/>
            <a:chOff x="663797" y="4026789"/>
            <a:chExt cx="1896332" cy="2292477"/>
          </a:xfrm>
        </p:grpSpPr>
        <p:sp>
          <p:nvSpPr>
            <p:cNvPr id="33" name="AutoShape 33"/>
            <p:cNvSpPr/>
            <p:nvPr/>
          </p:nvSpPr>
          <p:spPr>
            <a:xfrm>
              <a:off x="827151" y="4026789"/>
              <a:ext cx="1569625" cy="369284"/>
            </a:xfrm>
            <a:prstGeom prst="rect">
              <a:avLst/>
            </a:prstGeom>
            <a:noFill/>
            <a:ln/>
          </p:spPr>
        </p:sp>
        <p:sp>
          <p:nvSpPr>
            <p:cNvPr id="34" name="TextBox 34"/>
            <p:cNvSpPr txBox="1"/>
            <p:nvPr/>
          </p:nvSpPr>
          <p:spPr>
            <a:xfrm>
              <a:off x="663797" y="4606480"/>
              <a:ext cx="1896332" cy="1712786"/>
            </a:xfrm>
            <a:prstGeom prst="rect">
              <a:avLst/>
            </a:prstGeom>
            <a:ln/>
          </p:spPr>
          <p:txBody>
            <a:bodyPr vert="horz" wrap="square" lIns="91440" tIns="45720" rIns="91440" bIns="0" rtlCol="0" anchor="t" anchorCtr="0">
              <a:spAutoFit/>
            </a:bodyPr>
            <a:lstStyle/>
            <a:p>
              <a:pPr algn="ctr">
                <a:lnSpc>
                  <a:spcPct val="130000"/>
                </a:lnSpc>
                <a:spcBef>
                  <a:spcPct val="0"/>
                </a:spcBef>
                <a:spcAft>
                  <a:spcPct val="0"/>
                </a:spcAft>
              </a:pPr>
              <a:r>
                <a:rPr lang="en-US" sz="1350">
                  <a:solidFill>
                    <a:srgbClr val="787878">
                      <a:alpha val="100000"/>
                    </a:srgbClr>
                  </a:solidFill>
                  <a:latin typeface="微软雅黑 Light"/>
                  <a:ea typeface="微软雅黑 Light"/>
                  <a:cs typeface="微软雅黑 Light"/>
                </a:rPr>
                <a:t>AI系统具有很强的可扩展性，可以根据用户需求进行快速迭代和升级。</a:t>
              </a:r>
            </a:p>
          </p:txBody>
        </p:sp>
      </p:grpSp>
      <p:cxnSp>
        <p:nvCxnSpPr>
          <p:cNvPr id="35" name="Connector 35"/>
          <p:cNvCxnSpPr/>
          <p:nvPr/>
        </p:nvCxnSpPr>
        <p:spPr>
          <a:xfrm>
            <a:off x="776313" y="4488491"/>
            <a:ext cx="1706480" cy="0"/>
          </a:xfrm>
          <a:prstGeom prst="line">
            <a:avLst/>
          </a:prstGeom>
          <a:ln w="12700">
            <a:solidFill>
              <a:srgbClr val="3F3F3F">
                <a:alpha val="100000"/>
              </a:srgbClr>
            </a:solidFill>
            <a:prstDash val="dash"/>
            <a:headEnd type="none"/>
            <a:tailEnd type="none"/>
          </a:ln>
        </p:spPr>
      </p:cxnSp>
      <p:grpSp>
        <p:nvGrpSpPr>
          <p:cNvPr id="36" name="Group 36"/>
          <p:cNvGrpSpPr/>
          <p:nvPr/>
        </p:nvGrpSpPr>
        <p:grpSpPr>
          <a:xfrm>
            <a:off x="3618357" y="3987832"/>
            <a:ext cx="1896332" cy="2292477"/>
            <a:chOff x="3618357" y="3987832"/>
            <a:chExt cx="1896332" cy="2292477"/>
          </a:xfrm>
        </p:grpSpPr>
        <p:sp>
          <p:nvSpPr>
            <p:cNvPr id="37" name="AutoShape 37"/>
            <p:cNvSpPr/>
            <p:nvPr/>
          </p:nvSpPr>
          <p:spPr>
            <a:xfrm>
              <a:off x="3781711" y="3987832"/>
              <a:ext cx="1569625" cy="369284"/>
            </a:xfrm>
            <a:prstGeom prst="rect">
              <a:avLst/>
            </a:prstGeom>
            <a:noFill/>
            <a:ln/>
          </p:spPr>
        </p:sp>
        <p:sp>
          <p:nvSpPr>
            <p:cNvPr id="38" name="TextBox 38"/>
            <p:cNvSpPr txBox="1"/>
            <p:nvPr/>
          </p:nvSpPr>
          <p:spPr>
            <a:xfrm>
              <a:off x="3618357" y="4567523"/>
              <a:ext cx="1896332" cy="1712786"/>
            </a:xfrm>
            <a:prstGeom prst="rect">
              <a:avLst/>
            </a:prstGeom>
            <a:ln/>
          </p:spPr>
          <p:txBody>
            <a:bodyPr vert="horz" wrap="square" lIns="91440" tIns="45720" rIns="91440" bIns="0" rtlCol="0" anchor="t" anchorCtr="0">
              <a:spAutoFit/>
            </a:bodyPr>
            <a:lstStyle/>
            <a:p>
              <a:pPr algn="ctr">
                <a:lnSpc>
                  <a:spcPct val="130000"/>
                </a:lnSpc>
                <a:spcBef>
                  <a:spcPct val="0"/>
                </a:spcBef>
                <a:spcAft>
                  <a:spcPct val="0"/>
                </a:spcAft>
              </a:pPr>
              <a:r>
                <a:rPr lang="en-US" sz="1350">
                  <a:solidFill>
                    <a:srgbClr val="787878">
                      <a:alpha val="100000"/>
                    </a:srgbClr>
                  </a:solidFill>
                  <a:latin typeface="微软雅黑 Light"/>
                  <a:ea typeface="微软雅黑 Light"/>
                  <a:cs typeface="微软雅黑 Light"/>
                </a:rPr>
                <a:t>通过线上平台，本系统可以覆盖更广泛的用户群体，获得陪伴服务的需求在不断增长。</a:t>
              </a:r>
            </a:p>
          </p:txBody>
        </p:sp>
      </p:grpSp>
      <p:cxnSp>
        <p:nvCxnSpPr>
          <p:cNvPr id="39" name="Connector 39"/>
          <p:cNvCxnSpPr/>
          <p:nvPr/>
        </p:nvCxnSpPr>
        <p:spPr>
          <a:xfrm>
            <a:off x="3730881" y="4449539"/>
            <a:ext cx="1706480" cy="0"/>
          </a:xfrm>
          <a:prstGeom prst="line">
            <a:avLst/>
          </a:prstGeom>
          <a:ln w="12700">
            <a:solidFill>
              <a:srgbClr val="3F3F3F">
                <a:alpha val="100000"/>
              </a:srgbClr>
            </a:solidFill>
            <a:prstDash val="dash"/>
            <a:headEnd type="none"/>
            <a:tailEnd type="none"/>
          </a:ln>
        </p:spPr>
      </p:cxnSp>
      <p:grpSp>
        <p:nvGrpSpPr>
          <p:cNvPr id="40" name="Group 40"/>
          <p:cNvGrpSpPr/>
          <p:nvPr/>
        </p:nvGrpSpPr>
        <p:grpSpPr>
          <a:xfrm>
            <a:off x="6568440" y="4026789"/>
            <a:ext cx="1896332" cy="2292477"/>
            <a:chOff x="6568440" y="4026789"/>
            <a:chExt cx="1896332" cy="2292477"/>
          </a:xfrm>
        </p:grpSpPr>
        <p:sp>
          <p:nvSpPr>
            <p:cNvPr id="41" name="AutoShape 41"/>
            <p:cNvSpPr/>
            <p:nvPr/>
          </p:nvSpPr>
          <p:spPr>
            <a:xfrm>
              <a:off x="6731698" y="4026789"/>
              <a:ext cx="1569625" cy="369284"/>
            </a:xfrm>
            <a:prstGeom prst="rect">
              <a:avLst/>
            </a:prstGeom>
            <a:noFill/>
            <a:ln/>
          </p:spPr>
        </p:sp>
        <p:sp>
          <p:nvSpPr>
            <p:cNvPr id="42" name="TextBox 42"/>
            <p:cNvSpPr txBox="1"/>
            <p:nvPr/>
          </p:nvSpPr>
          <p:spPr>
            <a:xfrm>
              <a:off x="6568440" y="4606480"/>
              <a:ext cx="1896332" cy="1712786"/>
            </a:xfrm>
            <a:prstGeom prst="rect">
              <a:avLst/>
            </a:prstGeom>
            <a:ln/>
          </p:spPr>
          <p:txBody>
            <a:bodyPr vert="horz" wrap="square" lIns="91440" tIns="45720" rIns="91440" bIns="0" rtlCol="0" anchor="t" anchorCtr="0">
              <a:spAutoFit/>
            </a:bodyPr>
            <a:lstStyle/>
            <a:p>
              <a:pPr algn="ctr">
                <a:lnSpc>
                  <a:spcPct val="130000"/>
                </a:lnSpc>
                <a:spcBef>
                  <a:spcPct val="0"/>
                </a:spcBef>
                <a:spcAft>
                  <a:spcPct val="0"/>
                </a:spcAft>
              </a:pPr>
              <a:r>
                <a:rPr lang="en-US" sz="1350">
                  <a:solidFill>
                    <a:srgbClr val="787878">
                      <a:alpha val="100000"/>
                    </a:srgbClr>
                  </a:solidFill>
                  <a:latin typeface="微软雅黑 Light"/>
                  <a:ea typeface="微软雅黑 Light"/>
                  <a:cs typeface="微软雅黑 Light"/>
                </a:rPr>
                <a:t>本系统有助于降低社会成本，缓解社会压力，降低因缺乏陪伴而产生的社会问题。</a:t>
              </a:r>
            </a:p>
          </p:txBody>
        </p:sp>
      </p:grpSp>
      <p:cxnSp>
        <p:nvCxnSpPr>
          <p:cNvPr id="43" name="Connector 43"/>
          <p:cNvCxnSpPr/>
          <p:nvPr/>
        </p:nvCxnSpPr>
        <p:spPr>
          <a:xfrm>
            <a:off x="6680929" y="4488491"/>
            <a:ext cx="1706480" cy="0"/>
          </a:xfrm>
          <a:prstGeom prst="line">
            <a:avLst/>
          </a:prstGeom>
          <a:ln w="12700">
            <a:solidFill>
              <a:srgbClr val="3F3F3F">
                <a:alpha val="100000"/>
              </a:srgbClr>
            </a:solidFill>
            <a:prstDash val="dash"/>
            <a:headEnd type="none"/>
            <a:tailEnd type="none"/>
          </a:ln>
        </p:spPr>
      </p:cxnSp>
      <p:grpSp>
        <p:nvGrpSpPr>
          <p:cNvPr id="44" name="Group 44"/>
          <p:cNvGrpSpPr/>
          <p:nvPr/>
        </p:nvGrpSpPr>
        <p:grpSpPr>
          <a:xfrm>
            <a:off x="9441561" y="3985070"/>
            <a:ext cx="1896332" cy="2292477"/>
            <a:chOff x="9441561" y="3985070"/>
            <a:chExt cx="1896332" cy="2292477"/>
          </a:xfrm>
        </p:grpSpPr>
        <p:sp>
          <p:nvSpPr>
            <p:cNvPr id="45" name="AutoShape 45"/>
            <p:cNvSpPr/>
            <p:nvPr/>
          </p:nvSpPr>
          <p:spPr>
            <a:xfrm>
              <a:off x="9604915" y="3985070"/>
              <a:ext cx="1569625" cy="369284"/>
            </a:xfrm>
            <a:prstGeom prst="rect">
              <a:avLst/>
            </a:prstGeom>
            <a:noFill/>
            <a:ln/>
          </p:spPr>
        </p:sp>
        <p:sp>
          <p:nvSpPr>
            <p:cNvPr id="46" name="TextBox 46"/>
            <p:cNvSpPr txBox="1"/>
            <p:nvPr/>
          </p:nvSpPr>
          <p:spPr>
            <a:xfrm>
              <a:off x="9441561" y="4564761"/>
              <a:ext cx="1896332" cy="1712786"/>
            </a:xfrm>
            <a:prstGeom prst="rect">
              <a:avLst/>
            </a:prstGeom>
            <a:ln/>
          </p:spPr>
          <p:txBody>
            <a:bodyPr vert="horz" wrap="square" lIns="91440" tIns="45720" rIns="91440" bIns="0" rtlCol="0" anchor="t" anchorCtr="0">
              <a:spAutoFit/>
            </a:bodyPr>
            <a:lstStyle/>
            <a:p>
              <a:pPr algn="ctr">
                <a:lnSpc>
                  <a:spcPct val="130000"/>
                </a:lnSpc>
                <a:spcBef>
                  <a:spcPct val="0"/>
                </a:spcBef>
                <a:spcAft>
                  <a:spcPct val="0"/>
                </a:spcAft>
              </a:pPr>
              <a:r>
                <a:rPr lang="en-US" sz="1350">
                  <a:solidFill>
                    <a:srgbClr val="787878">
                      <a:alpha val="100000"/>
                    </a:srgbClr>
                  </a:solidFill>
                  <a:latin typeface="微软雅黑 Light"/>
                  <a:ea typeface="微软雅黑 Light"/>
                  <a:cs typeface="微软雅黑 Light"/>
                </a:rPr>
                <a:t>综合以上因素，本项目在未来具有广阔的发展前景和巨大的市场潜力。</a:t>
              </a:r>
            </a:p>
          </p:txBody>
        </p:sp>
      </p:grpSp>
      <p:cxnSp>
        <p:nvCxnSpPr>
          <p:cNvPr id="47" name="Connector 47"/>
          <p:cNvCxnSpPr/>
          <p:nvPr/>
        </p:nvCxnSpPr>
        <p:spPr>
          <a:xfrm>
            <a:off x="9554116" y="4446807"/>
            <a:ext cx="1706480" cy="0"/>
          </a:xfrm>
          <a:prstGeom prst="line">
            <a:avLst/>
          </a:prstGeom>
          <a:ln w="12700">
            <a:solidFill>
              <a:srgbClr val="3F3F3F">
                <a:alpha val="100000"/>
              </a:srgbClr>
            </a:solidFill>
            <a:prstDash val="dash"/>
            <a:headEnd type="none"/>
            <a:tailEnd type="none"/>
          </a:ln>
        </p:spPr>
      </p:cxnSp>
      <p:sp>
        <p:nvSpPr>
          <p:cNvPr id="48" name="AutoShape 48"/>
          <p:cNvSpPr/>
          <p:nvPr/>
        </p:nvSpPr>
        <p:spPr>
          <a:xfrm>
            <a:off x="763865" y="166034"/>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PEST分析</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AutoShape 4"/>
          <p:cNvSpPr/>
          <p:nvPr/>
        </p:nvSpPr>
        <p:spPr>
          <a:xfrm>
            <a:off x="4645126" y="2440999"/>
            <a:ext cx="2322576" cy="2322576"/>
          </a:xfrm>
          <a:prstGeom prst="ellipse">
            <a:avLst/>
          </a:prstGeom>
          <a:solidFill>
            <a:schemeClr val="accent1">
              <a:alpha val="100000"/>
            </a:schemeClr>
          </a:solidFill>
          <a:ln/>
        </p:spPr>
      </p:sp>
      <p:sp>
        <p:nvSpPr>
          <p:cNvPr id="5" name="TextBox 5"/>
          <p:cNvSpPr txBox="1"/>
          <p:nvPr/>
        </p:nvSpPr>
        <p:spPr>
          <a:xfrm>
            <a:off x="359000" y="1047453"/>
            <a:ext cx="4142078" cy="577015"/>
          </a:xfrm>
          <a:prstGeom prst="rect">
            <a:avLst/>
          </a:prstGeom>
          <a:ln/>
        </p:spPr>
        <p:txBody>
          <a:bodyPr vert="horz" wrap="square" lIns="123825" tIns="123825" rIns="57150" bIns="123825" rtlCol="0" anchor="t" anchorCtr="0">
            <a:normAutofit/>
          </a:bodyPr>
          <a:lstStyle/>
          <a:p>
            <a:pPr>
              <a:lnSpc>
                <a:spcPct val="125000"/>
              </a:lnSpc>
              <a:spcBef>
                <a:spcPts val="450"/>
              </a:spcBef>
            </a:pPr>
            <a:r>
              <a:rPr lang="en-US" sz="1725" b="1">
                <a:solidFill>
                  <a:schemeClr val="accent1">
                    <a:alpha val="100000"/>
                  </a:schemeClr>
                </a:solidFill>
                <a:latin typeface="Microsoft Yahei"/>
                <a:ea typeface="Microsoft Yahei"/>
                <a:cs typeface="Microsoft Yahei"/>
              </a:rPr>
              <a:t>市场规模增长</a:t>
            </a:r>
          </a:p>
        </p:txBody>
      </p:sp>
      <p:sp>
        <p:nvSpPr>
          <p:cNvPr id="6" name="TextBox 6"/>
          <p:cNvSpPr txBox="1"/>
          <p:nvPr/>
        </p:nvSpPr>
        <p:spPr>
          <a:xfrm>
            <a:off x="6986324" y="1047453"/>
            <a:ext cx="4280127" cy="577015"/>
          </a:xfrm>
          <a:prstGeom prst="rect">
            <a:avLst/>
          </a:prstGeom>
          <a:ln/>
        </p:spPr>
        <p:txBody>
          <a:bodyPr vert="horz" wrap="square" lIns="123825" tIns="123825" rIns="57150" bIns="123825" rtlCol="0" anchor="t" anchorCtr="0">
            <a:normAutofit/>
          </a:bodyPr>
          <a:lstStyle/>
          <a:p>
            <a:pPr>
              <a:lnSpc>
                <a:spcPct val="125000"/>
              </a:lnSpc>
              <a:spcBef>
                <a:spcPts val="450"/>
              </a:spcBef>
            </a:pPr>
            <a:r>
              <a:rPr lang="en-US" sz="1725" b="1">
                <a:solidFill>
                  <a:schemeClr val="accent1">
                    <a:alpha val="100000"/>
                  </a:schemeClr>
                </a:solidFill>
                <a:latin typeface="Microsoft Yahei"/>
                <a:ea typeface="Microsoft Yahei"/>
                <a:cs typeface="Microsoft Yahei"/>
              </a:rPr>
              <a:t>市场竞争加剧</a:t>
            </a:r>
          </a:p>
        </p:txBody>
      </p:sp>
      <p:sp>
        <p:nvSpPr>
          <p:cNvPr id="7" name="TextBox 7"/>
          <p:cNvSpPr txBox="1"/>
          <p:nvPr/>
        </p:nvSpPr>
        <p:spPr>
          <a:xfrm>
            <a:off x="6986324" y="2823680"/>
            <a:ext cx="4280127" cy="577015"/>
          </a:xfrm>
          <a:prstGeom prst="rect">
            <a:avLst/>
          </a:prstGeom>
          <a:ln/>
        </p:spPr>
        <p:txBody>
          <a:bodyPr vert="horz" wrap="square" lIns="123825" tIns="123825" rIns="57150" bIns="123825" rtlCol="0" anchor="t" anchorCtr="0">
            <a:normAutofit/>
          </a:bodyPr>
          <a:lstStyle/>
          <a:p>
            <a:pPr>
              <a:lnSpc>
                <a:spcPct val="125000"/>
              </a:lnSpc>
              <a:spcBef>
                <a:spcPts val="450"/>
              </a:spcBef>
            </a:pPr>
            <a:r>
              <a:rPr lang="en-US" sz="1725" b="1">
                <a:solidFill>
                  <a:schemeClr val="accent1">
                    <a:alpha val="100000"/>
                  </a:schemeClr>
                </a:solidFill>
                <a:latin typeface="Microsoft Yahei"/>
                <a:ea typeface="Microsoft Yahei"/>
                <a:cs typeface="Microsoft Yahei"/>
              </a:rPr>
              <a:t>创新与优化</a:t>
            </a:r>
          </a:p>
        </p:txBody>
      </p:sp>
      <p:sp>
        <p:nvSpPr>
          <p:cNvPr id="8" name="TextBox 8"/>
          <p:cNvSpPr txBox="1"/>
          <p:nvPr/>
        </p:nvSpPr>
        <p:spPr>
          <a:xfrm>
            <a:off x="6986324" y="4687762"/>
            <a:ext cx="4280127" cy="577015"/>
          </a:xfrm>
          <a:prstGeom prst="rect">
            <a:avLst/>
          </a:prstGeom>
          <a:ln/>
        </p:spPr>
        <p:txBody>
          <a:bodyPr vert="horz" wrap="square" lIns="123825" tIns="123825" rIns="57150" bIns="123825" rtlCol="0" anchor="t" anchorCtr="0">
            <a:normAutofit/>
          </a:bodyPr>
          <a:lstStyle/>
          <a:p>
            <a:pPr>
              <a:lnSpc>
                <a:spcPct val="125000"/>
              </a:lnSpc>
              <a:spcBef>
                <a:spcPts val="450"/>
              </a:spcBef>
            </a:pPr>
            <a:r>
              <a:rPr lang="en-US" sz="1725" b="1">
                <a:solidFill>
                  <a:schemeClr val="accent1">
                    <a:alpha val="100000"/>
                  </a:schemeClr>
                </a:solidFill>
                <a:latin typeface="Microsoft Yahei"/>
                <a:ea typeface="Microsoft Yahei"/>
                <a:cs typeface="Microsoft Yahei"/>
              </a:rPr>
              <a:t>市场趋势</a:t>
            </a:r>
          </a:p>
        </p:txBody>
      </p:sp>
      <p:sp>
        <p:nvSpPr>
          <p:cNvPr id="9" name="TextBox 9"/>
          <p:cNvSpPr txBox="1"/>
          <p:nvPr/>
        </p:nvSpPr>
        <p:spPr>
          <a:xfrm>
            <a:off x="359000" y="4687762"/>
            <a:ext cx="4204837" cy="595160"/>
          </a:xfrm>
          <a:prstGeom prst="rect">
            <a:avLst/>
          </a:prstGeom>
          <a:ln/>
        </p:spPr>
        <p:txBody>
          <a:bodyPr vert="horz" wrap="square" lIns="123825" tIns="123825" rIns="57150" bIns="123825" rtlCol="0" anchor="t" anchorCtr="0">
            <a:normAutofit/>
          </a:bodyPr>
          <a:lstStyle/>
          <a:p>
            <a:pPr>
              <a:lnSpc>
                <a:spcPct val="125000"/>
              </a:lnSpc>
              <a:spcBef>
                <a:spcPts val="450"/>
              </a:spcBef>
            </a:pPr>
            <a:r>
              <a:rPr lang="en-US" sz="1875" b="1">
                <a:solidFill>
                  <a:schemeClr val="accent1">
                    <a:alpha val="100000"/>
                  </a:schemeClr>
                </a:solidFill>
                <a:latin typeface="Microsoft Yahei"/>
                <a:ea typeface="Microsoft Yahei"/>
                <a:cs typeface="Microsoft Yahei"/>
              </a:rPr>
              <a:t>应用场景拓宽</a:t>
            </a:r>
          </a:p>
        </p:txBody>
      </p:sp>
      <p:sp>
        <p:nvSpPr>
          <p:cNvPr id="10" name="TextBox 10"/>
          <p:cNvSpPr txBox="1"/>
          <p:nvPr/>
        </p:nvSpPr>
        <p:spPr>
          <a:xfrm>
            <a:off x="359000" y="2823680"/>
            <a:ext cx="4142078" cy="577015"/>
          </a:xfrm>
          <a:prstGeom prst="rect">
            <a:avLst/>
          </a:prstGeom>
          <a:ln/>
        </p:spPr>
        <p:txBody>
          <a:bodyPr vert="horz" wrap="square" lIns="123825" tIns="123825" rIns="57150" bIns="123825" rtlCol="0" anchor="t" anchorCtr="0">
            <a:normAutofit/>
          </a:bodyPr>
          <a:lstStyle/>
          <a:p>
            <a:pPr>
              <a:lnSpc>
                <a:spcPct val="125000"/>
              </a:lnSpc>
              <a:spcBef>
                <a:spcPts val="450"/>
              </a:spcBef>
            </a:pPr>
            <a:r>
              <a:rPr lang="en-US" sz="1725" b="1">
                <a:solidFill>
                  <a:schemeClr val="accent1">
                    <a:alpha val="100000"/>
                  </a:schemeClr>
                </a:solidFill>
                <a:latin typeface="Microsoft Yahei"/>
                <a:ea typeface="Microsoft Yahei"/>
                <a:cs typeface="Microsoft Yahei"/>
              </a:rPr>
              <a:t>技术升级</a:t>
            </a:r>
          </a:p>
        </p:txBody>
      </p:sp>
      <p:sp>
        <p:nvSpPr>
          <p:cNvPr id="11" name="TextBox 11"/>
          <p:cNvSpPr txBox="1"/>
          <p:nvPr/>
        </p:nvSpPr>
        <p:spPr>
          <a:xfrm>
            <a:off x="359000" y="1392936"/>
            <a:ext cx="4273540" cy="1146772"/>
          </a:xfrm>
          <a:prstGeom prst="rect">
            <a:avLst/>
          </a:prstGeom>
          <a:ln/>
        </p:spPr>
        <p:txBody>
          <a:bodyPr vert="horz" wrap="square" lIns="123825" tIns="123825" rIns="57150" bIns="123825" rtlCol="0" anchor="t" anchorCtr="0">
            <a:normAutofit/>
          </a:bodyPr>
          <a:lstStyle/>
          <a:p>
            <a:pPr>
              <a:lnSpc>
                <a:spcPct val="150000"/>
              </a:lnSpc>
            </a:pPr>
            <a:r>
              <a:rPr lang="en-US" sz="1275">
                <a:solidFill>
                  <a:schemeClr val="dk1">
                    <a:alpha val="100000"/>
                  </a:schemeClr>
                </a:solidFill>
                <a:latin typeface="Microsoft Yahei"/>
                <a:ea typeface="Microsoft Yahei"/>
                <a:cs typeface="Microsoft Yahei"/>
              </a:rPr>
              <a:t>AI陪伴系统的市场正在快速增长，随着需求日益增长，AI陪伴系统以其便捷、高效和个性化的特点，受到了越来越多用户的青睐。</a:t>
            </a:r>
          </a:p>
        </p:txBody>
      </p:sp>
      <p:sp>
        <p:nvSpPr>
          <p:cNvPr id="12" name="TextBox 12"/>
          <p:cNvSpPr txBox="1"/>
          <p:nvPr/>
        </p:nvSpPr>
        <p:spPr>
          <a:xfrm>
            <a:off x="359000" y="3189701"/>
            <a:ext cx="4273540" cy="1146772"/>
          </a:xfrm>
          <a:prstGeom prst="rect">
            <a:avLst/>
          </a:prstGeom>
          <a:ln/>
        </p:spPr>
        <p:txBody>
          <a:bodyPr vert="horz" wrap="square" lIns="123825" tIns="123825" rIns="57150" bIns="123825" rtlCol="0" anchor="t" anchorCtr="0">
            <a:normAutofit/>
          </a:bodyPr>
          <a:lstStyle/>
          <a:p>
            <a:pPr>
              <a:lnSpc>
                <a:spcPct val="150000"/>
              </a:lnSpc>
            </a:pPr>
            <a:r>
              <a:rPr lang="en-US" sz="1275">
                <a:solidFill>
                  <a:schemeClr val="dk1">
                    <a:alpha val="100000"/>
                  </a:schemeClr>
                </a:solidFill>
                <a:latin typeface="Microsoft Yahei"/>
                <a:ea typeface="Microsoft Yahei"/>
                <a:cs typeface="Microsoft Yahei"/>
              </a:rPr>
              <a:t>从技术层面来看，AI陪伴系统的技术不断升级和优化，随着深度学习、自然语言处理、情感计算等技术的不断发展，AI陪伴系统能够更好地理解和回应人类的需求和情感。</a:t>
            </a:r>
          </a:p>
        </p:txBody>
      </p:sp>
      <p:sp>
        <p:nvSpPr>
          <p:cNvPr id="13" name="TextBox 13"/>
          <p:cNvSpPr txBox="1"/>
          <p:nvPr/>
        </p:nvSpPr>
        <p:spPr>
          <a:xfrm>
            <a:off x="359000" y="5056471"/>
            <a:ext cx="4273540" cy="1146772"/>
          </a:xfrm>
          <a:prstGeom prst="rect">
            <a:avLst/>
          </a:prstGeom>
          <a:ln/>
        </p:spPr>
        <p:txBody>
          <a:bodyPr vert="horz" wrap="square" lIns="123825" tIns="123825" rIns="57150" bIns="123825" rtlCol="0" anchor="t" anchorCtr="0">
            <a:normAutofit/>
          </a:bodyPr>
          <a:lstStyle/>
          <a:p>
            <a:pPr>
              <a:lnSpc>
                <a:spcPct val="150000"/>
              </a:lnSpc>
            </a:pPr>
            <a:r>
              <a:rPr lang="en-US" sz="1275">
                <a:solidFill>
                  <a:schemeClr val="dk1">
                    <a:alpha val="100000"/>
                  </a:schemeClr>
                </a:solidFill>
                <a:latin typeface="Microsoft Yahei"/>
                <a:ea typeface="Microsoft Yahei"/>
                <a:cs typeface="Microsoft Yahei"/>
              </a:rPr>
              <a:t>从应用领域来看，Al陪伴系统的应用场景不断拓宽，除了传统的社交、娱乐等领域外，AI陪伴系统还逐渐渗透到教育、医疗、养老等多领域。</a:t>
            </a:r>
          </a:p>
        </p:txBody>
      </p:sp>
      <p:sp>
        <p:nvSpPr>
          <p:cNvPr id="14" name="TextBox 14"/>
          <p:cNvSpPr txBox="1"/>
          <p:nvPr/>
        </p:nvSpPr>
        <p:spPr>
          <a:xfrm>
            <a:off x="6986324" y="1392936"/>
            <a:ext cx="4273540" cy="1146772"/>
          </a:xfrm>
          <a:prstGeom prst="rect">
            <a:avLst/>
          </a:prstGeom>
          <a:ln/>
        </p:spPr>
        <p:txBody>
          <a:bodyPr vert="horz" wrap="square" lIns="123825" tIns="123825" rIns="57150" bIns="123825" rtlCol="0" anchor="t" anchorCtr="0">
            <a:normAutofit/>
          </a:bodyPr>
          <a:lstStyle/>
          <a:p>
            <a:pPr>
              <a:lnSpc>
                <a:spcPct val="150000"/>
              </a:lnSpc>
            </a:pPr>
            <a:r>
              <a:rPr lang="en-US" sz="1275">
                <a:solidFill>
                  <a:schemeClr val="dk1">
                    <a:alpha val="100000"/>
                  </a:schemeClr>
                </a:solidFill>
                <a:latin typeface="Microsoft Yahei"/>
                <a:ea typeface="Microsoft Yahei"/>
                <a:cs typeface="Microsoft Yahei"/>
              </a:rPr>
              <a:t>从市场竞争来看，AI陪伴系统的市场竞争也日益激烈，越来越多的企业开始进入这一领域，推出各具特色的AI陪伴产品。</a:t>
            </a:r>
          </a:p>
        </p:txBody>
      </p:sp>
      <p:sp>
        <p:nvSpPr>
          <p:cNvPr id="15" name="TextBox 15"/>
          <p:cNvSpPr txBox="1"/>
          <p:nvPr/>
        </p:nvSpPr>
        <p:spPr>
          <a:xfrm>
            <a:off x="6986324" y="3189701"/>
            <a:ext cx="4273540" cy="1146772"/>
          </a:xfrm>
          <a:prstGeom prst="rect">
            <a:avLst/>
          </a:prstGeom>
          <a:ln/>
        </p:spPr>
        <p:txBody>
          <a:bodyPr vert="horz" wrap="square" lIns="123825" tIns="123825" rIns="57150" bIns="123825" rtlCol="0" anchor="t" anchorCtr="0">
            <a:normAutofit/>
          </a:bodyPr>
          <a:lstStyle/>
          <a:p>
            <a:pPr>
              <a:lnSpc>
                <a:spcPct val="150000"/>
              </a:lnSpc>
            </a:pPr>
            <a:r>
              <a:rPr lang="en-US" sz="1275">
                <a:solidFill>
                  <a:schemeClr val="dk1">
                    <a:alpha val="100000"/>
                  </a:schemeClr>
                </a:solidFill>
                <a:latin typeface="Microsoft Yahei"/>
                <a:ea typeface="Microsoft Yahei"/>
                <a:cs typeface="Microsoft Yahei"/>
              </a:rPr>
              <a:t>为了在市场中脱颖而出，企业需要不断创新和优化产品，提高用户体验和服务质量。同时，政府和相关机构也需要加强监管和规范市场秩序，促进市场的健康发展。</a:t>
            </a:r>
          </a:p>
        </p:txBody>
      </p:sp>
      <p:sp>
        <p:nvSpPr>
          <p:cNvPr id="16" name="TextBox 16"/>
          <p:cNvSpPr txBox="1"/>
          <p:nvPr/>
        </p:nvSpPr>
        <p:spPr>
          <a:xfrm>
            <a:off x="6986324" y="5056471"/>
            <a:ext cx="4273540" cy="1146772"/>
          </a:xfrm>
          <a:prstGeom prst="rect">
            <a:avLst/>
          </a:prstGeom>
          <a:ln/>
        </p:spPr>
        <p:txBody>
          <a:bodyPr vert="horz" wrap="square" lIns="123825" tIns="123825" rIns="57150" bIns="123825" rtlCol="0" anchor="t" anchorCtr="0">
            <a:normAutofit fontScale="85000" lnSpcReduction="20000"/>
          </a:bodyPr>
          <a:lstStyle/>
          <a:p>
            <a:pPr>
              <a:lnSpc>
                <a:spcPct val="150000"/>
              </a:lnSpc>
            </a:pPr>
            <a:r>
              <a:rPr lang="en-US" sz="1275">
                <a:solidFill>
                  <a:schemeClr val="dk1">
                    <a:alpha val="100000"/>
                  </a:schemeClr>
                </a:solidFill>
                <a:latin typeface="Microsoft Yahei"/>
                <a:ea typeface="Microsoft Yahei"/>
                <a:cs typeface="Microsoft Yahei"/>
              </a:rPr>
              <a:t>AI陪伴系统的市场发展趋势呈现出快速增长、技术升级、应用场景拓宽和竞争加剧等特点，随着技术的不断进步和应用场景的不断拓宽，AI陪伴系统将在未来发挥更加重要的作用，为人们的生活带来更多便利。</a:t>
            </a:r>
          </a:p>
        </p:txBody>
      </p:sp>
      <p:sp>
        <p:nvSpPr>
          <p:cNvPr id="17" name="Freeform 17"/>
          <p:cNvSpPr/>
          <p:nvPr/>
        </p:nvSpPr>
        <p:spPr>
          <a:xfrm>
            <a:off x="5235809" y="3031681"/>
            <a:ext cx="1141211" cy="1141211"/>
          </a:xfrm>
          <a:custGeom>
            <a:avLst/>
            <a:gdLst/>
            <a:ahLst/>
            <a:cxnLst/>
            <a:rect l="l" t="t" r="r" b="b"/>
            <a:pathLst>
              <a:path w="304800" h="304800">
                <a:moveTo>
                  <a:pt x="288693" y="85468"/>
                </a:moveTo>
                <a:lnTo>
                  <a:pt x="193700" y="180461"/>
                </a:lnTo>
                <a:lnTo>
                  <a:pt x="301971" y="180461"/>
                </a:lnTo>
                <a:cubicBezTo>
                  <a:pt x="303686" y="171298"/>
                  <a:pt x="304800" y="162001"/>
                  <a:pt x="304800" y="152400"/>
                </a:cubicBezTo>
                <a:cubicBezTo>
                  <a:pt x="304800" y="128273"/>
                  <a:pt x="298694" y="105747"/>
                  <a:pt x="288693" y="85468"/>
                </a:cubicBezTo>
                <a:close/>
                <a:moveTo>
                  <a:pt x="200549" y="145161"/>
                </a:moveTo>
                <a:lnTo>
                  <a:pt x="278682" y="67066"/>
                </a:lnTo>
                <a:cubicBezTo>
                  <a:pt x="260080" y="39643"/>
                  <a:pt x="232543" y="19241"/>
                  <a:pt x="200549" y="8525"/>
                </a:cubicBezTo>
                <a:lnTo>
                  <a:pt x="200549" y="145161"/>
                </a:lnTo>
                <a:close/>
                <a:moveTo>
                  <a:pt x="159525" y="200549"/>
                </a:moveTo>
                <a:lnTo>
                  <a:pt x="237677" y="278721"/>
                </a:lnTo>
                <a:cubicBezTo>
                  <a:pt x="265138" y="260156"/>
                  <a:pt x="285560" y="232581"/>
                  <a:pt x="296275" y="200549"/>
                </a:cubicBezTo>
                <a:lnTo>
                  <a:pt x="159525" y="200549"/>
                </a:lnTo>
                <a:close/>
                <a:moveTo>
                  <a:pt x="180432" y="111862"/>
                </a:moveTo>
                <a:lnTo>
                  <a:pt x="180432" y="2829"/>
                </a:lnTo>
                <a:cubicBezTo>
                  <a:pt x="171317" y="1133"/>
                  <a:pt x="162001" y="0"/>
                  <a:pt x="152400" y="0"/>
                </a:cubicBezTo>
                <a:cubicBezTo>
                  <a:pt x="128064" y="0"/>
                  <a:pt x="105366" y="6229"/>
                  <a:pt x="84963" y="16393"/>
                </a:cubicBezTo>
                <a:lnTo>
                  <a:pt x="180432" y="111862"/>
                </a:lnTo>
                <a:close/>
                <a:moveTo>
                  <a:pt x="124368" y="193853"/>
                </a:moveTo>
                <a:lnTo>
                  <a:pt x="124368" y="301981"/>
                </a:lnTo>
                <a:cubicBezTo>
                  <a:pt x="133483" y="303686"/>
                  <a:pt x="142799" y="304800"/>
                  <a:pt x="152400" y="304800"/>
                </a:cubicBezTo>
                <a:cubicBezTo>
                  <a:pt x="176508" y="304800"/>
                  <a:pt x="198987" y="298694"/>
                  <a:pt x="219266" y="288722"/>
                </a:cubicBezTo>
                <a:lnTo>
                  <a:pt x="124368" y="193853"/>
                </a:lnTo>
                <a:close/>
                <a:moveTo>
                  <a:pt x="104232" y="159763"/>
                </a:moveTo>
                <a:lnTo>
                  <a:pt x="26194" y="237792"/>
                </a:lnTo>
                <a:cubicBezTo>
                  <a:pt x="44758" y="265176"/>
                  <a:pt x="72276" y="285569"/>
                  <a:pt x="104232" y="296285"/>
                </a:cubicBezTo>
                <a:lnTo>
                  <a:pt x="104232" y="159763"/>
                </a:lnTo>
                <a:close/>
                <a:moveTo>
                  <a:pt x="2829" y="124368"/>
                </a:moveTo>
                <a:cubicBezTo>
                  <a:pt x="1133" y="133483"/>
                  <a:pt x="0" y="142799"/>
                  <a:pt x="0" y="152400"/>
                </a:cubicBezTo>
                <a:cubicBezTo>
                  <a:pt x="0" y="176584"/>
                  <a:pt x="6144" y="199130"/>
                  <a:pt x="16145" y="219408"/>
                </a:cubicBezTo>
                <a:lnTo>
                  <a:pt x="111195" y="124358"/>
                </a:lnTo>
                <a:lnTo>
                  <a:pt x="2829" y="124358"/>
                </a:lnTo>
                <a:close/>
                <a:moveTo>
                  <a:pt x="66637" y="26489"/>
                </a:moveTo>
                <a:cubicBezTo>
                  <a:pt x="39443" y="45053"/>
                  <a:pt x="19183" y="72428"/>
                  <a:pt x="8525" y="104232"/>
                </a:cubicBezTo>
                <a:lnTo>
                  <a:pt x="144389" y="104232"/>
                </a:lnTo>
                <a:lnTo>
                  <a:pt x="66637" y="26489"/>
                </a:lnTo>
                <a:close/>
              </a:path>
            </a:pathLst>
          </a:custGeom>
          <a:solidFill>
            <a:schemeClr val="lt1">
              <a:alpha val="100000"/>
            </a:schemeClr>
          </a:solidFill>
          <a:ln/>
        </p:spPr>
      </p:sp>
      <p:sp>
        <p:nvSpPr>
          <p:cNvPr id="18" name="AutoShape 18"/>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市场发展趋势</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86814" y="2600498"/>
            <a:ext cx="9094573" cy="2384854"/>
          </a:xfrm>
          <a:prstGeom prst="rect">
            <a:avLst/>
          </a:prstGeom>
          <a:solidFill>
            <a:srgbClr val="AAC2AC">
              <a:alpha val="100000"/>
            </a:srgbClr>
          </a:solidFill>
          <a:ln/>
        </p:spPr>
      </p:sp>
      <p:sp>
        <p:nvSpPr>
          <p:cNvPr id="3" name="AutoShape 3"/>
          <p:cNvSpPr/>
          <p:nvPr/>
        </p:nvSpPr>
        <p:spPr>
          <a:xfrm>
            <a:off x="5118438" y="3623054"/>
            <a:ext cx="2031326" cy="646331"/>
          </a:xfrm>
          <a:prstGeom prst="rect">
            <a:avLst/>
          </a:prstGeom>
          <a:noFill/>
          <a:ln/>
        </p:spPr>
        <p:txBody>
          <a:bodyPr vert="horz" wrap="square" lIns="91440" tIns="45720" rIns="91440" bIns="45720" rtlCol="0" anchor="t" anchorCtr="0">
            <a:normAutofit fontScale="62500" lnSpcReduction="20000"/>
          </a:bodyPr>
          <a:lstStyle/>
          <a:p>
            <a:pPr algn="ctr">
              <a:defRPr/>
            </a:pPr>
            <a:r>
              <a:rPr lang="en-US" sz="3600">
                <a:solidFill>
                  <a:srgbClr val="FFFFFF">
                    <a:alpha val="100000"/>
                  </a:srgbClr>
                </a:solidFill>
                <a:latin typeface="微软雅黑 Light"/>
                <a:ea typeface="微软雅黑 Light"/>
                <a:cs typeface="微软雅黑 Light"/>
              </a:rPr>
              <a:t>市场营销计划</a:t>
            </a:r>
            <a:endParaRPr lang="en-US" sz="1100"/>
          </a:p>
        </p:txBody>
      </p:sp>
      <p:sp>
        <p:nvSpPr>
          <p:cNvPr id="4" name="AutoShape 4"/>
          <p:cNvSpPr/>
          <p:nvPr/>
        </p:nvSpPr>
        <p:spPr>
          <a:xfrm>
            <a:off x="4868966" y="4172114"/>
            <a:ext cx="2595582" cy="369332"/>
          </a:xfrm>
          <a:prstGeom prst="rect">
            <a:avLst/>
          </a:prstGeom>
          <a:noFill/>
          <a:ln/>
        </p:spPr>
        <p:txBody>
          <a:bodyPr vert="horz" wrap="none" lIns="91440" tIns="45720" rIns="91440" bIns="45720" rtlCol="0" anchor="t" anchorCtr="0">
            <a:noAutofit/>
          </a:bodyPr>
          <a:lstStyle/>
          <a:p>
            <a:pPr algn="l">
              <a:defRPr/>
            </a:pPr>
            <a:endParaRPr lang="en-US" sz="1100"/>
          </a:p>
        </p:txBody>
      </p:sp>
      <p:grpSp>
        <p:nvGrpSpPr>
          <p:cNvPr id="5" name="Group 5"/>
          <p:cNvGrpSpPr/>
          <p:nvPr/>
        </p:nvGrpSpPr>
        <p:grpSpPr>
          <a:xfrm>
            <a:off x="4984432" y="1086993"/>
            <a:ext cx="2299335" cy="2299335"/>
            <a:chOff x="4984432" y="1086993"/>
            <a:chExt cx="2299335" cy="2299335"/>
          </a:xfrm>
        </p:grpSpPr>
        <p:sp>
          <p:nvSpPr>
            <p:cNvPr id="6" name="AutoShape 6"/>
            <p:cNvSpPr/>
            <p:nvPr/>
          </p:nvSpPr>
          <p:spPr>
            <a:xfrm>
              <a:off x="4984432" y="1086993"/>
              <a:ext cx="2299335" cy="2299335"/>
            </a:xfrm>
            <a:prstGeom prst="diamond">
              <a:avLst/>
            </a:prstGeom>
            <a:solidFill>
              <a:srgbClr val="F3D3BC">
                <a:alpha val="100000"/>
              </a:srgbClr>
            </a:solidFill>
            <a:ln/>
          </p:spPr>
        </p:sp>
        <p:sp>
          <p:nvSpPr>
            <p:cNvPr id="7" name="TextBox 7"/>
            <p:cNvSpPr txBox="1"/>
            <p:nvPr/>
          </p:nvSpPr>
          <p:spPr>
            <a:xfrm>
              <a:off x="5462874" y="1537145"/>
              <a:ext cx="1342454" cy="1323404"/>
            </a:xfrm>
            <a:prstGeom prst="rect">
              <a:avLst/>
            </a:prstGeom>
            <a:noFill/>
            <a:ln/>
          </p:spPr>
          <p:txBody>
            <a:bodyPr vert="horz" wrap="square" lIns="91440" tIns="45720" rIns="91440" bIns="45720" rtlCol="0" anchor="t" anchorCtr="0">
              <a:spAutoFit/>
            </a:bodyPr>
            <a:lstStyle/>
            <a:p>
              <a:pPr algn="ctr">
                <a:lnSpc>
                  <a:spcPct val="80000"/>
                </a:lnSpc>
              </a:pPr>
              <a:r>
                <a:rPr lang="en-US" sz="8000">
                  <a:solidFill>
                    <a:srgbClr val="FFFFFF">
                      <a:alpha val="100000"/>
                    </a:srgbClr>
                  </a:solidFill>
                  <a:latin typeface="微软雅黑 Light"/>
                  <a:ea typeface="微软雅黑 Light"/>
                  <a:cs typeface="微软雅黑 Light"/>
                </a:rPr>
                <a:t>03</a:t>
              </a:r>
            </a:p>
          </p:txBody>
        </p:sp>
        <p:sp>
          <p:nvSpPr>
            <p:cNvPr id="8" name="AutoShape 8"/>
            <p:cNvSpPr/>
            <p:nvPr/>
          </p:nvSpPr>
          <p:spPr>
            <a:xfrm>
              <a:off x="5977795" y="2994088"/>
              <a:ext cx="312515" cy="312515"/>
            </a:xfrm>
            <a:prstGeom prst="diamond">
              <a:avLst/>
            </a:prstGeom>
            <a:solidFill>
              <a:srgbClr val="FFFFFF">
                <a:alpha val="100000"/>
              </a:srgbClr>
            </a:solidFill>
            <a:ln/>
          </p:spPr>
        </p:sp>
      </p:grpSp>
      <p:sp>
        <p:nvSpPr>
          <p:cNvPr id="9" name="AutoShape 9"/>
          <p:cNvSpPr/>
          <p:nvPr/>
        </p:nvSpPr>
        <p:spPr>
          <a:xfrm>
            <a:off x="0" y="2600498"/>
            <a:ext cx="6134100" cy="2384854"/>
          </a:xfrm>
          <a:prstGeom prst="rect">
            <a:avLst/>
          </a:prstGeom>
          <a:solidFill>
            <a:srgbClr val="AAC2AC">
              <a:alpha val="100000"/>
            </a:srgbClr>
          </a:solidFill>
          <a:ln/>
        </p:spPr>
      </p:sp>
      <p:sp>
        <p:nvSpPr>
          <p:cNvPr id="10" name="AutoShape 10"/>
          <p:cNvSpPr/>
          <p:nvPr/>
        </p:nvSpPr>
        <p:spPr>
          <a:xfrm>
            <a:off x="6134098" y="2600498"/>
            <a:ext cx="6134100" cy="2384854"/>
          </a:xfrm>
          <a:prstGeom prst="rect">
            <a:avLst/>
          </a:prstGeom>
          <a:solidFill>
            <a:srgbClr val="AAC2AC">
              <a:alpha val="100000"/>
            </a:srgbClr>
          </a:solidFill>
          <a:ln/>
        </p:spPr>
      </p:sp>
      <p:sp>
        <p:nvSpPr>
          <p:cNvPr id="11" name="矩形 10">
            <a:extLst>
              <a:ext uri="{FF2B5EF4-FFF2-40B4-BE49-F238E27FC236}">
                <a16:creationId xmlns:a16="http://schemas.microsoft.com/office/drawing/2014/main" id="{9487F800-AEA5-E87F-5B55-F20B7222B5A9}"/>
              </a:ext>
            </a:extLst>
          </p:cNvPr>
          <p:cNvSpPr/>
          <p:nvPr/>
        </p:nvSpPr>
        <p:spPr>
          <a:xfrm>
            <a:off x="3964232" y="3073257"/>
            <a:ext cx="4339650" cy="923330"/>
          </a:xfrm>
          <a:prstGeom prst="rect">
            <a:avLst/>
          </a:prstGeom>
          <a:noFill/>
        </p:spPr>
        <p:txBody>
          <a:bodyPr wrap="none" lIns="91440" tIns="45720" rIns="91440" bIns="45720">
            <a:spAutoFit/>
          </a:bodyPr>
          <a:lstStyle/>
          <a:p>
            <a:pPr algn="ct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微软雅黑 Light"/>
                <a:ea typeface="微软雅黑 Light"/>
              </a:rPr>
              <a:t>市场营销计划</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grpSp>
        <p:nvGrpSpPr>
          <p:cNvPr id="4" name="Group 4"/>
          <p:cNvGrpSpPr/>
          <p:nvPr/>
        </p:nvGrpSpPr>
        <p:grpSpPr>
          <a:xfrm>
            <a:off x="4211574" y="4310920"/>
            <a:ext cx="774383" cy="2547080"/>
            <a:chOff x="4211574" y="4310920"/>
            <a:chExt cx="774383" cy="2547080"/>
          </a:xfrm>
        </p:grpSpPr>
        <p:sp>
          <p:nvSpPr>
            <p:cNvPr id="5" name="Freeform 5"/>
            <p:cNvSpPr/>
            <p:nvPr/>
          </p:nvSpPr>
          <p:spPr>
            <a:xfrm>
              <a:off x="4211574" y="4310920"/>
              <a:ext cx="774383" cy="2547080"/>
            </a:xfrm>
            <a:custGeom>
              <a:avLst/>
              <a:gdLst/>
              <a:ahLst/>
              <a:cxnLst/>
              <a:rect l="l" t="t" r="r" b="b"/>
              <a:pathLst>
                <a:path w="325" h="1069">
                  <a:moveTo>
                    <a:pt x="325" y="1069"/>
                  </a:moveTo>
                  <a:lnTo>
                    <a:pt x="0" y="1069"/>
                  </a:lnTo>
                  <a:lnTo>
                    <a:pt x="163" y="0"/>
                  </a:lnTo>
                  <a:lnTo>
                    <a:pt x="325" y="1069"/>
                  </a:lnTo>
                  <a:close/>
                </a:path>
              </a:pathLst>
            </a:custGeom>
            <a:solidFill>
              <a:srgbClr val="BFBFBF">
                <a:alpha val="100000"/>
              </a:srgbClr>
            </a:solidFill>
            <a:ln/>
          </p:spPr>
        </p:sp>
        <p:sp>
          <p:nvSpPr>
            <p:cNvPr id="6" name="TextBox 6"/>
            <p:cNvSpPr txBox="1"/>
            <p:nvPr/>
          </p:nvSpPr>
          <p:spPr>
            <a:xfrm>
              <a:off x="4279963"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7" name="Group 7"/>
          <p:cNvGrpSpPr/>
          <p:nvPr/>
        </p:nvGrpSpPr>
        <p:grpSpPr>
          <a:xfrm>
            <a:off x="4984718" y="1985963"/>
            <a:ext cx="769620" cy="4872038"/>
            <a:chOff x="4984718" y="1985963"/>
            <a:chExt cx="769620" cy="4872038"/>
          </a:xfrm>
        </p:grpSpPr>
        <p:sp>
          <p:nvSpPr>
            <p:cNvPr id="8" name="Freeform 8"/>
            <p:cNvSpPr/>
            <p:nvPr/>
          </p:nvSpPr>
          <p:spPr>
            <a:xfrm>
              <a:off x="4984718" y="1985963"/>
              <a:ext cx="769620" cy="4872038"/>
            </a:xfrm>
            <a:custGeom>
              <a:avLst/>
              <a:gdLst/>
              <a:ahLst/>
              <a:cxnLst/>
              <a:rect l="l" t="t" r="r" b="b"/>
              <a:pathLst>
                <a:path w="323" h="1386">
                  <a:moveTo>
                    <a:pt x="323" y="1386"/>
                  </a:moveTo>
                  <a:lnTo>
                    <a:pt x="0" y="1386"/>
                  </a:lnTo>
                  <a:lnTo>
                    <a:pt x="162" y="0"/>
                  </a:lnTo>
                  <a:lnTo>
                    <a:pt x="323" y="1386"/>
                  </a:lnTo>
                  <a:close/>
                </a:path>
              </a:pathLst>
            </a:custGeom>
            <a:solidFill>
              <a:srgbClr val="ADB5BF">
                <a:alpha val="100000"/>
              </a:srgbClr>
            </a:solidFill>
            <a:ln/>
          </p:spPr>
        </p:sp>
        <p:sp>
          <p:nvSpPr>
            <p:cNvPr id="9" name="TextBox 9"/>
            <p:cNvSpPr txBox="1"/>
            <p:nvPr/>
          </p:nvSpPr>
          <p:spPr>
            <a:xfrm>
              <a:off x="5030438"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10" name="Group 10"/>
          <p:cNvGrpSpPr/>
          <p:nvPr/>
        </p:nvGrpSpPr>
        <p:grpSpPr>
          <a:xfrm>
            <a:off x="5738908" y="2662619"/>
            <a:ext cx="769620" cy="4195381"/>
            <a:chOff x="5738908" y="2662619"/>
            <a:chExt cx="769620" cy="4195381"/>
          </a:xfrm>
        </p:grpSpPr>
        <p:sp>
          <p:nvSpPr>
            <p:cNvPr id="11" name="Freeform 11"/>
            <p:cNvSpPr/>
            <p:nvPr/>
          </p:nvSpPr>
          <p:spPr>
            <a:xfrm>
              <a:off x="5738908" y="2662619"/>
              <a:ext cx="769620" cy="4195381"/>
            </a:xfrm>
            <a:custGeom>
              <a:avLst/>
              <a:gdLst/>
              <a:ahLst/>
              <a:cxnLst/>
              <a:rect l="l" t="t" r="r" b="b"/>
              <a:pathLst>
                <a:path w="323" h="1705">
                  <a:moveTo>
                    <a:pt x="323" y="1705"/>
                  </a:moveTo>
                  <a:lnTo>
                    <a:pt x="0" y="1705"/>
                  </a:lnTo>
                  <a:lnTo>
                    <a:pt x="160" y="0"/>
                  </a:lnTo>
                  <a:lnTo>
                    <a:pt x="323" y="1705"/>
                  </a:lnTo>
                  <a:close/>
                </a:path>
              </a:pathLst>
            </a:custGeom>
            <a:solidFill>
              <a:srgbClr val="EBB690">
                <a:alpha val="100000"/>
              </a:srgbClr>
            </a:solidFill>
            <a:ln/>
          </p:spPr>
        </p:sp>
        <p:sp>
          <p:nvSpPr>
            <p:cNvPr id="12" name="TextBox 12"/>
            <p:cNvSpPr txBox="1"/>
            <p:nvPr/>
          </p:nvSpPr>
          <p:spPr>
            <a:xfrm>
              <a:off x="5805583"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13" name="Group 13"/>
          <p:cNvGrpSpPr/>
          <p:nvPr/>
        </p:nvGrpSpPr>
        <p:grpSpPr>
          <a:xfrm>
            <a:off x="6442520" y="3228594"/>
            <a:ext cx="769620" cy="3629406"/>
            <a:chOff x="6442520" y="3228594"/>
            <a:chExt cx="769620" cy="3629406"/>
          </a:xfrm>
        </p:grpSpPr>
        <p:sp>
          <p:nvSpPr>
            <p:cNvPr id="14" name="Freeform 14"/>
            <p:cNvSpPr/>
            <p:nvPr/>
          </p:nvSpPr>
          <p:spPr>
            <a:xfrm>
              <a:off x="6442520" y="3228594"/>
              <a:ext cx="769620" cy="3629406"/>
            </a:xfrm>
            <a:custGeom>
              <a:avLst/>
              <a:gdLst/>
              <a:ahLst/>
              <a:cxnLst/>
              <a:rect l="l" t="t" r="r" b="b"/>
              <a:pathLst>
                <a:path w="323" h="2137">
                  <a:moveTo>
                    <a:pt x="323" y="2137"/>
                  </a:moveTo>
                  <a:lnTo>
                    <a:pt x="0" y="2137"/>
                  </a:lnTo>
                  <a:lnTo>
                    <a:pt x="163" y="0"/>
                  </a:lnTo>
                  <a:lnTo>
                    <a:pt x="323" y="2137"/>
                  </a:lnTo>
                  <a:close/>
                </a:path>
              </a:pathLst>
            </a:custGeom>
            <a:solidFill>
              <a:srgbClr val="7F7F7F">
                <a:alpha val="100000"/>
              </a:srgbClr>
            </a:solidFill>
            <a:ln/>
          </p:spPr>
        </p:sp>
        <p:sp>
          <p:nvSpPr>
            <p:cNvPr id="15" name="TextBox 15"/>
            <p:cNvSpPr txBox="1"/>
            <p:nvPr/>
          </p:nvSpPr>
          <p:spPr>
            <a:xfrm>
              <a:off x="6506813"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16" name="Group 16"/>
          <p:cNvGrpSpPr/>
          <p:nvPr/>
        </p:nvGrpSpPr>
        <p:grpSpPr>
          <a:xfrm>
            <a:off x="7158514" y="4825651"/>
            <a:ext cx="769620" cy="2032349"/>
            <a:chOff x="7158514" y="4825651"/>
            <a:chExt cx="769620" cy="2032349"/>
          </a:xfrm>
        </p:grpSpPr>
        <p:sp>
          <p:nvSpPr>
            <p:cNvPr id="17" name="Freeform 17"/>
            <p:cNvSpPr/>
            <p:nvPr/>
          </p:nvSpPr>
          <p:spPr>
            <a:xfrm>
              <a:off x="7158514" y="4825651"/>
              <a:ext cx="769620" cy="2032349"/>
            </a:xfrm>
            <a:custGeom>
              <a:avLst/>
              <a:gdLst/>
              <a:ahLst/>
              <a:cxnLst/>
              <a:rect l="l" t="t" r="r" b="b"/>
              <a:pathLst>
                <a:path w="323" h="853">
                  <a:moveTo>
                    <a:pt x="323" y="853"/>
                  </a:moveTo>
                  <a:lnTo>
                    <a:pt x="0" y="853"/>
                  </a:lnTo>
                  <a:lnTo>
                    <a:pt x="163" y="0"/>
                  </a:lnTo>
                  <a:lnTo>
                    <a:pt x="323" y="853"/>
                  </a:lnTo>
                  <a:close/>
                </a:path>
              </a:pathLst>
            </a:custGeom>
            <a:solidFill>
              <a:srgbClr val="AAC2AC">
                <a:alpha val="100000"/>
              </a:srgbClr>
            </a:solidFill>
            <a:ln/>
          </p:spPr>
        </p:sp>
        <p:sp>
          <p:nvSpPr>
            <p:cNvPr id="18" name="TextBox 18"/>
            <p:cNvSpPr txBox="1"/>
            <p:nvPr/>
          </p:nvSpPr>
          <p:spPr>
            <a:xfrm>
              <a:off x="7245001"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sp>
        <p:nvSpPr>
          <p:cNvPr id="19" name="Freeform 19"/>
          <p:cNvSpPr/>
          <p:nvPr/>
        </p:nvSpPr>
        <p:spPr>
          <a:xfrm>
            <a:off x="7561026" y="4508101"/>
            <a:ext cx="996553" cy="971947"/>
          </a:xfrm>
          <a:custGeom>
            <a:avLst/>
            <a:gdLst/>
            <a:ahLst/>
            <a:cxnLst/>
            <a:rect l="l" t="t" r="r" b="b"/>
            <a:pathLst>
              <a:path w="952500" h="742950">
                <a:moveTo>
                  <a:pt x="0" y="742950"/>
                </a:moveTo>
                <a:lnTo>
                  <a:pt x="952500" y="0"/>
                </a:lnTo>
              </a:path>
            </a:pathLst>
          </a:custGeom>
          <a:noFill/>
          <a:ln w="6350">
            <a:solidFill>
              <a:schemeClr val="dk1">
                <a:alpha val="100000"/>
              </a:schemeClr>
            </a:solidFill>
            <a:prstDash val="solid"/>
            <a:tailEnd type="oval"/>
          </a:ln>
        </p:spPr>
      </p:sp>
      <p:sp>
        <p:nvSpPr>
          <p:cNvPr id="20" name="Freeform 20"/>
          <p:cNvSpPr/>
          <p:nvPr/>
        </p:nvSpPr>
        <p:spPr>
          <a:xfrm>
            <a:off x="6810536" y="2601117"/>
            <a:ext cx="1783953" cy="1550193"/>
          </a:xfrm>
          <a:custGeom>
            <a:avLst/>
            <a:gdLst/>
            <a:ahLst/>
            <a:cxnLst/>
            <a:rect l="l" t="t" r="r" b="b"/>
            <a:pathLst>
              <a:path w="1495425" h="962025">
                <a:moveTo>
                  <a:pt x="0" y="962025"/>
                </a:moveTo>
                <a:lnTo>
                  <a:pt x="1495425" y="0"/>
                </a:lnTo>
              </a:path>
            </a:pathLst>
          </a:custGeom>
          <a:noFill/>
          <a:ln w="6350">
            <a:solidFill>
              <a:schemeClr val="dk1">
                <a:alpha val="100000"/>
              </a:schemeClr>
            </a:solidFill>
            <a:prstDash val="solid"/>
            <a:tailEnd type="oval"/>
          </a:ln>
        </p:spPr>
      </p:sp>
      <p:sp>
        <p:nvSpPr>
          <p:cNvPr id="21" name="Freeform 21"/>
          <p:cNvSpPr/>
          <p:nvPr/>
        </p:nvSpPr>
        <p:spPr>
          <a:xfrm>
            <a:off x="4485246" y="2404267"/>
            <a:ext cx="1587103" cy="1304131"/>
          </a:xfrm>
          <a:custGeom>
            <a:avLst/>
            <a:gdLst/>
            <a:ahLst/>
            <a:cxnLst/>
            <a:rect l="l" t="t" r="r" b="b"/>
            <a:pathLst>
              <a:path w="1228725" h="1009650">
                <a:moveTo>
                  <a:pt x="1228725" y="1009650"/>
                </a:moveTo>
                <a:lnTo>
                  <a:pt x="0" y="0"/>
                </a:lnTo>
              </a:path>
            </a:pathLst>
          </a:custGeom>
          <a:noFill/>
          <a:ln w="6350">
            <a:solidFill>
              <a:schemeClr val="dk1">
                <a:alpha val="100000"/>
              </a:schemeClr>
            </a:solidFill>
            <a:prstDash val="solid"/>
            <a:tailEnd type="oval"/>
          </a:ln>
        </p:spPr>
      </p:sp>
      <p:sp>
        <p:nvSpPr>
          <p:cNvPr id="22" name="Freeform 22"/>
          <p:cNvSpPr/>
          <p:nvPr/>
        </p:nvSpPr>
        <p:spPr>
          <a:xfrm>
            <a:off x="4226880" y="3819126"/>
            <a:ext cx="1131887" cy="959644"/>
          </a:xfrm>
          <a:custGeom>
            <a:avLst/>
            <a:gdLst/>
            <a:ahLst/>
            <a:cxnLst/>
            <a:rect l="l" t="t" r="r" b="b"/>
            <a:pathLst>
              <a:path w="876300" h="742950">
                <a:moveTo>
                  <a:pt x="876300" y="742950"/>
                </a:moveTo>
                <a:lnTo>
                  <a:pt x="876300" y="742950"/>
                </a:lnTo>
                <a:lnTo>
                  <a:pt x="0" y="0"/>
                </a:lnTo>
              </a:path>
            </a:pathLst>
          </a:custGeom>
          <a:noFill/>
          <a:ln w="6350">
            <a:solidFill>
              <a:schemeClr val="dk1">
                <a:alpha val="100000"/>
              </a:schemeClr>
            </a:solidFill>
            <a:prstDash val="solid"/>
            <a:tailEnd type="oval"/>
          </a:ln>
        </p:spPr>
      </p:sp>
      <p:sp>
        <p:nvSpPr>
          <p:cNvPr id="23" name="Freeform 23"/>
          <p:cNvSpPr/>
          <p:nvPr/>
        </p:nvSpPr>
        <p:spPr>
          <a:xfrm>
            <a:off x="3943908" y="5049438"/>
            <a:ext cx="615156" cy="553641"/>
          </a:xfrm>
          <a:custGeom>
            <a:avLst/>
            <a:gdLst/>
            <a:ahLst/>
            <a:cxnLst/>
            <a:rect l="l" t="t" r="r" b="b"/>
            <a:pathLst>
              <a:path w="476250" h="428625">
                <a:moveTo>
                  <a:pt x="476250" y="428625"/>
                </a:moveTo>
                <a:lnTo>
                  <a:pt x="0" y="0"/>
                </a:lnTo>
              </a:path>
            </a:pathLst>
          </a:custGeom>
          <a:noFill/>
          <a:ln w="6350">
            <a:solidFill>
              <a:schemeClr val="dk1">
                <a:alpha val="100000"/>
              </a:schemeClr>
            </a:solidFill>
            <a:prstDash val="solid"/>
            <a:tailEnd type="oval"/>
          </a:ln>
        </p:spPr>
      </p:sp>
      <p:sp>
        <p:nvSpPr>
          <p:cNvPr id="39" name="AutoShape 39"/>
          <p:cNvSpPr/>
          <p:nvPr/>
        </p:nvSpPr>
        <p:spPr>
          <a:xfrm>
            <a:off x="763865" y="166034"/>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产品策略</a:t>
            </a:r>
            <a:endParaRPr lang="en-US" sz="1100"/>
          </a:p>
        </p:txBody>
      </p:sp>
      <p:sp>
        <p:nvSpPr>
          <p:cNvPr id="40" name="文本框 39">
            <a:extLst>
              <a:ext uri="{FF2B5EF4-FFF2-40B4-BE49-F238E27FC236}">
                <a16:creationId xmlns:a16="http://schemas.microsoft.com/office/drawing/2014/main" id="{C6846463-32DD-664C-4E29-4F2202E4769F}"/>
              </a:ext>
            </a:extLst>
          </p:cNvPr>
          <p:cNvSpPr txBox="1"/>
          <p:nvPr/>
        </p:nvSpPr>
        <p:spPr>
          <a:xfrm>
            <a:off x="1078118" y="1727738"/>
            <a:ext cx="3448075" cy="1077218"/>
          </a:xfrm>
          <a:prstGeom prst="rect">
            <a:avLst/>
          </a:prstGeom>
          <a:noFill/>
        </p:spPr>
        <p:txBody>
          <a:bodyPr wrap="square" rtlCol="0">
            <a:spAutoFit/>
          </a:bodyPr>
          <a:lstStyle/>
          <a:p>
            <a:r>
              <a:rPr lang="zh-CN" altLang="en-US" dirty="0"/>
              <a:t>                        产品介绍</a:t>
            </a:r>
            <a:endParaRPr lang="en-US" altLang="zh-CN" dirty="0"/>
          </a:p>
          <a:p>
            <a:endParaRPr lang="en-US" altLang="zh-CN" dirty="0"/>
          </a:p>
          <a:p>
            <a:r>
              <a:rPr lang="zh-CN" altLang="en-US" sz="1400" dirty="0"/>
              <a:t>基于</a:t>
            </a:r>
            <a:r>
              <a:rPr lang="en-US" altLang="zh-CN" sz="1400" dirty="0"/>
              <a:t>AI</a:t>
            </a:r>
            <a:r>
              <a:rPr lang="zh-CN" altLang="en-US" sz="1400" dirty="0"/>
              <a:t>对话系统，以智能电子设备为载体，面向全年龄段大众的</a:t>
            </a:r>
            <a:r>
              <a:rPr lang="en-US" altLang="zh-CN" sz="1400" dirty="0"/>
              <a:t>AI</a:t>
            </a:r>
            <a:r>
              <a:rPr lang="zh-CN" altLang="en-US" sz="1400" dirty="0"/>
              <a:t>陪伴系统。</a:t>
            </a:r>
          </a:p>
        </p:txBody>
      </p:sp>
      <p:sp>
        <p:nvSpPr>
          <p:cNvPr id="41" name="文本框 40">
            <a:extLst>
              <a:ext uri="{FF2B5EF4-FFF2-40B4-BE49-F238E27FC236}">
                <a16:creationId xmlns:a16="http://schemas.microsoft.com/office/drawing/2014/main" id="{9C141090-B249-0017-7F50-E5F03E8A1154}"/>
              </a:ext>
            </a:extLst>
          </p:cNvPr>
          <p:cNvSpPr txBox="1"/>
          <p:nvPr/>
        </p:nvSpPr>
        <p:spPr>
          <a:xfrm>
            <a:off x="708410" y="3172794"/>
            <a:ext cx="3706445" cy="1292662"/>
          </a:xfrm>
          <a:prstGeom prst="rect">
            <a:avLst/>
          </a:prstGeom>
          <a:noFill/>
        </p:spPr>
        <p:txBody>
          <a:bodyPr wrap="square" rtlCol="0">
            <a:spAutoFit/>
          </a:bodyPr>
          <a:lstStyle/>
          <a:p>
            <a:r>
              <a:rPr lang="zh-CN" altLang="en-US" dirty="0"/>
              <a:t>                      心理测试与陪伴</a:t>
            </a:r>
            <a:endParaRPr lang="en-US" altLang="zh-CN" dirty="0"/>
          </a:p>
          <a:p>
            <a:endParaRPr lang="en-US" altLang="zh-CN" dirty="0"/>
          </a:p>
          <a:p>
            <a:r>
              <a:rPr lang="zh-CN" altLang="en-US" sz="1400" dirty="0"/>
              <a:t>系统以专业的心理调查问卷为基础，与用户进行定制互动和对话，满足用户陪伴需求，提高幸福感。</a:t>
            </a:r>
          </a:p>
        </p:txBody>
      </p:sp>
      <p:sp>
        <p:nvSpPr>
          <p:cNvPr id="42" name="文本框 41">
            <a:extLst>
              <a:ext uri="{FF2B5EF4-FFF2-40B4-BE49-F238E27FC236}">
                <a16:creationId xmlns:a16="http://schemas.microsoft.com/office/drawing/2014/main" id="{ED811223-ADAB-D9A9-1CC0-F8DC0984E09A}"/>
              </a:ext>
            </a:extLst>
          </p:cNvPr>
          <p:cNvSpPr txBox="1"/>
          <p:nvPr/>
        </p:nvSpPr>
        <p:spPr>
          <a:xfrm>
            <a:off x="650593" y="4850093"/>
            <a:ext cx="3630612" cy="1292662"/>
          </a:xfrm>
          <a:prstGeom prst="rect">
            <a:avLst/>
          </a:prstGeom>
          <a:noFill/>
        </p:spPr>
        <p:txBody>
          <a:bodyPr wrap="square" rtlCol="0">
            <a:spAutoFit/>
          </a:bodyPr>
          <a:lstStyle/>
          <a:p>
            <a:r>
              <a:rPr lang="zh-CN" altLang="en-US" dirty="0"/>
              <a:t>                  自杀干预与生命安全</a:t>
            </a:r>
            <a:endParaRPr lang="en-US" altLang="zh-CN" dirty="0"/>
          </a:p>
          <a:p>
            <a:endParaRPr lang="en-US" altLang="zh-CN" dirty="0"/>
          </a:p>
          <a:p>
            <a:r>
              <a:rPr lang="zh-CN" altLang="en-US" sz="1400" dirty="0"/>
              <a:t>系统能精准识别用户传达的自杀等危险信息，迅速连接专业人员进行干预，确保用户生命安全。</a:t>
            </a:r>
          </a:p>
        </p:txBody>
      </p:sp>
      <p:sp>
        <p:nvSpPr>
          <p:cNvPr id="43" name="文本框 42">
            <a:extLst>
              <a:ext uri="{FF2B5EF4-FFF2-40B4-BE49-F238E27FC236}">
                <a16:creationId xmlns:a16="http://schemas.microsoft.com/office/drawing/2014/main" id="{601E02F1-BF74-8A76-C8FD-8C62BE4FB290}"/>
              </a:ext>
            </a:extLst>
          </p:cNvPr>
          <p:cNvSpPr txBox="1"/>
          <p:nvPr/>
        </p:nvSpPr>
        <p:spPr>
          <a:xfrm>
            <a:off x="8581920" y="1727738"/>
            <a:ext cx="3448075" cy="1292662"/>
          </a:xfrm>
          <a:prstGeom prst="rect">
            <a:avLst/>
          </a:prstGeom>
          <a:noFill/>
        </p:spPr>
        <p:txBody>
          <a:bodyPr wrap="square" rtlCol="0">
            <a:spAutoFit/>
          </a:bodyPr>
          <a:lstStyle/>
          <a:p>
            <a:r>
              <a:rPr lang="zh-CN" altLang="en-US" dirty="0"/>
              <a:t>多种设备与身份选择</a:t>
            </a:r>
            <a:endParaRPr lang="en-US" altLang="zh-CN" dirty="0"/>
          </a:p>
          <a:p>
            <a:endParaRPr lang="en-US" altLang="zh-CN" dirty="0"/>
          </a:p>
          <a:p>
            <a:r>
              <a:rPr lang="zh-CN" altLang="en-US" sz="1400" dirty="0"/>
              <a:t>系统支持多种电子设备，提供多种陪伴身份，改善市场陪伴型应用互动单一、自由程度低的问题，增强代入感和陪伴感。</a:t>
            </a:r>
          </a:p>
        </p:txBody>
      </p:sp>
      <p:sp>
        <p:nvSpPr>
          <p:cNvPr id="44" name="文本框 43">
            <a:extLst>
              <a:ext uri="{FF2B5EF4-FFF2-40B4-BE49-F238E27FC236}">
                <a16:creationId xmlns:a16="http://schemas.microsoft.com/office/drawing/2014/main" id="{19D9B07A-496C-D133-0875-D02A6F99C605}"/>
              </a:ext>
            </a:extLst>
          </p:cNvPr>
          <p:cNvSpPr txBox="1"/>
          <p:nvPr/>
        </p:nvSpPr>
        <p:spPr>
          <a:xfrm>
            <a:off x="8763000" y="4151310"/>
            <a:ext cx="3352800" cy="1292662"/>
          </a:xfrm>
          <a:prstGeom prst="rect">
            <a:avLst/>
          </a:prstGeom>
          <a:noFill/>
        </p:spPr>
        <p:txBody>
          <a:bodyPr wrap="square" rtlCol="0">
            <a:spAutoFit/>
          </a:bodyPr>
          <a:lstStyle/>
          <a:p>
            <a:r>
              <a:rPr lang="zh-CN" altLang="en-US" dirty="0"/>
              <a:t>专业问卷与心理状况改善</a:t>
            </a:r>
            <a:endParaRPr lang="en-US" altLang="zh-CN" dirty="0"/>
          </a:p>
          <a:p>
            <a:endParaRPr lang="en-US" altLang="zh-CN" dirty="0"/>
          </a:p>
          <a:p>
            <a:r>
              <a:rPr lang="zh-CN" altLang="en-US" sz="1400" dirty="0"/>
              <a:t>系统调查问卷的专业性，使用户在使用该系统时能够改善心理状况。针对心理健康状况不佳的人群，系统可缓解压力。</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pic>
        <p:nvPicPr>
          <p:cNvPr id="4" name="Picture 4"/>
          <p:cNvPicPr>
            <a:picLocks noChangeAspect="1"/>
          </p:cNvPicPr>
          <p:nvPr/>
        </p:nvPicPr>
        <p:blipFill>
          <a:blip r:embed="rId2">
            <a:alphaModFix/>
          </a:blip>
          <a:srcRect/>
          <a:stretch>
            <a:fillRect/>
          </a:stretch>
        </p:blipFill>
        <p:spPr>
          <a:xfrm>
            <a:off x="6755660" y="1485222"/>
            <a:ext cx="4279418" cy="4279418"/>
          </a:xfrm>
          <a:prstGeom prst="roundRect">
            <a:avLst/>
          </a:prstGeom>
        </p:spPr>
      </p:pic>
      <p:sp>
        <p:nvSpPr>
          <p:cNvPr id="5" name="Freeform 5"/>
          <p:cNvSpPr/>
          <p:nvPr/>
        </p:nvSpPr>
        <p:spPr>
          <a:xfrm>
            <a:off x="513502" y="1417679"/>
            <a:ext cx="1439951" cy="1308640"/>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close/>
              </a:path>
            </a:pathLst>
          </a:custGeom>
          <a:solidFill>
            <a:schemeClr val="accent2">
              <a:alpha val="100000"/>
            </a:schemeClr>
          </a:solidFill>
          <a:ln/>
        </p:spPr>
      </p:sp>
      <p:sp>
        <p:nvSpPr>
          <p:cNvPr id="6" name="TextBox 6"/>
          <p:cNvSpPr txBox="1"/>
          <p:nvPr/>
        </p:nvSpPr>
        <p:spPr>
          <a:xfrm>
            <a:off x="704352" y="1305549"/>
            <a:ext cx="1058252" cy="1538707"/>
          </a:xfrm>
          <a:prstGeom prst="rect">
            <a:avLst/>
          </a:prstGeom>
          <a:ln/>
        </p:spPr>
        <p:txBody>
          <a:bodyPr vert="horz" wrap="square" lIns="123825" tIns="123825" rIns="57150" bIns="123825" rtlCol="0" anchor="t" anchorCtr="0">
            <a:normAutofit/>
          </a:bodyPr>
          <a:lstStyle/>
          <a:p>
            <a:pPr algn="ctr">
              <a:lnSpc>
                <a:spcPct val="150000"/>
              </a:lnSpc>
            </a:pPr>
            <a:r>
              <a:rPr lang="en-US" sz="5475" b="1">
                <a:solidFill>
                  <a:srgbClr val="FFFFFF">
                    <a:alpha val="100000"/>
                  </a:srgbClr>
                </a:solidFill>
                <a:latin typeface="Microsoft Yahei"/>
                <a:ea typeface="Microsoft Yahei"/>
                <a:cs typeface="Microsoft Yahei"/>
              </a:rPr>
              <a:t>1</a:t>
            </a:r>
          </a:p>
        </p:txBody>
      </p:sp>
      <p:sp>
        <p:nvSpPr>
          <p:cNvPr id="7" name="Freeform 7"/>
          <p:cNvSpPr/>
          <p:nvPr/>
        </p:nvSpPr>
        <p:spPr>
          <a:xfrm>
            <a:off x="513502" y="3053569"/>
            <a:ext cx="1439951" cy="1308640"/>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close/>
              </a:path>
            </a:pathLst>
          </a:custGeom>
          <a:solidFill>
            <a:schemeClr val="accent2">
              <a:alpha val="100000"/>
            </a:schemeClr>
          </a:solidFill>
          <a:ln/>
        </p:spPr>
      </p:sp>
      <p:sp>
        <p:nvSpPr>
          <p:cNvPr id="8" name="TextBox 8"/>
          <p:cNvSpPr txBox="1"/>
          <p:nvPr/>
        </p:nvSpPr>
        <p:spPr>
          <a:xfrm>
            <a:off x="704352" y="2941440"/>
            <a:ext cx="1058252" cy="1538707"/>
          </a:xfrm>
          <a:prstGeom prst="rect">
            <a:avLst/>
          </a:prstGeom>
          <a:ln/>
        </p:spPr>
        <p:txBody>
          <a:bodyPr vert="horz" wrap="square" lIns="123825" tIns="123825" rIns="57150" bIns="123825" rtlCol="0" anchor="t" anchorCtr="0">
            <a:normAutofit/>
          </a:bodyPr>
          <a:lstStyle/>
          <a:p>
            <a:pPr algn="ctr">
              <a:lnSpc>
                <a:spcPct val="150000"/>
              </a:lnSpc>
            </a:pPr>
            <a:r>
              <a:rPr lang="en-US" sz="5475" b="1">
                <a:solidFill>
                  <a:srgbClr val="FFFFFF">
                    <a:alpha val="100000"/>
                  </a:srgbClr>
                </a:solidFill>
                <a:latin typeface="Microsoft Yahei"/>
                <a:ea typeface="Microsoft Yahei"/>
                <a:cs typeface="Microsoft Yahei"/>
              </a:rPr>
              <a:t>2</a:t>
            </a:r>
          </a:p>
        </p:txBody>
      </p:sp>
      <p:sp>
        <p:nvSpPr>
          <p:cNvPr id="9" name="Freeform 9"/>
          <p:cNvSpPr/>
          <p:nvPr/>
        </p:nvSpPr>
        <p:spPr>
          <a:xfrm>
            <a:off x="513502" y="4747524"/>
            <a:ext cx="1439951" cy="1308640"/>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close/>
              </a:path>
            </a:pathLst>
          </a:custGeom>
          <a:solidFill>
            <a:schemeClr val="accent2">
              <a:alpha val="100000"/>
            </a:schemeClr>
          </a:solidFill>
          <a:ln/>
        </p:spPr>
      </p:sp>
      <p:sp>
        <p:nvSpPr>
          <p:cNvPr id="10" name="TextBox 10"/>
          <p:cNvSpPr txBox="1"/>
          <p:nvPr/>
        </p:nvSpPr>
        <p:spPr>
          <a:xfrm>
            <a:off x="704352" y="4635394"/>
            <a:ext cx="1058252" cy="1538707"/>
          </a:xfrm>
          <a:prstGeom prst="rect">
            <a:avLst/>
          </a:prstGeom>
          <a:ln/>
        </p:spPr>
        <p:txBody>
          <a:bodyPr vert="horz" wrap="square" lIns="123825" tIns="123825" rIns="57150" bIns="123825" rtlCol="0" anchor="t" anchorCtr="0">
            <a:normAutofit/>
          </a:bodyPr>
          <a:lstStyle/>
          <a:p>
            <a:pPr algn="ctr">
              <a:lnSpc>
                <a:spcPct val="150000"/>
              </a:lnSpc>
            </a:pPr>
            <a:r>
              <a:rPr lang="en-US" sz="5475" b="1">
                <a:solidFill>
                  <a:srgbClr val="FFFFFF">
                    <a:alpha val="100000"/>
                  </a:srgbClr>
                </a:solidFill>
                <a:latin typeface="Microsoft Yahei"/>
                <a:ea typeface="Microsoft Yahei"/>
                <a:cs typeface="Microsoft Yahei"/>
              </a:rPr>
              <a:t>3</a:t>
            </a:r>
          </a:p>
        </p:txBody>
      </p:sp>
      <p:sp>
        <p:nvSpPr>
          <p:cNvPr id="11" name="TextBox 11"/>
          <p:cNvSpPr txBox="1"/>
          <p:nvPr/>
        </p:nvSpPr>
        <p:spPr>
          <a:xfrm>
            <a:off x="2141730" y="1633688"/>
            <a:ext cx="4034507" cy="1277417"/>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随着AI技术的不断发展，陪伴聊天系统将变得更加个性化，用户可以与其建立情侣关系等。</a:t>
            </a:r>
          </a:p>
        </p:txBody>
      </p:sp>
      <p:sp>
        <p:nvSpPr>
          <p:cNvPr id="12" name="TextBox 12"/>
          <p:cNvSpPr txBox="1"/>
          <p:nvPr/>
        </p:nvSpPr>
        <p:spPr>
          <a:xfrm>
            <a:off x="2141730" y="1191114"/>
            <a:ext cx="4019145" cy="598789"/>
          </a:xfrm>
          <a:prstGeom prst="rect">
            <a:avLst/>
          </a:prstGeom>
          <a:ln/>
        </p:spPr>
        <p:txBody>
          <a:bodyPr vert="horz" wrap="square" lIns="123825" tIns="123825" rIns="57150" bIns="123825" rtlCol="0" anchor="t" anchorCtr="0">
            <a:normAutofit/>
          </a:bodyPr>
          <a:lstStyle/>
          <a:p>
            <a:pPr>
              <a:lnSpc>
                <a:spcPct val="150000"/>
              </a:lnSpc>
            </a:pPr>
            <a:r>
              <a:rPr lang="en-US" sz="1500" b="1">
                <a:solidFill>
                  <a:schemeClr val="accent1">
                    <a:alpha val="100000"/>
                  </a:schemeClr>
                </a:solidFill>
                <a:latin typeface="Microsoft Yahei"/>
                <a:ea typeface="Microsoft Yahei"/>
                <a:cs typeface="Microsoft Yahei"/>
              </a:rPr>
              <a:t>AI陪伴聊天系统</a:t>
            </a:r>
          </a:p>
        </p:txBody>
      </p:sp>
      <p:sp>
        <p:nvSpPr>
          <p:cNvPr id="13" name="TextBox 13"/>
          <p:cNvSpPr txBox="1"/>
          <p:nvPr/>
        </p:nvSpPr>
        <p:spPr>
          <a:xfrm>
            <a:off x="2141730" y="3208717"/>
            <a:ext cx="4034507" cy="1277417"/>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生成型AI模型将从根本上改变我们与计算机的关系，让陪伴系统成为我们的同事、朋友、家庭成员。</a:t>
            </a:r>
          </a:p>
        </p:txBody>
      </p:sp>
      <p:sp>
        <p:nvSpPr>
          <p:cNvPr id="14" name="TextBox 14"/>
          <p:cNvSpPr txBox="1"/>
          <p:nvPr/>
        </p:nvSpPr>
        <p:spPr>
          <a:xfrm>
            <a:off x="2141730" y="2789369"/>
            <a:ext cx="4019145" cy="598789"/>
          </a:xfrm>
          <a:prstGeom prst="rect">
            <a:avLst/>
          </a:prstGeom>
          <a:ln/>
        </p:spPr>
        <p:txBody>
          <a:bodyPr vert="horz" wrap="square" lIns="123825" tIns="123825" rIns="57150" bIns="123825" rtlCol="0" anchor="t" anchorCtr="0">
            <a:normAutofit/>
          </a:bodyPr>
          <a:lstStyle/>
          <a:p>
            <a:pPr>
              <a:lnSpc>
                <a:spcPct val="150000"/>
              </a:lnSpc>
            </a:pPr>
            <a:r>
              <a:rPr lang="en-US" sz="1500" b="1">
                <a:solidFill>
                  <a:schemeClr val="accent1">
                    <a:alpha val="100000"/>
                  </a:schemeClr>
                </a:solidFill>
                <a:latin typeface="Microsoft Yahei"/>
                <a:ea typeface="Microsoft Yahei"/>
                <a:cs typeface="Microsoft Yahei"/>
              </a:rPr>
              <a:t>生成型AI模型</a:t>
            </a:r>
          </a:p>
        </p:txBody>
      </p:sp>
      <p:sp>
        <p:nvSpPr>
          <p:cNvPr id="15" name="TextBox 15"/>
          <p:cNvSpPr txBox="1"/>
          <p:nvPr/>
        </p:nvSpPr>
        <p:spPr>
          <a:xfrm>
            <a:off x="2141730" y="4890693"/>
            <a:ext cx="4034507" cy="1277417"/>
          </a:xfrm>
          <a:prstGeom prst="rect">
            <a:avLst/>
          </a:prstGeom>
          <a:ln/>
        </p:spPr>
        <p:txBody>
          <a:bodyPr vert="horz" wrap="square" lIns="123825" tIns="123825" rIns="57150" bIns="123825" rtlCol="0" anchor="t" anchorCtr="0">
            <a:normAutofit/>
          </a:bodyPr>
          <a:lstStyle/>
          <a:p>
            <a:pPr>
              <a:lnSpc>
                <a:spcPct val="150000"/>
              </a:lnSpc>
            </a:pPr>
            <a:r>
              <a:rPr lang="en-US" sz="1425">
                <a:solidFill>
                  <a:schemeClr val="dk1">
                    <a:alpha val="100000"/>
                  </a:schemeClr>
                </a:solidFill>
                <a:latin typeface="Microsoft Yahei"/>
                <a:ea typeface="Microsoft Yahei"/>
                <a:cs typeface="Microsoft Yahei"/>
              </a:rPr>
              <a:t>AI陪伴系统的作用将不断扩大，成为我们生活中不可或缺的一部分，为我们提供更好的服务。</a:t>
            </a:r>
          </a:p>
        </p:txBody>
      </p:sp>
      <p:sp>
        <p:nvSpPr>
          <p:cNvPr id="16" name="TextBox 16"/>
          <p:cNvSpPr txBox="1"/>
          <p:nvPr/>
        </p:nvSpPr>
        <p:spPr>
          <a:xfrm>
            <a:off x="2141730" y="4471345"/>
            <a:ext cx="4019145" cy="598789"/>
          </a:xfrm>
          <a:prstGeom prst="rect">
            <a:avLst/>
          </a:prstGeom>
          <a:ln/>
        </p:spPr>
        <p:txBody>
          <a:bodyPr vert="horz" wrap="square" lIns="123825" tIns="123825" rIns="57150" bIns="123825" rtlCol="0" anchor="t" anchorCtr="0">
            <a:normAutofit/>
          </a:bodyPr>
          <a:lstStyle/>
          <a:p>
            <a:pPr>
              <a:lnSpc>
                <a:spcPct val="150000"/>
              </a:lnSpc>
            </a:pPr>
            <a:r>
              <a:rPr lang="en-US" sz="1500" b="1">
                <a:solidFill>
                  <a:schemeClr val="accent1">
                    <a:alpha val="100000"/>
                  </a:schemeClr>
                </a:solidFill>
                <a:latin typeface="Microsoft Yahei"/>
                <a:ea typeface="Microsoft Yahei"/>
                <a:cs typeface="Microsoft Yahei"/>
              </a:rPr>
              <a:t>不断扩大作用</a:t>
            </a:r>
          </a:p>
        </p:txBody>
      </p:sp>
      <p:sp>
        <p:nvSpPr>
          <p:cNvPr id="17" name="AutoShape 17"/>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行业趋势</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AutoShape 4"/>
          <p:cNvSpPr/>
          <p:nvPr/>
        </p:nvSpPr>
        <p:spPr>
          <a:xfrm>
            <a:off x="564808" y="2616342"/>
            <a:ext cx="3291950" cy="2910613"/>
          </a:xfrm>
          <a:prstGeom prst="roundRect">
            <a:avLst>
              <a:gd name="adj" fmla="val 12500"/>
            </a:avLst>
          </a:prstGeom>
          <a:solidFill>
            <a:schemeClr val="lt1">
              <a:alpha val="100000"/>
            </a:schemeClr>
          </a:solidFill>
          <a:ln w="19050">
            <a:solidFill>
              <a:schemeClr val="accent1">
                <a:alpha val="100000"/>
              </a:schemeClr>
            </a:solidFill>
            <a:prstDash val="solid"/>
          </a:ln>
        </p:spPr>
      </p:sp>
      <p:sp>
        <p:nvSpPr>
          <p:cNvPr id="5" name="AutoShape 5"/>
          <p:cNvSpPr/>
          <p:nvPr/>
        </p:nvSpPr>
        <p:spPr>
          <a:xfrm>
            <a:off x="4160465" y="2616342"/>
            <a:ext cx="3291950" cy="2910613"/>
          </a:xfrm>
          <a:prstGeom prst="roundRect">
            <a:avLst>
              <a:gd name="adj" fmla="val 12500"/>
            </a:avLst>
          </a:prstGeom>
          <a:solidFill>
            <a:schemeClr val="lt1">
              <a:alpha val="100000"/>
            </a:schemeClr>
          </a:solidFill>
          <a:ln w="19050">
            <a:solidFill>
              <a:schemeClr val="accent1">
                <a:alpha val="100000"/>
              </a:schemeClr>
            </a:solidFill>
            <a:prstDash val="solid"/>
          </a:ln>
        </p:spPr>
      </p:sp>
      <p:sp>
        <p:nvSpPr>
          <p:cNvPr id="6" name="AutoShape 6"/>
          <p:cNvSpPr/>
          <p:nvPr/>
        </p:nvSpPr>
        <p:spPr>
          <a:xfrm>
            <a:off x="7747346" y="2616342"/>
            <a:ext cx="3291950" cy="2910613"/>
          </a:xfrm>
          <a:prstGeom prst="roundRect">
            <a:avLst>
              <a:gd name="adj" fmla="val 12500"/>
            </a:avLst>
          </a:prstGeom>
          <a:solidFill>
            <a:schemeClr val="lt1">
              <a:alpha val="100000"/>
            </a:schemeClr>
          </a:solidFill>
          <a:ln w="19050">
            <a:solidFill>
              <a:schemeClr val="accent1">
                <a:alpha val="100000"/>
              </a:schemeClr>
            </a:solidFill>
            <a:prstDash val="solid"/>
          </a:ln>
        </p:spPr>
      </p:sp>
      <p:sp>
        <p:nvSpPr>
          <p:cNvPr id="7" name="AutoShape 7"/>
          <p:cNvSpPr/>
          <p:nvPr/>
        </p:nvSpPr>
        <p:spPr>
          <a:xfrm rot="-2700000" flipH="1" flipV="1">
            <a:off x="5024310" y="1269988"/>
            <a:ext cx="1564260" cy="1564260"/>
          </a:xfrm>
          <a:prstGeom prst="teardrop">
            <a:avLst/>
          </a:prstGeom>
          <a:solidFill>
            <a:schemeClr val="accent1">
              <a:alpha val="100000"/>
            </a:schemeClr>
          </a:solidFill>
          <a:ln/>
        </p:spPr>
      </p:sp>
      <p:sp>
        <p:nvSpPr>
          <p:cNvPr id="8" name="TextBox 8"/>
          <p:cNvSpPr txBox="1"/>
          <p:nvPr/>
        </p:nvSpPr>
        <p:spPr>
          <a:xfrm>
            <a:off x="4365953" y="3242897"/>
            <a:ext cx="2880974" cy="306471"/>
          </a:xfrm>
          <a:prstGeom prst="rect">
            <a:avLst/>
          </a:prstGeom>
          <a:ln/>
        </p:spPr>
        <p:txBody>
          <a:bodyPr vert="horz" wrap="square" lIns="114300" tIns="57150" rIns="114300" bIns="57150" rtlCol="0" anchor="t" anchorCtr="0">
            <a:normAutofit lnSpcReduction="10000"/>
          </a:bodyPr>
          <a:lstStyle/>
          <a:p>
            <a:pPr algn="ctr">
              <a:lnSpc>
                <a:spcPct val="64000"/>
              </a:lnSpc>
            </a:pPr>
            <a:r>
              <a:rPr lang="en-US" sz="1950" b="1">
                <a:solidFill>
                  <a:schemeClr val="accent1">
                    <a:alpha val="100000"/>
                  </a:schemeClr>
                </a:solidFill>
                <a:latin typeface="Microsoft Yahei"/>
                <a:ea typeface="Microsoft Yahei"/>
                <a:cs typeface="Microsoft Yahei"/>
              </a:rPr>
              <a:t>产品定位</a:t>
            </a:r>
          </a:p>
        </p:txBody>
      </p:sp>
      <p:sp>
        <p:nvSpPr>
          <p:cNvPr id="9" name="TextBox 9"/>
          <p:cNvSpPr txBox="1"/>
          <p:nvPr/>
        </p:nvSpPr>
        <p:spPr>
          <a:xfrm>
            <a:off x="4394537" y="3736770"/>
            <a:ext cx="2823807" cy="1504957"/>
          </a:xfrm>
          <a:prstGeom prst="rect">
            <a:avLst/>
          </a:prstGeom>
          <a:ln/>
        </p:spPr>
        <p:txBody>
          <a:bodyPr vert="horz" wrap="square" lIns="114300" tIns="57150" rIns="114300" bIns="57150" rtlCol="0" anchor="t" anchorCtr="0">
            <a:normAutofit/>
          </a:bodyPr>
          <a:lstStyle/>
          <a:p>
            <a:pPr algn="ctr">
              <a:lnSpc>
                <a:spcPct val="120000"/>
              </a:lnSpc>
            </a:pPr>
            <a:r>
              <a:rPr lang="en-US" sz="1425">
                <a:solidFill>
                  <a:schemeClr val="dk1">
                    <a:alpha val="100000"/>
                  </a:schemeClr>
                </a:solidFill>
                <a:latin typeface="Microsoft Yahei"/>
                <a:ea typeface="Microsoft Yahei"/>
                <a:cs typeface="Microsoft Yahei"/>
              </a:rPr>
              <a:t>该应用面向各年龄段人群，主要针对在现实生活中社交无法满足自身需求，具有心理健康问题，无法获得情感支撑的各年龄段人群。</a:t>
            </a:r>
          </a:p>
        </p:txBody>
      </p:sp>
      <p:sp>
        <p:nvSpPr>
          <p:cNvPr id="10" name="AutoShape 10"/>
          <p:cNvSpPr/>
          <p:nvPr/>
        </p:nvSpPr>
        <p:spPr>
          <a:xfrm rot="-2700000" flipH="1" flipV="1">
            <a:off x="1428653" y="1269988"/>
            <a:ext cx="1564260" cy="1564260"/>
          </a:xfrm>
          <a:prstGeom prst="teardrop">
            <a:avLst/>
          </a:prstGeom>
          <a:solidFill>
            <a:schemeClr val="accent1">
              <a:alpha val="100000"/>
            </a:schemeClr>
          </a:solidFill>
          <a:ln/>
        </p:spPr>
      </p:sp>
      <p:sp>
        <p:nvSpPr>
          <p:cNvPr id="11" name="TextBox 11"/>
          <p:cNvSpPr txBox="1"/>
          <p:nvPr/>
        </p:nvSpPr>
        <p:spPr>
          <a:xfrm>
            <a:off x="770296" y="3242897"/>
            <a:ext cx="2880974" cy="306471"/>
          </a:xfrm>
          <a:prstGeom prst="rect">
            <a:avLst/>
          </a:prstGeom>
          <a:ln/>
        </p:spPr>
        <p:txBody>
          <a:bodyPr vert="horz" wrap="square" lIns="114300" tIns="57150" rIns="114300" bIns="57150" rtlCol="0" anchor="t" anchorCtr="0">
            <a:normAutofit lnSpcReduction="10000"/>
          </a:bodyPr>
          <a:lstStyle/>
          <a:p>
            <a:pPr algn="ctr">
              <a:lnSpc>
                <a:spcPct val="64000"/>
              </a:lnSpc>
            </a:pPr>
            <a:r>
              <a:rPr lang="en-US" sz="1950" b="1">
                <a:solidFill>
                  <a:schemeClr val="accent1">
                    <a:alpha val="100000"/>
                  </a:schemeClr>
                </a:solidFill>
                <a:latin typeface="Microsoft Yahei"/>
                <a:ea typeface="Microsoft Yahei"/>
                <a:cs typeface="Microsoft Yahei"/>
              </a:rPr>
              <a:t>应用目标人群</a:t>
            </a:r>
          </a:p>
        </p:txBody>
      </p:sp>
      <p:sp>
        <p:nvSpPr>
          <p:cNvPr id="12" name="TextBox 12"/>
          <p:cNvSpPr txBox="1"/>
          <p:nvPr/>
        </p:nvSpPr>
        <p:spPr>
          <a:xfrm>
            <a:off x="798880" y="3736770"/>
            <a:ext cx="2823807" cy="1504957"/>
          </a:xfrm>
          <a:prstGeom prst="rect">
            <a:avLst/>
          </a:prstGeom>
          <a:ln/>
        </p:spPr>
        <p:txBody>
          <a:bodyPr vert="horz" wrap="square" lIns="114300" tIns="57150" rIns="114300" bIns="57150" rtlCol="0" anchor="t" anchorCtr="0">
            <a:normAutofit/>
          </a:bodyPr>
          <a:lstStyle/>
          <a:p>
            <a:pPr algn="ctr">
              <a:lnSpc>
                <a:spcPct val="120000"/>
              </a:lnSpc>
            </a:pPr>
            <a:r>
              <a:rPr lang="en-US" sz="1425">
                <a:solidFill>
                  <a:schemeClr val="dk1">
                    <a:alpha val="100000"/>
                  </a:schemeClr>
                </a:solidFill>
                <a:latin typeface="Microsoft Yahei"/>
                <a:ea typeface="Microsoft Yahei"/>
                <a:cs typeface="Microsoft Yahei"/>
              </a:rPr>
              <a:t>该应用的目标人群广泛，包含社交需求高的年轻用户，具有心理健康问题的各年龄段人群，需要情感支持的各年龄段人群等。</a:t>
            </a:r>
          </a:p>
        </p:txBody>
      </p:sp>
      <p:sp>
        <p:nvSpPr>
          <p:cNvPr id="13" name="AutoShape 13"/>
          <p:cNvSpPr/>
          <p:nvPr/>
        </p:nvSpPr>
        <p:spPr>
          <a:xfrm rot="-2700000" flipH="1" flipV="1">
            <a:off x="8611191" y="1269988"/>
            <a:ext cx="1564260" cy="1564260"/>
          </a:xfrm>
          <a:prstGeom prst="teardrop">
            <a:avLst/>
          </a:prstGeom>
          <a:solidFill>
            <a:schemeClr val="accent1">
              <a:alpha val="100000"/>
            </a:schemeClr>
          </a:solidFill>
          <a:ln/>
        </p:spPr>
      </p:sp>
      <p:sp>
        <p:nvSpPr>
          <p:cNvPr id="14" name="TextBox 14"/>
          <p:cNvSpPr txBox="1"/>
          <p:nvPr/>
        </p:nvSpPr>
        <p:spPr>
          <a:xfrm>
            <a:off x="7952834" y="3242897"/>
            <a:ext cx="2880974" cy="306471"/>
          </a:xfrm>
          <a:prstGeom prst="rect">
            <a:avLst/>
          </a:prstGeom>
          <a:ln/>
        </p:spPr>
        <p:txBody>
          <a:bodyPr vert="horz" wrap="square" lIns="114300" tIns="57150" rIns="114300" bIns="57150" rtlCol="0" anchor="t" anchorCtr="0">
            <a:normAutofit lnSpcReduction="10000"/>
          </a:bodyPr>
          <a:lstStyle/>
          <a:p>
            <a:pPr algn="ctr">
              <a:lnSpc>
                <a:spcPct val="64000"/>
              </a:lnSpc>
            </a:pPr>
            <a:r>
              <a:rPr lang="en-US" sz="1950" b="1">
                <a:solidFill>
                  <a:schemeClr val="accent1">
                    <a:alpha val="100000"/>
                  </a:schemeClr>
                </a:solidFill>
                <a:latin typeface="Microsoft Yahei"/>
                <a:ea typeface="Microsoft Yahei"/>
                <a:cs typeface="Microsoft Yahei"/>
              </a:rPr>
              <a:t>解决心理健康问题</a:t>
            </a:r>
          </a:p>
        </p:txBody>
      </p:sp>
      <p:sp>
        <p:nvSpPr>
          <p:cNvPr id="15" name="TextBox 15"/>
          <p:cNvSpPr txBox="1"/>
          <p:nvPr/>
        </p:nvSpPr>
        <p:spPr>
          <a:xfrm>
            <a:off x="7981417" y="3736770"/>
            <a:ext cx="2823807" cy="1504957"/>
          </a:xfrm>
          <a:prstGeom prst="rect">
            <a:avLst/>
          </a:prstGeom>
          <a:ln/>
        </p:spPr>
        <p:txBody>
          <a:bodyPr vert="horz" wrap="square" lIns="114300" tIns="57150" rIns="114300" bIns="57150" rtlCol="0" anchor="t" anchorCtr="0">
            <a:normAutofit/>
          </a:bodyPr>
          <a:lstStyle/>
          <a:p>
            <a:pPr algn="ctr">
              <a:lnSpc>
                <a:spcPct val="120000"/>
              </a:lnSpc>
            </a:pPr>
            <a:r>
              <a:rPr lang="en-US" sz="1425">
                <a:solidFill>
                  <a:schemeClr val="dk1">
                    <a:alpha val="100000"/>
                  </a:schemeClr>
                </a:solidFill>
                <a:latin typeface="Microsoft Yahei"/>
                <a:ea typeface="Microsoft Yahei"/>
                <a:cs typeface="Microsoft Yahei"/>
              </a:rPr>
              <a:t>该应用旨在提升用户的幸福感，缓解压力，解决或减轻用户心理健康问题，吸引更多用户使用。</a:t>
            </a:r>
          </a:p>
        </p:txBody>
      </p:sp>
      <p:pic>
        <p:nvPicPr>
          <p:cNvPr id="16" name="Picture 16"/>
          <p:cNvPicPr>
            <a:picLocks noChangeAspect="1"/>
          </p:cNvPicPr>
          <p:nvPr/>
        </p:nvPicPr>
        <p:blipFill>
          <a:blip r:embed="rId2">
            <a:alphaModFix/>
          </a:blip>
          <a:srcRect/>
          <a:stretch>
            <a:fillRect/>
          </a:stretch>
        </p:blipFill>
        <p:spPr>
          <a:xfrm>
            <a:off x="1508111" y="1349446"/>
            <a:ext cx="1405344" cy="1405344"/>
          </a:xfrm>
          <a:prstGeom prst="ellipse">
            <a:avLst/>
          </a:prstGeom>
        </p:spPr>
      </p:pic>
      <p:pic>
        <p:nvPicPr>
          <p:cNvPr id="17" name="Picture 17"/>
          <p:cNvPicPr>
            <a:picLocks noChangeAspect="1"/>
          </p:cNvPicPr>
          <p:nvPr/>
        </p:nvPicPr>
        <p:blipFill>
          <a:blip r:embed="rId3">
            <a:alphaModFix/>
          </a:blip>
          <a:srcRect l="23083" r="23083"/>
          <a:stretch>
            <a:fillRect/>
          </a:stretch>
        </p:blipFill>
        <p:spPr>
          <a:xfrm>
            <a:off x="5103768" y="1349446"/>
            <a:ext cx="1405344" cy="1405344"/>
          </a:xfrm>
          <a:prstGeom prst="ellipse">
            <a:avLst/>
          </a:prstGeom>
        </p:spPr>
      </p:pic>
      <p:pic>
        <p:nvPicPr>
          <p:cNvPr id="18" name="Picture 18"/>
          <p:cNvPicPr>
            <a:picLocks noChangeAspect="1"/>
          </p:cNvPicPr>
          <p:nvPr/>
        </p:nvPicPr>
        <p:blipFill>
          <a:blip r:embed="rId4">
            <a:alphaModFix/>
          </a:blip>
          <a:srcRect l="22583" r="22583"/>
          <a:stretch>
            <a:fillRect/>
          </a:stretch>
        </p:blipFill>
        <p:spPr>
          <a:xfrm>
            <a:off x="8687843" y="1349446"/>
            <a:ext cx="1405344" cy="1405344"/>
          </a:xfrm>
          <a:prstGeom prst="ellipse">
            <a:avLst/>
          </a:prstGeom>
        </p:spPr>
      </p:pic>
      <p:sp>
        <p:nvSpPr>
          <p:cNvPr id="19" name="AutoShape 19"/>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目标客户</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AutoShape 4"/>
          <p:cNvSpPr/>
          <p:nvPr/>
        </p:nvSpPr>
        <p:spPr>
          <a:xfrm>
            <a:off x="943060" y="1443019"/>
            <a:ext cx="887740" cy="887740"/>
          </a:xfrm>
          <a:prstGeom prst="ellipse">
            <a:avLst/>
          </a:prstGeom>
          <a:solidFill>
            <a:schemeClr val="accent1">
              <a:alpha val="100000"/>
            </a:schemeClr>
          </a:solidFill>
          <a:ln/>
        </p:spPr>
      </p:sp>
      <p:sp>
        <p:nvSpPr>
          <p:cNvPr id="5" name="TextBox 5"/>
          <p:cNvSpPr txBox="1"/>
          <p:nvPr/>
        </p:nvSpPr>
        <p:spPr>
          <a:xfrm>
            <a:off x="943060" y="4454994"/>
            <a:ext cx="2295358" cy="997982"/>
          </a:xfrm>
          <a:prstGeom prst="rect">
            <a:avLst/>
          </a:prstGeom>
          <a:ln/>
        </p:spPr>
        <p:txBody>
          <a:bodyPr vert="horz" wrap="square" lIns="114300" tIns="57150" rIns="114300" bIns="57150" rtlCol="0" anchor="t" anchorCtr="0">
            <a:normAutofit/>
          </a:bodyPr>
          <a:lstStyle/>
          <a:p>
            <a:pPr algn="just">
              <a:lnSpc>
                <a:spcPct val="96000"/>
              </a:lnSpc>
            </a:pPr>
            <a:r>
              <a:rPr lang="en-US" sz="1425">
                <a:solidFill>
                  <a:schemeClr val="dk1">
                    <a:alpha val="100000"/>
                  </a:schemeClr>
                </a:solidFill>
                <a:latin typeface="Microsoft Yahei"/>
                <a:ea typeface="Microsoft Yahei"/>
                <a:cs typeface="Microsoft Yahei"/>
              </a:rPr>
              <a:t>应用面向各年龄段人群，主要针对社交需求高、具有心理健康问题或需要情感支持的各年龄段人群。</a:t>
            </a:r>
          </a:p>
        </p:txBody>
      </p:sp>
      <p:sp>
        <p:nvSpPr>
          <p:cNvPr id="6" name="TextBox 6"/>
          <p:cNvSpPr txBox="1"/>
          <p:nvPr/>
        </p:nvSpPr>
        <p:spPr>
          <a:xfrm>
            <a:off x="943060" y="3647595"/>
            <a:ext cx="2295358" cy="426410"/>
          </a:xfrm>
          <a:prstGeom prst="rect">
            <a:avLst/>
          </a:prstGeom>
          <a:ln>
            <a:solidFill>
              <a:schemeClr val="accent1">
                <a:alpha val="100000"/>
              </a:schemeClr>
            </a:solidFill>
          </a:ln>
        </p:spPr>
        <p:txBody>
          <a:bodyPr vert="horz" wrap="square" lIns="114300" tIns="57150" rIns="114300" bIns="57150" rtlCol="0" anchor="t" anchorCtr="0">
            <a:normAutofit/>
          </a:bodyPr>
          <a:lstStyle/>
          <a:p>
            <a:pPr>
              <a:lnSpc>
                <a:spcPct val="96000"/>
              </a:lnSpc>
            </a:pPr>
            <a:r>
              <a:rPr lang="en-US" sz="1950" b="1">
                <a:solidFill>
                  <a:schemeClr val="accent1">
                    <a:alpha val="100000"/>
                  </a:schemeClr>
                </a:solidFill>
                <a:latin typeface="Microsoft Yahei"/>
                <a:ea typeface="Microsoft Yahei"/>
                <a:cs typeface="Microsoft Yahei"/>
              </a:rPr>
              <a:t>产品定位</a:t>
            </a:r>
          </a:p>
        </p:txBody>
      </p:sp>
      <p:cxnSp>
        <p:nvCxnSpPr>
          <p:cNvPr id="7" name="Connector 7"/>
          <p:cNvCxnSpPr/>
          <p:nvPr/>
        </p:nvCxnSpPr>
        <p:spPr>
          <a:xfrm>
            <a:off x="1042991" y="4293078"/>
            <a:ext cx="2549672" cy="0"/>
          </a:xfrm>
          <a:prstGeom prst="line">
            <a:avLst/>
          </a:prstGeom>
          <a:ln w="9525">
            <a:solidFill>
              <a:schemeClr val="accent1">
                <a:lumMod val="75000"/>
              </a:schemeClr>
            </a:solidFill>
            <a:prstDash val="solid"/>
            <a:headEnd type="none"/>
            <a:tailEnd type="none"/>
          </a:ln>
        </p:spPr>
        <p:style>
          <a:lnRef idx="0">
            <a:schemeClr val="accent1"/>
          </a:lnRef>
          <a:fillRef idx="1">
            <a:schemeClr val="accent1"/>
          </a:fillRef>
          <a:effectRef idx="0">
            <a:schemeClr val="accent1"/>
          </a:effectRef>
          <a:fontRef idx="minor">
            <a:schemeClr val="lt1"/>
          </a:fontRef>
        </p:style>
      </p:cxnSp>
      <p:cxnSp>
        <p:nvCxnSpPr>
          <p:cNvPr id="8" name="Connector 8"/>
          <p:cNvCxnSpPr/>
          <p:nvPr/>
        </p:nvCxnSpPr>
        <p:spPr>
          <a:xfrm>
            <a:off x="3400347" y="3849550"/>
            <a:ext cx="197419" cy="0"/>
          </a:xfrm>
          <a:prstGeom prst="line">
            <a:avLst/>
          </a:prstGeom>
          <a:ln w="3810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9" name="Freeform 9"/>
          <p:cNvSpPr/>
          <p:nvPr/>
        </p:nvSpPr>
        <p:spPr>
          <a:xfrm>
            <a:off x="3512604" y="3760291"/>
            <a:ext cx="144516" cy="178520"/>
          </a:xfrm>
          <a:custGeom>
            <a:avLst/>
            <a:gdLst/>
            <a:ahLst/>
            <a:cxnLst/>
            <a:rect l="l" t="t" r="r" b="b"/>
            <a:pathLst>
              <a:path w="1905000" h="1905000">
                <a:moveTo>
                  <a:pt x="0" y="0"/>
                </a:moveTo>
                <a:lnTo>
                  <a:pt x="762000" y="0"/>
                </a:lnTo>
                <a:lnTo>
                  <a:pt x="1905000" y="952500"/>
                </a:lnTo>
                <a:lnTo>
                  <a:pt x="762000" y="1905000"/>
                </a:lnTo>
                <a:lnTo>
                  <a:pt x="0" y="1905000"/>
                </a:lnTo>
                <a:lnTo>
                  <a:pt x="1143000" y="952500"/>
                </a:lnTo>
                <a:lnTo>
                  <a:pt x="0" y="0"/>
                </a:lnTo>
                <a:close/>
              </a:path>
            </a:pathLst>
          </a:custGeom>
          <a:solidFill>
            <a:schemeClr val="accent1">
              <a:alpha val="100000"/>
            </a:schemeClr>
          </a:solidFill>
          <a:ln>
            <a:solidFill>
              <a:schemeClr val="accent1">
                <a:alpha val="100000"/>
              </a:schemeClr>
            </a:solidFill>
          </a:ln>
        </p:spPr>
      </p:sp>
      <p:sp>
        <p:nvSpPr>
          <p:cNvPr id="10" name="AutoShape 10"/>
          <p:cNvSpPr/>
          <p:nvPr/>
        </p:nvSpPr>
        <p:spPr>
          <a:xfrm>
            <a:off x="4449410" y="1385075"/>
            <a:ext cx="887740" cy="887740"/>
          </a:xfrm>
          <a:prstGeom prst="ellipse">
            <a:avLst/>
          </a:prstGeom>
          <a:solidFill>
            <a:schemeClr val="accent2">
              <a:alpha val="100000"/>
            </a:schemeClr>
          </a:solidFill>
          <a:ln/>
        </p:spPr>
      </p:sp>
      <p:pic>
        <p:nvPicPr>
          <p:cNvPr id="11" name="Picture 11"/>
          <p:cNvPicPr>
            <a:picLocks noChangeAspect="1"/>
          </p:cNvPicPr>
          <p:nvPr/>
        </p:nvPicPr>
        <p:blipFill>
          <a:blip r:embed="rId2"/>
          <a:srcRect l="13792" r="13792"/>
          <a:stretch>
            <a:fillRect/>
          </a:stretch>
        </p:blipFill>
        <p:spPr>
          <a:xfrm>
            <a:off x="4800541" y="1327011"/>
            <a:ext cx="2125510" cy="2125510"/>
          </a:xfrm>
          <a:prstGeom prst="ellipse">
            <a:avLst/>
          </a:prstGeom>
        </p:spPr>
      </p:pic>
      <p:sp>
        <p:nvSpPr>
          <p:cNvPr id="12" name="TextBox 12"/>
          <p:cNvSpPr txBox="1"/>
          <p:nvPr/>
        </p:nvSpPr>
        <p:spPr>
          <a:xfrm>
            <a:off x="4449410" y="3647595"/>
            <a:ext cx="2295358" cy="426410"/>
          </a:xfrm>
          <a:prstGeom prst="rect">
            <a:avLst/>
          </a:prstGeom>
          <a:ln>
            <a:solidFill>
              <a:schemeClr val="accent1">
                <a:alpha val="100000"/>
              </a:schemeClr>
            </a:solidFill>
          </a:ln>
        </p:spPr>
        <p:txBody>
          <a:bodyPr vert="horz" wrap="square" lIns="114300" tIns="57150" rIns="114300" bIns="57150" rtlCol="0" anchor="t" anchorCtr="0">
            <a:normAutofit/>
          </a:bodyPr>
          <a:lstStyle/>
          <a:p>
            <a:pPr>
              <a:lnSpc>
                <a:spcPct val="96000"/>
              </a:lnSpc>
            </a:pPr>
            <a:r>
              <a:rPr lang="en-US" sz="1950" b="1">
                <a:solidFill>
                  <a:schemeClr val="accent1">
                    <a:alpha val="100000"/>
                  </a:schemeClr>
                </a:solidFill>
                <a:latin typeface="Microsoft Yahei"/>
                <a:ea typeface="Microsoft Yahei"/>
                <a:cs typeface="Microsoft Yahei"/>
              </a:rPr>
              <a:t>宣传营销</a:t>
            </a:r>
          </a:p>
        </p:txBody>
      </p:sp>
      <p:cxnSp>
        <p:nvCxnSpPr>
          <p:cNvPr id="13" name="Connector 13"/>
          <p:cNvCxnSpPr/>
          <p:nvPr/>
        </p:nvCxnSpPr>
        <p:spPr>
          <a:xfrm>
            <a:off x="4549341" y="4235135"/>
            <a:ext cx="2549672" cy="0"/>
          </a:xfrm>
          <a:prstGeom prst="line">
            <a:avLst/>
          </a:prstGeom>
          <a:ln w="9525">
            <a:solidFill>
              <a:schemeClr val="accent2">
                <a:lumMod val="75000"/>
              </a:schemeClr>
            </a:solidFill>
            <a:prstDash val="solid"/>
            <a:headEnd type="none"/>
            <a:tailEnd type="none"/>
          </a:ln>
        </p:spPr>
        <p:style>
          <a:lnRef idx="0">
            <a:schemeClr val="accent2"/>
          </a:lnRef>
          <a:fillRef idx="1">
            <a:schemeClr val="accent2"/>
          </a:fillRef>
          <a:effectRef idx="0">
            <a:schemeClr val="accent2"/>
          </a:effectRef>
          <a:fontRef idx="minor">
            <a:schemeClr val="lt1"/>
          </a:fontRef>
        </p:style>
      </p:cxnSp>
      <p:cxnSp>
        <p:nvCxnSpPr>
          <p:cNvPr id="14" name="Connector 14"/>
          <p:cNvCxnSpPr/>
          <p:nvPr/>
        </p:nvCxnSpPr>
        <p:spPr>
          <a:xfrm>
            <a:off x="6906696" y="3849550"/>
            <a:ext cx="197419" cy="0"/>
          </a:xfrm>
          <a:prstGeom prst="line">
            <a:avLst/>
          </a:prstGeom>
          <a:ln w="38100">
            <a:solidFill>
              <a:schemeClr val="accent2"/>
            </a:solidFill>
            <a:prstDash val="solid"/>
            <a:headEnd type="none"/>
            <a:tailEnd type="none"/>
          </a:ln>
        </p:spPr>
        <p:style>
          <a:lnRef idx="0">
            <a:schemeClr val="accent2"/>
          </a:lnRef>
          <a:fillRef idx="1">
            <a:schemeClr val="accent2"/>
          </a:fillRef>
          <a:effectRef idx="0">
            <a:schemeClr val="accent2"/>
          </a:effectRef>
          <a:fontRef idx="minor">
            <a:schemeClr val="lt1"/>
          </a:fontRef>
        </p:style>
      </p:cxnSp>
      <p:sp>
        <p:nvSpPr>
          <p:cNvPr id="15" name="Freeform 15"/>
          <p:cNvSpPr/>
          <p:nvPr/>
        </p:nvSpPr>
        <p:spPr>
          <a:xfrm>
            <a:off x="7018954" y="3760291"/>
            <a:ext cx="144516" cy="178520"/>
          </a:xfrm>
          <a:custGeom>
            <a:avLst/>
            <a:gdLst/>
            <a:ahLst/>
            <a:cxnLst/>
            <a:rect l="l" t="t" r="r" b="b"/>
            <a:pathLst>
              <a:path w="1905000" h="1905000">
                <a:moveTo>
                  <a:pt x="0" y="0"/>
                </a:moveTo>
                <a:lnTo>
                  <a:pt x="762000" y="0"/>
                </a:lnTo>
                <a:lnTo>
                  <a:pt x="1905000" y="952500"/>
                </a:lnTo>
                <a:lnTo>
                  <a:pt x="762000" y="1905000"/>
                </a:lnTo>
                <a:lnTo>
                  <a:pt x="0" y="1905000"/>
                </a:lnTo>
                <a:lnTo>
                  <a:pt x="1143000" y="952500"/>
                </a:lnTo>
                <a:lnTo>
                  <a:pt x="0" y="0"/>
                </a:lnTo>
                <a:close/>
              </a:path>
            </a:pathLst>
          </a:custGeom>
          <a:solidFill>
            <a:schemeClr val="accent2">
              <a:alpha val="100000"/>
            </a:schemeClr>
          </a:solidFill>
          <a:ln>
            <a:solidFill>
              <a:schemeClr val="accent1">
                <a:alpha val="100000"/>
              </a:schemeClr>
            </a:solidFill>
          </a:ln>
        </p:spPr>
      </p:sp>
      <p:sp>
        <p:nvSpPr>
          <p:cNvPr id="16" name="AutoShape 16"/>
          <p:cNvSpPr/>
          <p:nvPr/>
        </p:nvSpPr>
        <p:spPr>
          <a:xfrm>
            <a:off x="7975296" y="1385075"/>
            <a:ext cx="887740" cy="887740"/>
          </a:xfrm>
          <a:prstGeom prst="ellipse">
            <a:avLst/>
          </a:prstGeom>
          <a:solidFill>
            <a:schemeClr val="accent1">
              <a:alpha val="100000"/>
            </a:schemeClr>
          </a:solidFill>
          <a:ln/>
        </p:spPr>
      </p:sp>
      <p:pic>
        <p:nvPicPr>
          <p:cNvPr id="17" name="Picture 17"/>
          <p:cNvPicPr>
            <a:picLocks noChangeAspect="1"/>
          </p:cNvPicPr>
          <p:nvPr/>
        </p:nvPicPr>
        <p:blipFill>
          <a:blip r:embed="rId3"/>
          <a:srcRect/>
          <a:stretch>
            <a:fillRect/>
          </a:stretch>
        </p:blipFill>
        <p:spPr>
          <a:xfrm>
            <a:off x="8326427" y="1327011"/>
            <a:ext cx="2125510" cy="2125510"/>
          </a:xfrm>
          <a:prstGeom prst="ellipse">
            <a:avLst/>
          </a:prstGeom>
        </p:spPr>
      </p:pic>
      <p:sp>
        <p:nvSpPr>
          <p:cNvPr id="18" name="TextBox 18"/>
          <p:cNvSpPr txBox="1"/>
          <p:nvPr/>
        </p:nvSpPr>
        <p:spPr>
          <a:xfrm>
            <a:off x="7975296" y="3647595"/>
            <a:ext cx="2295358" cy="426410"/>
          </a:xfrm>
          <a:prstGeom prst="rect">
            <a:avLst/>
          </a:prstGeom>
          <a:ln>
            <a:solidFill>
              <a:schemeClr val="accent1">
                <a:alpha val="100000"/>
              </a:schemeClr>
            </a:solidFill>
          </a:ln>
        </p:spPr>
        <p:txBody>
          <a:bodyPr vert="horz" wrap="square" lIns="114300" tIns="57150" rIns="114300" bIns="57150" rtlCol="0" anchor="t" anchorCtr="0">
            <a:normAutofit/>
          </a:bodyPr>
          <a:lstStyle/>
          <a:p>
            <a:pPr>
              <a:lnSpc>
                <a:spcPct val="96000"/>
              </a:lnSpc>
            </a:pPr>
            <a:r>
              <a:rPr lang="en-US" sz="1950" b="1">
                <a:solidFill>
                  <a:schemeClr val="accent1">
                    <a:alpha val="100000"/>
                  </a:schemeClr>
                </a:solidFill>
                <a:latin typeface="Microsoft Yahei"/>
                <a:ea typeface="Microsoft Yahei"/>
                <a:cs typeface="Microsoft Yahei"/>
              </a:rPr>
              <a:t>定价策略</a:t>
            </a:r>
          </a:p>
        </p:txBody>
      </p:sp>
      <p:cxnSp>
        <p:nvCxnSpPr>
          <p:cNvPr id="19" name="Connector 19"/>
          <p:cNvCxnSpPr/>
          <p:nvPr/>
        </p:nvCxnSpPr>
        <p:spPr>
          <a:xfrm>
            <a:off x="8075227" y="4235135"/>
            <a:ext cx="2549672" cy="0"/>
          </a:xfrm>
          <a:prstGeom prst="line">
            <a:avLst/>
          </a:prstGeom>
          <a:ln w="9525">
            <a:solidFill>
              <a:schemeClr val="accent1">
                <a:lumMod val="75000"/>
              </a:schemeClr>
            </a:solidFill>
            <a:prstDash val="solid"/>
            <a:headEnd type="none"/>
            <a:tailEnd type="none"/>
          </a:ln>
        </p:spPr>
        <p:style>
          <a:lnRef idx="0">
            <a:schemeClr val="accent1"/>
          </a:lnRef>
          <a:fillRef idx="1">
            <a:schemeClr val="accent1"/>
          </a:fillRef>
          <a:effectRef idx="0">
            <a:schemeClr val="accent1"/>
          </a:effectRef>
          <a:fontRef idx="minor">
            <a:schemeClr val="lt1"/>
          </a:fontRef>
        </p:style>
      </p:cxnSp>
      <p:cxnSp>
        <p:nvCxnSpPr>
          <p:cNvPr id="20" name="Connector 20"/>
          <p:cNvCxnSpPr/>
          <p:nvPr/>
        </p:nvCxnSpPr>
        <p:spPr>
          <a:xfrm>
            <a:off x="10432583" y="3849550"/>
            <a:ext cx="197419" cy="0"/>
          </a:xfrm>
          <a:prstGeom prst="line">
            <a:avLst/>
          </a:prstGeom>
          <a:ln w="3810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21" name="Freeform 21"/>
          <p:cNvSpPr/>
          <p:nvPr/>
        </p:nvSpPr>
        <p:spPr>
          <a:xfrm>
            <a:off x="10544840" y="3760291"/>
            <a:ext cx="144516" cy="178520"/>
          </a:xfrm>
          <a:custGeom>
            <a:avLst/>
            <a:gdLst/>
            <a:ahLst/>
            <a:cxnLst/>
            <a:rect l="l" t="t" r="r" b="b"/>
            <a:pathLst>
              <a:path w="1905000" h="1905000">
                <a:moveTo>
                  <a:pt x="0" y="0"/>
                </a:moveTo>
                <a:lnTo>
                  <a:pt x="762000" y="0"/>
                </a:lnTo>
                <a:lnTo>
                  <a:pt x="1905000" y="952500"/>
                </a:lnTo>
                <a:lnTo>
                  <a:pt x="762000" y="1905000"/>
                </a:lnTo>
                <a:lnTo>
                  <a:pt x="0" y="1905000"/>
                </a:lnTo>
                <a:lnTo>
                  <a:pt x="1143000" y="952500"/>
                </a:lnTo>
                <a:lnTo>
                  <a:pt x="0" y="0"/>
                </a:lnTo>
                <a:close/>
              </a:path>
            </a:pathLst>
          </a:custGeom>
          <a:solidFill>
            <a:schemeClr val="accent1">
              <a:alpha val="100000"/>
            </a:schemeClr>
          </a:solidFill>
          <a:ln>
            <a:solidFill>
              <a:schemeClr val="accent1">
                <a:alpha val="100000"/>
              </a:schemeClr>
            </a:solidFill>
          </a:ln>
        </p:spPr>
      </p:sp>
      <p:pic>
        <p:nvPicPr>
          <p:cNvPr id="22" name="Picture 22"/>
          <p:cNvPicPr>
            <a:picLocks noChangeAspect="1"/>
          </p:cNvPicPr>
          <p:nvPr/>
        </p:nvPicPr>
        <p:blipFill>
          <a:blip r:embed="rId4"/>
          <a:srcRect l="16667" r="16667"/>
          <a:stretch>
            <a:fillRect/>
          </a:stretch>
        </p:blipFill>
        <p:spPr>
          <a:xfrm>
            <a:off x="1294027" y="1385075"/>
            <a:ext cx="2125510" cy="2125510"/>
          </a:xfrm>
          <a:prstGeom prst="ellipse">
            <a:avLst/>
          </a:prstGeom>
        </p:spPr>
      </p:pic>
      <p:sp>
        <p:nvSpPr>
          <p:cNvPr id="23" name="TextBox 23"/>
          <p:cNvSpPr txBox="1"/>
          <p:nvPr/>
        </p:nvSpPr>
        <p:spPr>
          <a:xfrm>
            <a:off x="4449410" y="4454994"/>
            <a:ext cx="2295358" cy="997982"/>
          </a:xfrm>
          <a:prstGeom prst="rect">
            <a:avLst/>
          </a:prstGeom>
          <a:ln/>
        </p:spPr>
        <p:txBody>
          <a:bodyPr vert="horz" wrap="square" lIns="114300" tIns="57150" rIns="114300" bIns="57150" rtlCol="0" anchor="t" anchorCtr="0">
            <a:normAutofit/>
          </a:bodyPr>
          <a:lstStyle/>
          <a:p>
            <a:pPr algn="just">
              <a:lnSpc>
                <a:spcPct val="96000"/>
              </a:lnSpc>
            </a:pPr>
            <a:r>
              <a:rPr lang="en-US" sz="1425">
                <a:solidFill>
                  <a:schemeClr val="dk1">
                    <a:alpha val="100000"/>
                  </a:schemeClr>
                </a:solidFill>
                <a:latin typeface="Microsoft Yahei"/>
                <a:ea typeface="Microsoft Yahei"/>
                <a:cs typeface="Microsoft Yahei"/>
              </a:rPr>
              <a:t>通过与短视频平台博主合作、学校、老年人活动中心、心理咨询室等地建立合作，提高公众信任度。</a:t>
            </a:r>
          </a:p>
        </p:txBody>
      </p:sp>
      <p:sp>
        <p:nvSpPr>
          <p:cNvPr id="24" name="TextBox 24"/>
          <p:cNvSpPr txBox="1"/>
          <p:nvPr/>
        </p:nvSpPr>
        <p:spPr>
          <a:xfrm>
            <a:off x="7975296" y="4454994"/>
            <a:ext cx="2295358" cy="997982"/>
          </a:xfrm>
          <a:prstGeom prst="rect">
            <a:avLst/>
          </a:prstGeom>
          <a:ln/>
        </p:spPr>
        <p:txBody>
          <a:bodyPr vert="horz" wrap="square" lIns="114300" tIns="57150" rIns="114300" bIns="57150" rtlCol="0" anchor="t" anchorCtr="0">
            <a:normAutofit/>
          </a:bodyPr>
          <a:lstStyle/>
          <a:p>
            <a:pPr algn="just">
              <a:lnSpc>
                <a:spcPct val="96000"/>
              </a:lnSpc>
            </a:pPr>
            <a:r>
              <a:rPr lang="en-US" sz="1425">
                <a:solidFill>
                  <a:schemeClr val="dk1">
                    <a:alpha val="100000"/>
                  </a:schemeClr>
                </a:solidFill>
                <a:latin typeface="Microsoft Yahei"/>
                <a:ea typeface="Microsoft Yahei"/>
                <a:cs typeface="Microsoft Yahei"/>
              </a:rPr>
              <a:t>基础服务免费使用，吸引用户；特殊装扮和互动动作等需充值，提高用户参与度和粘性。</a:t>
            </a:r>
          </a:p>
        </p:txBody>
      </p:sp>
      <p:sp>
        <p:nvSpPr>
          <p:cNvPr id="25" name="TextBox 25"/>
          <p:cNvSpPr txBox="1"/>
          <p:nvPr/>
        </p:nvSpPr>
        <p:spPr>
          <a:xfrm>
            <a:off x="7993441" y="1528661"/>
            <a:ext cx="553426" cy="435483"/>
          </a:xfrm>
          <a:prstGeom prst="rect">
            <a:avLst/>
          </a:prstGeom>
          <a:ln/>
        </p:spPr>
        <p:txBody>
          <a:bodyPr vert="horz" wrap="square" lIns="114300" tIns="57150" rIns="114300" bIns="57150" rtlCol="0" anchor="ctr" anchorCtr="1">
            <a:normAutofit/>
          </a:bodyPr>
          <a:lstStyle/>
          <a:p>
            <a:pPr algn="ctr">
              <a:lnSpc>
                <a:spcPct val="100000"/>
              </a:lnSpc>
              <a:spcBef>
                <a:spcPts val="450"/>
              </a:spcBef>
            </a:pPr>
            <a:r>
              <a:rPr lang="en-US" sz="1950" b="1">
                <a:solidFill>
                  <a:srgbClr val="FFFFFF">
                    <a:alpha val="100000"/>
                  </a:srgbClr>
                </a:solidFill>
                <a:latin typeface="Microsoft Yahei"/>
                <a:ea typeface="Microsoft Yahei"/>
                <a:cs typeface="Microsoft Yahei"/>
              </a:rPr>
              <a:t>03</a:t>
            </a:r>
          </a:p>
        </p:txBody>
      </p:sp>
      <p:sp>
        <p:nvSpPr>
          <p:cNvPr id="26" name="TextBox 26"/>
          <p:cNvSpPr txBox="1"/>
          <p:nvPr/>
        </p:nvSpPr>
        <p:spPr>
          <a:xfrm>
            <a:off x="4467555" y="1528661"/>
            <a:ext cx="550828" cy="416249"/>
          </a:xfrm>
          <a:prstGeom prst="rect">
            <a:avLst/>
          </a:prstGeom>
          <a:ln/>
        </p:spPr>
        <p:txBody>
          <a:bodyPr vert="horz" wrap="square" lIns="114300" tIns="57150" rIns="114300" bIns="57150" rtlCol="0" anchor="ctr" anchorCtr="1">
            <a:normAutofit/>
          </a:bodyPr>
          <a:lstStyle/>
          <a:p>
            <a:pPr>
              <a:lnSpc>
                <a:spcPct val="100000"/>
              </a:lnSpc>
              <a:spcBef>
                <a:spcPts val="450"/>
              </a:spcBef>
            </a:pPr>
            <a:r>
              <a:rPr lang="en-US" sz="1950" b="1">
                <a:solidFill>
                  <a:srgbClr val="FFFFFF">
                    <a:alpha val="100000"/>
                  </a:srgbClr>
                </a:solidFill>
                <a:latin typeface="Microsoft Yahei"/>
                <a:ea typeface="Microsoft Yahei"/>
                <a:cs typeface="Microsoft Yahei"/>
              </a:rPr>
              <a:t>02</a:t>
            </a:r>
          </a:p>
        </p:txBody>
      </p:sp>
      <p:sp>
        <p:nvSpPr>
          <p:cNvPr id="27" name="TextBox 27"/>
          <p:cNvSpPr txBox="1"/>
          <p:nvPr/>
        </p:nvSpPr>
        <p:spPr>
          <a:xfrm>
            <a:off x="933987" y="1528661"/>
            <a:ext cx="553426" cy="435483"/>
          </a:xfrm>
          <a:prstGeom prst="rect">
            <a:avLst/>
          </a:prstGeom>
          <a:ln/>
        </p:spPr>
        <p:txBody>
          <a:bodyPr vert="horz" wrap="square" lIns="114300" tIns="57150" rIns="114300" bIns="57150" rtlCol="0" anchor="ctr" anchorCtr="1">
            <a:normAutofit/>
          </a:bodyPr>
          <a:lstStyle/>
          <a:p>
            <a:pPr algn="ctr">
              <a:lnSpc>
                <a:spcPct val="100000"/>
              </a:lnSpc>
              <a:spcBef>
                <a:spcPts val="450"/>
              </a:spcBef>
            </a:pPr>
            <a:r>
              <a:rPr lang="en-US" sz="1950" b="1">
                <a:solidFill>
                  <a:srgbClr val="FFFFFF">
                    <a:alpha val="100000"/>
                  </a:srgbClr>
                </a:solidFill>
                <a:latin typeface="Microsoft Yahei"/>
                <a:ea typeface="Microsoft Yahei"/>
                <a:cs typeface="Microsoft Yahei"/>
              </a:rPr>
              <a:t>01</a:t>
            </a:r>
          </a:p>
        </p:txBody>
      </p:sp>
      <p:sp>
        <p:nvSpPr>
          <p:cNvPr id="28" name="AutoShape 28"/>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营销战略</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TextBox 4"/>
          <p:cNvSpPr txBox="1"/>
          <p:nvPr/>
        </p:nvSpPr>
        <p:spPr>
          <a:xfrm>
            <a:off x="513502" y="1989399"/>
            <a:ext cx="3225455" cy="1226248"/>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通过在视频平台等投放广告，提高应用的知名度，吸引目标人群。</a:t>
            </a:r>
          </a:p>
        </p:txBody>
      </p:sp>
      <p:sp>
        <p:nvSpPr>
          <p:cNvPr id="5" name="TextBox 5"/>
          <p:cNvSpPr txBox="1"/>
          <p:nvPr/>
        </p:nvSpPr>
        <p:spPr>
          <a:xfrm>
            <a:off x="513502" y="1599279"/>
            <a:ext cx="2295358" cy="408265"/>
          </a:xfrm>
          <a:prstGeom prst="rect">
            <a:avLst/>
          </a:prstGeom>
          <a:ln/>
        </p:spPr>
        <p:txBody>
          <a:bodyPr vert="horz" wrap="square" lIns="114300" tIns="57150" rIns="114300" bIns="57150" rtlCol="0" anchor="t" anchorCtr="0">
            <a:normAutofit/>
          </a:bodyPr>
          <a:lstStyle/>
          <a:p>
            <a:pPr>
              <a:lnSpc>
                <a:spcPct val="96000"/>
              </a:lnSpc>
            </a:pPr>
            <a:r>
              <a:rPr lang="en-US" sz="1800" b="1">
                <a:solidFill>
                  <a:schemeClr val="accent1">
                    <a:alpha val="100000"/>
                  </a:schemeClr>
                </a:solidFill>
                <a:latin typeface="Microsoft Yahei"/>
                <a:ea typeface="Microsoft Yahei"/>
                <a:cs typeface="Microsoft Yahei"/>
              </a:rPr>
              <a:t>提升应用知名度</a:t>
            </a:r>
          </a:p>
        </p:txBody>
      </p:sp>
      <p:sp>
        <p:nvSpPr>
          <p:cNvPr id="6" name="AutoShape 6"/>
          <p:cNvSpPr/>
          <p:nvPr/>
        </p:nvSpPr>
        <p:spPr>
          <a:xfrm>
            <a:off x="4678866" y="1755740"/>
            <a:ext cx="1403868" cy="1238707"/>
          </a:xfrm>
          <a:prstGeom prst="triangle">
            <a:avLst>
              <a:gd name="adj" fmla="val 50000"/>
            </a:avLst>
          </a:prstGeom>
          <a:solidFill>
            <a:schemeClr val="accent1">
              <a:alpha val="100000"/>
            </a:schemeClr>
          </a:solidFill>
          <a:ln/>
        </p:spPr>
      </p:sp>
      <p:sp>
        <p:nvSpPr>
          <p:cNvPr id="7" name="AutoShape 7"/>
          <p:cNvSpPr/>
          <p:nvPr/>
        </p:nvSpPr>
        <p:spPr>
          <a:xfrm rot="4275690">
            <a:off x="6181208" y="2840899"/>
            <a:ext cx="1403868" cy="1238707"/>
          </a:xfrm>
          <a:prstGeom prst="triangle">
            <a:avLst>
              <a:gd name="adj" fmla="val 50000"/>
            </a:avLst>
          </a:prstGeom>
          <a:solidFill>
            <a:schemeClr val="accent2">
              <a:alpha val="100000"/>
            </a:schemeClr>
          </a:solidFill>
          <a:ln/>
        </p:spPr>
      </p:sp>
      <p:sp>
        <p:nvSpPr>
          <p:cNvPr id="8" name="AutoShape 8"/>
          <p:cNvSpPr/>
          <p:nvPr/>
        </p:nvSpPr>
        <p:spPr>
          <a:xfrm rot="2700000" flipH="1">
            <a:off x="3552826" y="2806061"/>
            <a:ext cx="1403868" cy="1238707"/>
          </a:xfrm>
          <a:prstGeom prst="triangle">
            <a:avLst>
              <a:gd name="adj" fmla="val 50000"/>
            </a:avLst>
          </a:prstGeom>
          <a:solidFill>
            <a:schemeClr val="accent2">
              <a:alpha val="100000"/>
            </a:schemeClr>
          </a:solidFill>
          <a:ln/>
        </p:spPr>
      </p:sp>
      <p:sp>
        <p:nvSpPr>
          <p:cNvPr id="9" name="AutoShape 9"/>
          <p:cNvSpPr/>
          <p:nvPr/>
        </p:nvSpPr>
        <p:spPr>
          <a:xfrm rot="-8546356" flipH="1">
            <a:off x="3778921" y="4649115"/>
            <a:ext cx="1403868" cy="1238707"/>
          </a:xfrm>
          <a:prstGeom prst="triangle">
            <a:avLst>
              <a:gd name="adj" fmla="val 50000"/>
            </a:avLst>
          </a:prstGeom>
          <a:solidFill>
            <a:schemeClr val="accent1">
              <a:alpha val="100000"/>
            </a:schemeClr>
          </a:solidFill>
          <a:ln/>
        </p:spPr>
      </p:sp>
      <p:sp>
        <p:nvSpPr>
          <p:cNvPr id="10" name="AutoShape 10"/>
          <p:cNvSpPr/>
          <p:nvPr/>
        </p:nvSpPr>
        <p:spPr>
          <a:xfrm rot="8546493" flipH="1">
            <a:off x="5633928" y="4641275"/>
            <a:ext cx="1403868" cy="1238707"/>
          </a:xfrm>
          <a:prstGeom prst="triangle">
            <a:avLst>
              <a:gd name="adj" fmla="val 50000"/>
            </a:avLst>
          </a:prstGeom>
          <a:solidFill>
            <a:schemeClr val="accent1">
              <a:alpha val="100000"/>
            </a:schemeClr>
          </a:solidFill>
          <a:ln/>
        </p:spPr>
      </p:sp>
      <p:sp>
        <p:nvSpPr>
          <p:cNvPr id="11" name="TextBox 11"/>
          <p:cNvSpPr txBox="1"/>
          <p:nvPr/>
        </p:nvSpPr>
        <p:spPr>
          <a:xfrm>
            <a:off x="513502" y="4444821"/>
            <a:ext cx="3225465" cy="1226248"/>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在应用投入市场后，持续投入研发，积极利用最新的AI技术改善服务质量，使应用在市场中脱颖而出。</a:t>
            </a:r>
          </a:p>
        </p:txBody>
      </p:sp>
      <p:sp>
        <p:nvSpPr>
          <p:cNvPr id="12" name="TextBox 12"/>
          <p:cNvSpPr txBox="1"/>
          <p:nvPr/>
        </p:nvSpPr>
        <p:spPr>
          <a:xfrm>
            <a:off x="513502" y="4054701"/>
            <a:ext cx="2295358" cy="426410"/>
          </a:xfrm>
          <a:prstGeom prst="rect">
            <a:avLst/>
          </a:prstGeom>
          <a:ln/>
        </p:spPr>
        <p:txBody>
          <a:bodyPr vert="horz" wrap="square" lIns="114300" tIns="57150" rIns="114300" bIns="57150" rtlCol="0" anchor="t" anchorCtr="0">
            <a:normAutofit/>
          </a:bodyPr>
          <a:lstStyle/>
          <a:p>
            <a:pPr>
              <a:lnSpc>
                <a:spcPct val="96000"/>
              </a:lnSpc>
            </a:pPr>
            <a:r>
              <a:rPr lang="en-US" sz="1950" b="1">
                <a:solidFill>
                  <a:schemeClr val="accent1">
                    <a:alpha val="100000"/>
                  </a:schemeClr>
                </a:solidFill>
                <a:latin typeface="Microsoft Yahei"/>
                <a:ea typeface="Microsoft Yahei"/>
                <a:cs typeface="Microsoft Yahei"/>
              </a:rPr>
              <a:t>提供优质服务</a:t>
            </a:r>
          </a:p>
        </p:txBody>
      </p:sp>
      <p:sp>
        <p:nvSpPr>
          <p:cNvPr id="13" name="TextBox 13"/>
          <p:cNvSpPr txBox="1"/>
          <p:nvPr/>
        </p:nvSpPr>
        <p:spPr>
          <a:xfrm>
            <a:off x="5907040" y="1548302"/>
            <a:ext cx="3256579" cy="947538"/>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以专业的心理问卷，自由度高的对话和互动方式来吸引目标人群。</a:t>
            </a:r>
          </a:p>
        </p:txBody>
      </p:sp>
      <p:sp>
        <p:nvSpPr>
          <p:cNvPr id="14" name="TextBox 14"/>
          <p:cNvSpPr txBox="1"/>
          <p:nvPr/>
        </p:nvSpPr>
        <p:spPr>
          <a:xfrm>
            <a:off x="5907040" y="1207876"/>
            <a:ext cx="2295358" cy="426410"/>
          </a:xfrm>
          <a:prstGeom prst="rect">
            <a:avLst/>
          </a:prstGeom>
          <a:ln/>
        </p:spPr>
        <p:txBody>
          <a:bodyPr vert="horz" wrap="square" lIns="114300" tIns="57150" rIns="114300" bIns="57150" rtlCol="0" anchor="t" anchorCtr="0">
            <a:normAutofit/>
          </a:bodyPr>
          <a:lstStyle/>
          <a:p>
            <a:pPr>
              <a:lnSpc>
                <a:spcPct val="96000"/>
              </a:lnSpc>
            </a:pPr>
            <a:r>
              <a:rPr lang="en-US" sz="1950" b="1">
                <a:solidFill>
                  <a:schemeClr val="accent1">
                    <a:alpha val="100000"/>
                  </a:schemeClr>
                </a:solidFill>
                <a:latin typeface="Microsoft Yahei"/>
                <a:ea typeface="Microsoft Yahei"/>
                <a:cs typeface="Microsoft Yahei"/>
              </a:rPr>
              <a:t>吸引目标人群</a:t>
            </a:r>
          </a:p>
        </p:txBody>
      </p:sp>
      <p:sp>
        <p:nvSpPr>
          <p:cNvPr id="15" name="TextBox 15"/>
          <p:cNvSpPr txBox="1"/>
          <p:nvPr/>
        </p:nvSpPr>
        <p:spPr>
          <a:xfrm>
            <a:off x="7846130" y="3215843"/>
            <a:ext cx="3248424" cy="947538"/>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通过不断优化系统，提高现有客户的持续参与度和粘性，并刺激用户主动推荐。</a:t>
            </a:r>
          </a:p>
        </p:txBody>
      </p:sp>
      <p:sp>
        <p:nvSpPr>
          <p:cNvPr id="16" name="TextBox 16"/>
          <p:cNvSpPr txBox="1"/>
          <p:nvPr/>
        </p:nvSpPr>
        <p:spPr>
          <a:xfrm>
            <a:off x="7846130" y="2905833"/>
            <a:ext cx="2295358" cy="426410"/>
          </a:xfrm>
          <a:prstGeom prst="rect">
            <a:avLst/>
          </a:prstGeom>
          <a:ln/>
        </p:spPr>
        <p:txBody>
          <a:bodyPr vert="horz" wrap="square" lIns="114300" tIns="57150" rIns="114300" bIns="57150" rtlCol="0" anchor="t" anchorCtr="0">
            <a:normAutofit/>
          </a:bodyPr>
          <a:lstStyle/>
          <a:p>
            <a:pPr>
              <a:lnSpc>
                <a:spcPct val="96000"/>
              </a:lnSpc>
            </a:pPr>
            <a:r>
              <a:rPr lang="en-US" sz="1950" b="1">
                <a:solidFill>
                  <a:schemeClr val="accent1">
                    <a:alpha val="100000"/>
                  </a:schemeClr>
                </a:solidFill>
                <a:latin typeface="Microsoft Yahei"/>
                <a:ea typeface="Microsoft Yahei"/>
                <a:cs typeface="Microsoft Yahei"/>
              </a:rPr>
              <a:t>提高客户参与度</a:t>
            </a:r>
          </a:p>
        </p:txBody>
      </p:sp>
      <p:sp>
        <p:nvSpPr>
          <p:cNvPr id="17" name="TextBox 17"/>
          <p:cNvSpPr txBox="1"/>
          <p:nvPr/>
        </p:nvSpPr>
        <p:spPr>
          <a:xfrm>
            <a:off x="6922968" y="5204958"/>
            <a:ext cx="3271383" cy="947538"/>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确保用户私人信息安全，建立用户和市场的信任感。</a:t>
            </a:r>
          </a:p>
        </p:txBody>
      </p:sp>
      <p:sp>
        <p:nvSpPr>
          <p:cNvPr id="18" name="TextBox 18"/>
          <p:cNvSpPr txBox="1"/>
          <p:nvPr/>
        </p:nvSpPr>
        <p:spPr>
          <a:xfrm>
            <a:off x="6922968" y="4814838"/>
            <a:ext cx="2295358" cy="417338"/>
          </a:xfrm>
          <a:prstGeom prst="rect">
            <a:avLst/>
          </a:prstGeom>
          <a:ln/>
        </p:spPr>
        <p:txBody>
          <a:bodyPr vert="horz" wrap="square" lIns="114300" tIns="57150" rIns="114300" bIns="57150" rtlCol="0" anchor="t" anchorCtr="0">
            <a:normAutofit/>
          </a:bodyPr>
          <a:lstStyle/>
          <a:p>
            <a:pPr>
              <a:lnSpc>
                <a:spcPct val="96000"/>
              </a:lnSpc>
            </a:pPr>
            <a:r>
              <a:rPr lang="en-US" sz="1875" b="1">
                <a:solidFill>
                  <a:schemeClr val="accent1">
                    <a:alpha val="100000"/>
                  </a:schemeClr>
                </a:solidFill>
                <a:latin typeface="Microsoft Yahei"/>
                <a:ea typeface="Microsoft Yahei"/>
                <a:cs typeface="Microsoft Yahei"/>
              </a:rPr>
              <a:t>保护用户信息安全</a:t>
            </a:r>
          </a:p>
        </p:txBody>
      </p:sp>
      <p:sp>
        <p:nvSpPr>
          <p:cNvPr id="19" name="TextBox 19"/>
          <p:cNvSpPr txBox="1"/>
          <p:nvPr/>
        </p:nvSpPr>
        <p:spPr>
          <a:xfrm>
            <a:off x="5005289" y="2184652"/>
            <a:ext cx="1174211" cy="612942"/>
          </a:xfrm>
          <a:prstGeom prst="rect">
            <a:avLst/>
          </a:prstGeom>
          <a:ln/>
        </p:spPr>
        <p:txBody>
          <a:bodyPr vert="horz" wrap="square" lIns="114300" tIns="57150" rIns="114300" bIns="57150" rtlCol="0" anchor="t" anchorCtr="0">
            <a:normAutofit/>
          </a:bodyPr>
          <a:lstStyle/>
          <a:p>
            <a:pPr>
              <a:lnSpc>
                <a:spcPct val="96000"/>
              </a:lnSpc>
              <a:spcBef>
                <a:spcPts val="450"/>
              </a:spcBef>
            </a:pPr>
            <a:r>
              <a:rPr lang="en-US" sz="3300" b="1">
                <a:solidFill>
                  <a:srgbClr val="FFFFFF">
                    <a:alpha val="100000"/>
                  </a:srgbClr>
                </a:solidFill>
                <a:latin typeface="Microsoft Yahei"/>
                <a:ea typeface="Microsoft Yahei"/>
                <a:cs typeface="Microsoft Yahei"/>
              </a:rPr>
              <a:t>02</a:t>
            </a:r>
          </a:p>
        </p:txBody>
      </p:sp>
      <p:sp>
        <p:nvSpPr>
          <p:cNvPr id="20" name="TextBox 20"/>
          <p:cNvSpPr txBox="1"/>
          <p:nvPr/>
        </p:nvSpPr>
        <p:spPr>
          <a:xfrm>
            <a:off x="3738958" y="3246644"/>
            <a:ext cx="1174211" cy="612942"/>
          </a:xfrm>
          <a:prstGeom prst="rect">
            <a:avLst/>
          </a:prstGeom>
          <a:ln/>
        </p:spPr>
        <p:txBody>
          <a:bodyPr vert="horz" wrap="square" lIns="114300" tIns="57150" rIns="114300" bIns="57150" rtlCol="0" anchor="t" anchorCtr="0">
            <a:normAutofit/>
          </a:bodyPr>
          <a:lstStyle/>
          <a:p>
            <a:pPr>
              <a:lnSpc>
                <a:spcPct val="96000"/>
              </a:lnSpc>
              <a:spcBef>
                <a:spcPts val="450"/>
              </a:spcBef>
            </a:pPr>
            <a:r>
              <a:rPr lang="en-US" sz="3300" b="1">
                <a:solidFill>
                  <a:srgbClr val="FFFFFF">
                    <a:alpha val="100000"/>
                  </a:srgbClr>
                </a:solidFill>
                <a:latin typeface="Microsoft Yahei"/>
                <a:ea typeface="Microsoft Yahei"/>
                <a:cs typeface="Microsoft Yahei"/>
              </a:rPr>
              <a:t>01</a:t>
            </a:r>
          </a:p>
        </p:txBody>
      </p:sp>
      <p:sp>
        <p:nvSpPr>
          <p:cNvPr id="21" name="TextBox 21"/>
          <p:cNvSpPr txBox="1"/>
          <p:nvPr/>
        </p:nvSpPr>
        <p:spPr>
          <a:xfrm>
            <a:off x="6335863" y="3216675"/>
            <a:ext cx="1174211" cy="612942"/>
          </a:xfrm>
          <a:prstGeom prst="rect">
            <a:avLst/>
          </a:prstGeom>
          <a:ln/>
        </p:spPr>
        <p:txBody>
          <a:bodyPr vert="horz" wrap="square" lIns="114300" tIns="57150" rIns="114300" bIns="57150" rtlCol="0" anchor="t" anchorCtr="0">
            <a:normAutofit/>
          </a:bodyPr>
          <a:lstStyle/>
          <a:p>
            <a:pPr>
              <a:lnSpc>
                <a:spcPct val="96000"/>
              </a:lnSpc>
              <a:spcBef>
                <a:spcPts val="450"/>
              </a:spcBef>
            </a:pPr>
            <a:r>
              <a:rPr lang="en-US" sz="3300" b="1">
                <a:solidFill>
                  <a:srgbClr val="FFFFFF">
                    <a:alpha val="100000"/>
                  </a:srgbClr>
                </a:solidFill>
                <a:latin typeface="Microsoft Yahei"/>
                <a:ea typeface="Microsoft Yahei"/>
                <a:cs typeface="Microsoft Yahei"/>
              </a:rPr>
              <a:t>03</a:t>
            </a:r>
          </a:p>
        </p:txBody>
      </p:sp>
      <p:sp>
        <p:nvSpPr>
          <p:cNvPr id="22" name="TextBox 22"/>
          <p:cNvSpPr txBox="1"/>
          <p:nvPr/>
        </p:nvSpPr>
        <p:spPr>
          <a:xfrm>
            <a:off x="5781598" y="4798854"/>
            <a:ext cx="1174211" cy="612942"/>
          </a:xfrm>
          <a:prstGeom prst="rect">
            <a:avLst/>
          </a:prstGeom>
          <a:ln/>
        </p:spPr>
        <p:txBody>
          <a:bodyPr vert="horz" wrap="square" lIns="114300" tIns="57150" rIns="114300" bIns="57150" rtlCol="0" anchor="t" anchorCtr="0">
            <a:normAutofit/>
          </a:bodyPr>
          <a:lstStyle/>
          <a:p>
            <a:pPr>
              <a:lnSpc>
                <a:spcPct val="96000"/>
              </a:lnSpc>
              <a:spcBef>
                <a:spcPts val="450"/>
              </a:spcBef>
            </a:pPr>
            <a:r>
              <a:rPr lang="en-US" sz="3300" b="1">
                <a:solidFill>
                  <a:srgbClr val="FFFFFF">
                    <a:alpha val="100000"/>
                  </a:srgbClr>
                </a:solidFill>
                <a:latin typeface="Microsoft Yahei"/>
                <a:ea typeface="Microsoft Yahei"/>
                <a:cs typeface="Microsoft Yahei"/>
              </a:rPr>
              <a:t>04</a:t>
            </a:r>
          </a:p>
        </p:txBody>
      </p:sp>
      <p:sp>
        <p:nvSpPr>
          <p:cNvPr id="23" name="TextBox 23"/>
          <p:cNvSpPr txBox="1"/>
          <p:nvPr/>
        </p:nvSpPr>
        <p:spPr>
          <a:xfrm>
            <a:off x="4254760" y="4798854"/>
            <a:ext cx="1174211" cy="612942"/>
          </a:xfrm>
          <a:prstGeom prst="rect">
            <a:avLst/>
          </a:prstGeom>
          <a:ln/>
        </p:spPr>
        <p:txBody>
          <a:bodyPr vert="horz" wrap="square" lIns="114300" tIns="57150" rIns="114300" bIns="57150" rtlCol="0" anchor="t" anchorCtr="0">
            <a:normAutofit/>
          </a:bodyPr>
          <a:lstStyle/>
          <a:p>
            <a:pPr>
              <a:lnSpc>
                <a:spcPct val="96000"/>
              </a:lnSpc>
              <a:spcBef>
                <a:spcPts val="450"/>
              </a:spcBef>
            </a:pPr>
            <a:r>
              <a:rPr lang="en-US" sz="3300" b="1">
                <a:solidFill>
                  <a:srgbClr val="FFFFFF">
                    <a:alpha val="100000"/>
                  </a:srgbClr>
                </a:solidFill>
                <a:latin typeface="Microsoft Yahei"/>
                <a:ea typeface="Microsoft Yahei"/>
                <a:cs typeface="Microsoft Yahei"/>
              </a:rPr>
              <a:t>05</a:t>
            </a:r>
          </a:p>
        </p:txBody>
      </p:sp>
      <p:sp>
        <p:nvSpPr>
          <p:cNvPr id="24" name="AutoShape 24"/>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营销目标</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86814" y="2600498"/>
            <a:ext cx="9094573" cy="2384854"/>
          </a:xfrm>
          <a:prstGeom prst="rect">
            <a:avLst/>
          </a:prstGeom>
          <a:solidFill>
            <a:srgbClr val="AAC2AC">
              <a:alpha val="100000"/>
            </a:srgbClr>
          </a:solidFill>
          <a:ln/>
        </p:spPr>
      </p:sp>
      <p:sp>
        <p:nvSpPr>
          <p:cNvPr id="3" name="AutoShape 3"/>
          <p:cNvSpPr/>
          <p:nvPr/>
        </p:nvSpPr>
        <p:spPr>
          <a:xfrm>
            <a:off x="5118438" y="3623054"/>
            <a:ext cx="2031326" cy="646331"/>
          </a:xfrm>
          <a:prstGeom prst="rect">
            <a:avLst/>
          </a:prstGeom>
          <a:noFill/>
          <a:ln/>
        </p:spPr>
        <p:txBody>
          <a:bodyPr vert="horz" wrap="square" lIns="91440" tIns="45720" rIns="91440" bIns="45720" rtlCol="0" anchor="t" anchorCtr="0">
            <a:normAutofit/>
          </a:bodyPr>
          <a:lstStyle/>
          <a:p>
            <a:pPr algn="ctr">
              <a:defRPr/>
            </a:pPr>
            <a:r>
              <a:rPr lang="en-US" sz="3600">
                <a:solidFill>
                  <a:srgbClr val="FFFFFF">
                    <a:alpha val="100000"/>
                  </a:srgbClr>
                </a:solidFill>
                <a:latin typeface="微软雅黑 Light"/>
                <a:ea typeface="微软雅黑 Light"/>
                <a:cs typeface="微软雅黑 Light"/>
              </a:rPr>
              <a:t>资产情况</a:t>
            </a:r>
            <a:endParaRPr lang="en-US" sz="1100"/>
          </a:p>
        </p:txBody>
      </p:sp>
      <p:sp>
        <p:nvSpPr>
          <p:cNvPr id="4" name="AutoShape 4"/>
          <p:cNvSpPr/>
          <p:nvPr/>
        </p:nvSpPr>
        <p:spPr>
          <a:xfrm>
            <a:off x="4868966" y="4172114"/>
            <a:ext cx="2595582" cy="369332"/>
          </a:xfrm>
          <a:prstGeom prst="rect">
            <a:avLst/>
          </a:prstGeom>
          <a:noFill/>
          <a:ln/>
        </p:spPr>
        <p:txBody>
          <a:bodyPr vert="horz" wrap="none" lIns="91440" tIns="45720" rIns="91440" bIns="45720" rtlCol="0" anchor="t" anchorCtr="0">
            <a:noAutofit/>
          </a:bodyPr>
          <a:lstStyle/>
          <a:p>
            <a:pPr algn="l">
              <a:defRPr/>
            </a:pPr>
            <a:endParaRPr lang="en-US" sz="1100"/>
          </a:p>
        </p:txBody>
      </p:sp>
      <p:grpSp>
        <p:nvGrpSpPr>
          <p:cNvPr id="5" name="Group 5"/>
          <p:cNvGrpSpPr/>
          <p:nvPr/>
        </p:nvGrpSpPr>
        <p:grpSpPr>
          <a:xfrm>
            <a:off x="4984432" y="1086993"/>
            <a:ext cx="2299335" cy="2299335"/>
            <a:chOff x="4984432" y="1086993"/>
            <a:chExt cx="2299335" cy="2299335"/>
          </a:xfrm>
        </p:grpSpPr>
        <p:sp>
          <p:nvSpPr>
            <p:cNvPr id="6" name="AutoShape 6"/>
            <p:cNvSpPr/>
            <p:nvPr/>
          </p:nvSpPr>
          <p:spPr>
            <a:xfrm>
              <a:off x="4984432" y="1086993"/>
              <a:ext cx="2299335" cy="2299335"/>
            </a:xfrm>
            <a:prstGeom prst="diamond">
              <a:avLst/>
            </a:prstGeom>
            <a:solidFill>
              <a:srgbClr val="F3D3BC">
                <a:alpha val="100000"/>
              </a:srgbClr>
            </a:solidFill>
            <a:ln/>
          </p:spPr>
        </p:sp>
        <p:sp>
          <p:nvSpPr>
            <p:cNvPr id="7" name="TextBox 7"/>
            <p:cNvSpPr txBox="1"/>
            <p:nvPr/>
          </p:nvSpPr>
          <p:spPr>
            <a:xfrm>
              <a:off x="5462874" y="1537145"/>
              <a:ext cx="1342454" cy="1323404"/>
            </a:xfrm>
            <a:prstGeom prst="rect">
              <a:avLst/>
            </a:prstGeom>
            <a:noFill/>
            <a:ln/>
          </p:spPr>
          <p:txBody>
            <a:bodyPr vert="horz" wrap="square" lIns="91440" tIns="45720" rIns="91440" bIns="45720" rtlCol="0" anchor="t" anchorCtr="0">
              <a:spAutoFit/>
            </a:bodyPr>
            <a:lstStyle/>
            <a:p>
              <a:pPr algn="ctr">
                <a:lnSpc>
                  <a:spcPct val="80000"/>
                </a:lnSpc>
              </a:pPr>
              <a:r>
                <a:rPr lang="en-US" sz="8000">
                  <a:solidFill>
                    <a:srgbClr val="FFFFFF">
                      <a:alpha val="100000"/>
                    </a:srgbClr>
                  </a:solidFill>
                  <a:latin typeface="微软雅黑 Light"/>
                  <a:ea typeface="微软雅黑 Light"/>
                  <a:cs typeface="微软雅黑 Light"/>
                </a:rPr>
                <a:t>04</a:t>
              </a:r>
            </a:p>
          </p:txBody>
        </p:sp>
        <p:sp>
          <p:nvSpPr>
            <p:cNvPr id="8" name="AutoShape 8"/>
            <p:cNvSpPr/>
            <p:nvPr/>
          </p:nvSpPr>
          <p:spPr>
            <a:xfrm>
              <a:off x="5977795" y="2994088"/>
              <a:ext cx="312515" cy="312515"/>
            </a:xfrm>
            <a:prstGeom prst="diamond">
              <a:avLst/>
            </a:prstGeom>
            <a:solidFill>
              <a:srgbClr val="FFFFFF">
                <a:alpha val="100000"/>
              </a:srgbClr>
            </a:solidFill>
            <a:ln/>
          </p:spPr>
        </p:sp>
      </p:grpSp>
      <p:sp>
        <p:nvSpPr>
          <p:cNvPr id="9" name="AutoShape 9"/>
          <p:cNvSpPr/>
          <p:nvPr/>
        </p:nvSpPr>
        <p:spPr>
          <a:xfrm>
            <a:off x="0" y="2600498"/>
            <a:ext cx="6134100" cy="2384854"/>
          </a:xfrm>
          <a:prstGeom prst="rect">
            <a:avLst/>
          </a:prstGeom>
          <a:solidFill>
            <a:srgbClr val="AAC2AC">
              <a:alpha val="100000"/>
            </a:srgbClr>
          </a:solidFill>
          <a:ln/>
        </p:spPr>
      </p:sp>
      <p:sp>
        <p:nvSpPr>
          <p:cNvPr id="10" name="AutoShape 10"/>
          <p:cNvSpPr/>
          <p:nvPr/>
        </p:nvSpPr>
        <p:spPr>
          <a:xfrm>
            <a:off x="6134098" y="2600498"/>
            <a:ext cx="6134100" cy="2384854"/>
          </a:xfrm>
          <a:prstGeom prst="rect">
            <a:avLst/>
          </a:prstGeom>
          <a:solidFill>
            <a:srgbClr val="AAC2AC">
              <a:alpha val="100000"/>
            </a:srgbClr>
          </a:solidFill>
          <a:ln/>
        </p:spPr>
      </p:sp>
      <p:sp>
        <p:nvSpPr>
          <p:cNvPr id="11" name="矩形 10">
            <a:extLst>
              <a:ext uri="{FF2B5EF4-FFF2-40B4-BE49-F238E27FC236}">
                <a16:creationId xmlns:a16="http://schemas.microsoft.com/office/drawing/2014/main" id="{A3EFEAF0-6030-3DE6-A501-4D297A1C7950}"/>
              </a:ext>
            </a:extLst>
          </p:cNvPr>
          <p:cNvSpPr/>
          <p:nvPr/>
        </p:nvSpPr>
        <p:spPr>
          <a:xfrm>
            <a:off x="4656727" y="3073257"/>
            <a:ext cx="2954655" cy="923330"/>
          </a:xfrm>
          <a:prstGeom prst="rect">
            <a:avLst/>
          </a:prstGeom>
          <a:noFill/>
        </p:spPr>
        <p:txBody>
          <a:bodyPr wrap="none" lIns="91440" tIns="45720" rIns="91440" bIns="45720">
            <a:spAutoFit/>
          </a:bodyPr>
          <a:lstStyle/>
          <a:p>
            <a:pPr algn="ctr"/>
            <a:r>
              <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latin typeface="微软雅黑 Light"/>
                <a:ea typeface="微软雅黑 Light"/>
              </a:rPr>
              <a:t>资产情况</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AutoShape 4"/>
          <p:cNvSpPr/>
          <p:nvPr/>
        </p:nvSpPr>
        <p:spPr>
          <a:xfrm>
            <a:off x="727547" y="1550916"/>
            <a:ext cx="219567" cy="219567"/>
          </a:xfrm>
          <a:prstGeom prst="ellipse">
            <a:avLst/>
          </a:prstGeom>
          <a:solidFill>
            <a:schemeClr val="accent1">
              <a:alpha val="100000"/>
            </a:schemeClr>
          </a:solidFill>
          <a:ln/>
        </p:spPr>
      </p:sp>
      <p:sp>
        <p:nvSpPr>
          <p:cNvPr id="5" name="TextBox 5"/>
          <p:cNvSpPr txBox="1"/>
          <p:nvPr/>
        </p:nvSpPr>
        <p:spPr>
          <a:xfrm>
            <a:off x="947114" y="1932201"/>
            <a:ext cx="4186126" cy="668829"/>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列出应用研发、推广和运营所需的预算，包括技术研发费用、推广费用等。</a:t>
            </a:r>
          </a:p>
        </p:txBody>
      </p:sp>
      <p:sp>
        <p:nvSpPr>
          <p:cNvPr id="6" name="TextBox 6"/>
          <p:cNvSpPr txBox="1"/>
          <p:nvPr/>
        </p:nvSpPr>
        <p:spPr>
          <a:xfrm>
            <a:off x="947114" y="1437786"/>
            <a:ext cx="3955637" cy="471773"/>
          </a:xfrm>
          <a:prstGeom prst="rect">
            <a:avLst/>
          </a:prstGeom>
          <a:ln/>
        </p:spPr>
        <p:txBody>
          <a:bodyPr vert="horz" wrap="square" lIns="114300" tIns="57150" rIns="114300" bIns="57150" rtlCol="0" anchor="t" anchorCtr="0">
            <a:normAutofit/>
          </a:bodyPr>
          <a:lstStyle/>
          <a:p>
            <a:pPr>
              <a:lnSpc>
                <a:spcPct val="96000"/>
              </a:lnSpc>
            </a:pPr>
            <a:r>
              <a:rPr lang="en-US" sz="2250" b="1">
                <a:solidFill>
                  <a:schemeClr val="accent1">
                    <a:alpha val="100000"/>
                  </a:schemeClr>
                </a:solidFill>
                <a:latin typeface="Microsoft Yahei"/>
                <a:ea typeface="Microsoft Yahei"/>
                <a:cs typeface="Microsoft Yahei"/>
              </a:rPr>
              <a:t>预算体系</a:t>
            </a:r>
          </a:p>
        </p:txBody>
      </p:sp>
      <p:pic>
        <p:nvPicPr>
          <p:cNvPr id="7" name="Picture 7"/>
          <p:cNvPicPr>
            <a:picLocks noChangeAspect="1"/>
          </p:cNvPicPr>
          <p:nvPr/>
        </p:nvPicPr>
        <p:blipFill>
          <a:blip r:embed="rId2"/>
          <a:srcRect l="23083" r="23083"/>
          <a:stretch>
            <a:fillRect/>
          </a:stretch>
        </p:blipFill>
        <p:spPr>
          <a:xfrm>
            <a:off x="5806440" y="1099169"/>
            <a:ext cx="4947745" cy="4947745"/>
          </a:xfrm>
          <a:prstGeom prst="ellipse">
            <a:avLst/>
          </a:prstGeom>
        </p:spPr>
      </p:pic>
      <p:sp>
        <p:nvSpPr>
          <p:cNvPr id="8" name="TextBox 8"/>
          <p:cNvSpPr txBox="1"/>
          <p:nvPr/>
        </p:nvSpPr>
        <p:spPr>
          <a:xfrm>
            <a:off x="947114" y="3465101"/>
            <a:ext cx="4186126" cy="668829"/>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详细列出每个费用项目的预算金额，如技术人才工资、购买专利等。</a:t>
            </a:r>
          </a:p>
        </p:txBody>
      </p:sp>
      <p:sp>
        <p:nvSpPr>
          <p:cNvPr id="9" name="TextBox 9"/>
          <p:cNvSpPr txBox="1"/>
          <p:nvPr/>
        </p:nvSpPr>
        <p:spPr>
          <a:xfrm>
            <a:off x="947114" y="2970686"/>
            <a:ext cx="3955637" cy="471773"/>
          </a:xfrm>
          <a:prstGeom prst="rect">
            <a:avLst/>
          </a:prstGeom>
          <a:ln/>
        </p:spPr>
        <p:txBody>
          <a:bodyPr vert="horz" wrap="square" lIns="114300" tIns="57150" rIns="114300" bIns="57150" rtlCol="0" anchor="t" anchorCtr="0">
            <a:normAutofit/>
          </a:bodyPr>
          <a:lstStyle/>
          <a:p>
            <a:pPr>
              <a:lnSpc>
                <a:spcPct val="96000"/>
              </a:lnSpc>
            </a:pPr>
            <a:r>
              <a:rPr lang="en-US" sz="2250" b="1">
                <a:solidFill>
                  <a:schemeClr val="accent1">
                    <a:alpha val="100000"/>
                  </a:schemeClr>
                </a:solidFill>
                <a:latin typeface="Microsoft Yahei"/>
                <a:ea typeface="Microsoft Yahei"/>
                <a:cs typeface="Microsoft Yahei"/>
              </a:rPr>
              <a:t>费用项目</a:t>
            </a:r>
          </a:p>
        </p:txBody>
      </p:sp>
      <p:sp>
        <p:nvSpPr>
          <p:cNvPr id="10" name="TextBox 10"/>
          <p:cNvSpPr txBox="1"/>
          <p:nvPr/>
        </p:nvSpPr>
        <p:spPr>
          <a:xfrm>
            <a:off x="947114" y="5023807"/>
            <a:ext cx="4186126" cy="668829"/>
          </a:xfrm>
          <a:prstGeom prst="rect">
            <a:avLst/>
          </a:prstGeom>
          <a:ln/>
        </p:spPr>
        <p:txBody>
          <a:bodyPr vert="horz" wrap="square" lIns="114300" tIns="57150" rIns="114300" bIns="57150" rtlCol="0" anchor="t" anchorCtr="0">
            <a:normAutofit/>
          </a:bodyPr>
          <a:lstStyle/>
          <a:p>
            <a:pPr algn="just">
              <a:lnSpc>
                <a:spcPct val="120000"/>
              </a:lnSpc>
            </a:pPr>
            <a:r>
              <a:rPr lang="en-US" sz="1425">
                <a:solidFill>
                  <a:schemeClr val="dk1">
                    <a:alpha val="100000"/>
                  </a:schemeClr>
                </a:solidFill>
                <a:latin typeface="Microsoft Yahei"/>
                <a:ea typeface="Microsoft Yahei"/>
                <a:cs typeface="Microsoft Yahei"/>
              </a:rPr>
              <a:t>统计所有费用项目的预算金额，得出总额，为应用投入市场后持续投入研发提供资金保障。</a:t>
            </a:r>
          </a:p>
        </p:txBody>
      </p:sp>
      <p:sp>
        <p:nvSpPr>
          <p:cNvPr id="11" name="TextBox 11"/>
          <p:cNvSpPr txBox="1"/>
          <p:nvPr/>
        </p:nvSpPr>
        <p:spPr>
          <a:xfrm>
            <a:off x="947114" y="4529393"/>
            <a:ext cx="3955637" cy="471773"/>
          </a:xfrm>
          <a:prstGeom prst="rect">
            <a:avLst/>
          </a:prstGeom>
          <a:ln/>
        </p:spPr>
        <p:txBody>
          <a:bodyPr vert="horz" wrap="square" lIns="114300" tIns="57150" rIns="114300" bIns="57150" rtlCol="0" anchor="t" anchorCtr="0">
            <a:normAutofit/>
          </a:bodyPr>
          <a:lstStyle/>
          <a:p>
            <a:pPr>
              <a:lnSpc>
                <a:spcPct val="96000"/>
              </a:lnSpc>
            </a:pPr>
            <a:r>
              <a:rPr lang="en-US" sz="2250" b="1">
                <a:solidFill>
                  <a:schemeClr val="accent1">
                    <a:alpha val="100000"/>
                  </a:schemeClr>
                </a:solidFill>
                <a:latin typeface="Microsoft Yahei"/>
                <a:ea typeface="Microsoft Yahei"/>
                <a:cs typeface="Microsoft Yahei"/>
              </a:rPr>
              <a:t>总额</a:t>
            </a:r>
          </a:p>
        </p:txBody>
      </p:sp>
      <p:sp>
        <p:nvSpPr>
          <p:cNvPr id="12" name="AutoShape 12"/>
          <p:cNvSpPr/>
          <p:nvPr/>
        </p:nvSpPr>
        <p:spPr>
          <a:xfrm>
            <a:off x="727547" y="3083816"/>
            <a:ext cx="219567" cy="219567"/>
          </a:xfrm>
          <a:prstGeom prst="ellipse">
            <a:avLst/>
          </a:prstGeom>
          <a:solidFill>
            <a:schemeClr val="accent1">
              <a:alpha val="100000"/>
            </a:schemeClr>
          </a:solidFill>
          <a:ln/>
        </p:spPr>
      </p:sp>
      <p:sp>
        <p:nvSpPr>
          <p:cNvPr id="13" name="AutoShape 13"/>
          <p:cNvSpPr/>
          <p:nvPr/>
        </p:nvSpPr>
        <p:spPr>
          <a:xfrm>
            <a:off x="727547" y="4642522"/>
            <a:ext cx="219567" cy="219567"/>
          </a:xfrm>
          <a:prstGeom prst="ellipse">
            <a:avLst/>
          </a:prstGeom>
          <a:solidFill>
            <a:schemeClr val="accent1">
              <a:alpha val="100000"/>
            </a:schemeClr>
          </a:solidFill>
          <a:ln/>
        </p:spPr>
      </p:sp>
      <p:sp>
        <p:nvSpPr>
          <p:cNvPr id="14" name="AutoShape 14"/>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799">
                <a:solidFill>
                  <a:srgbClr val="787878">
                    <a:alpha val="100000"/>
                  </a:srgbClr>
                </a:solidFill>
                <a:latin typeface="微软雅黑 Light"/>
                <a:ea typeface="微软雅黑 Light"/>
                <a:cs typeface="微软雅黑 Light"/>
              </a:rPr>
              <a:t>资产情况</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86814" y="2600498"/>
            <a:ext cx="9094573" cy="2384854"/>
          </a:xfrm>
          <a:prstGeom prst="rect">
            <a:avLst/>
          </a:prstGeom>
          <a:solidFill>
            <a:srgbClr val="AAC2AC">
              <a:alpha val="100000"/>
            </a:srgbClr>
          </a:solidFill>
          <a:ln/>
        </p:spPr>
      </p:sp>
      <p:sp>
        <p:nvSpPr>
          <p:cNvPr id="3" name="AutoShape 3"/>
          <p:cNvSpPr/>
          <p:nvPr/>
        </p:nvSpPr>
        <p:spPr>
          <a:xfrm>
            <a:off x="5118438" y="3623054"/>
            <a:ext cx="2031326" cy="646331"/>
          </a:xfrm>
          <a:prstGeom prst="rect">
            <a:avLst/>
          </a:prstGeom>
          <a:noFill/>
          <a:ln/>
        </p:spPr>
        <p:txBody>
          <a:bodyPr vert="horz" wrap="square" lIns="91440" tIns="45720" rIns="91440" bIns="45720" rtlCol="0" anchor="t" anchorCtr="0">
            <a:normAutofit fontScale="55000" lnSpcReduction="20000"/>
          </a:bodyPr>
          <a:lstStyle/>
          <a:p>
            <a:pPr algn="ctr">
              <a:defRPr/>
            </a:pPr>
            <a:r>
              <a:rPr lang="en-US" sz="3600">
                <a:solidFill>
                  <a:srgbClr val="FFFFFF">
                    <a:alpha val="100000"/>
                  </a:srgbClr>
                </a:solidFill>
                <a:latin typeface="微软雅黑 Light"/>
                <a:ea typeface="微软雅黑 Light"/>
                <a:cs typeface="微软雅黑 Light"/>
              </a:rPr>
              <a:t>风险评估与对策</a:t>
            </a:r>
            <a:endParaRPr lang="en-US" sz="1100"/>
          </a:p>
        </p:txBody>
      </p:sp>
      <p:sp>
        <p:nvSpPr>
          <p:cNvPr id="4" name="AutoShape 4"/>
          <p:cNvSpPr/>
          <p:nvPr/>
        </p:nvSpPr>
        <p:spPr>
          <a:xfrm>
            <a:off x="4868966" y="4172114"/>
            <a:ext cx="2595582" cy="369332"/>
          </a:xfrm>
          <a:prstGeom prst="rect">
            <a:avLst/>
          </a:prstGeom>
          <a:noFill/>
          <a:ln/>
        </p:spPr>
        <p:txBody>
          <a:bodyPr vert="horz" wrap="none" lIns="91440" tIns="45720" rIns="91440" bIns="45720" rtlCol="0" anchor="t" anchorCtr="0">
            <a:noAutofit/>
          </a:bodyPr>
          <a:lstStyle/>
          <a:p>
            <a:pPr algn="l">
              <a:defRPr/>
            </a:pPr>
            <a:endParaRPr lang="en-US" sz="1100"/>
          </a:p>
        </p:txBody>
      </p:sp>
      <p:grpSp>
        <p:nvGrpSpPr>
          <p:cNvPr id="5" name="Group 5"/>
          <p:cNvGrpSpPr/>
          <p:nvPr/>
        </p:nvGrpSpPr>
        <p:grpSpPr>
          <a:xfrm>
            <a:off x="4984432" y="1086993"/>
            <a:ext cx="2299335" cy="2299335"/>
            <a:chOff x="4984432" y="1086993"/>
            <a:chExt cx="2299335" cy="2299335"/>
          </a:xfrm>
        </p:grpSpPr>
        <p:sp>
          <p:nvSpPr>
            <p:cNvPr id="6" name="AutoShape 6"/>
            <p:cNvSpPr/>
            <p:nvPr/>
          </p:nvSpPr>
          <p:spPr>
            <a:xfrm>
              <a:off x="4984432" y="1086993"/>
              <a:ext cx="2299335" cy="2299335"/>
            </a:xfrm>
            <a:prstGeom prst="diamond">
              <a:avLst/>
            </a:prstGeom>
            <a:solidFill>
              <a:srgbClr val="F3D3BC">
                <a:alpha val="100000"/>
              </a:srgbClr>
            </a:solidFill>
            <a:ln/>
          </p:spPr>
        </p:sp>
        <p:sp>
          <p:nvSpPr>
            <p:cNvPr id="7" name="TextBox 7"/>
            <p:cNvSpPr txBox="1"/>
            <p:nvPr/>
          </p:nvSpPr>
          <p:spPr>
            <a:xfrm>
              <a:off x="5462874" y="1537145"/>
              <a:ext cx="1342454" cy="1323404"/>
            </a:xfrm>
            <a:prstGeom prst="rect">
              <a:avLst/>
            </a:prstGeom>
            <a:noFill/>
            <a:ln/>
          </p:spPr>
          <p:txBody>
            <a:bodyPr vert="horz" wrap="square" lIns="91440" tIns="45720" rIns="91440" bIns="45720" rtlCol="0" anchor="t" anchorCtr="0">
              <a:spAutoFit/>
            </a:bodyPr>
            <a:lstStyle/>
            <a:p>
              <a:pPr algn="ctr">
                <a:lnSpc>
                  <a:spcPct val="80000"/>
                </a:lnSpc>
              </a:pPr>
              <a:r>
                <a:rPr lang="en-US" sz="8000">
                  <a:solidFill>
                    <a:srgbClr val="FFFFFF">
                      <a:alpha val="100000"/>
                    </a:srgbClr>
                  </a:solidFill>
                  <a:latin typeface="微软雅黑 Light"/>
                  <a:ea typeface="微软雅黑 Light"/>
                  <a:cs typeface="微软雅黑 Light"/>
                </a:rPr>
                <a:t>05</a:t>
              </a:r>
            </a:p>
          </p:txBody>
        </p:sp>
        <p:sp>
          <p:nvSpPr>
            <p:cNvPr id="8" name="AutoShape 8"/>
            <p:cNvSpPr/>
            <p:nvPr/>
          </p:nvSpPr>
          <p:spPr>
            <a:xfrm>
              <a:off x="5977795" y="2994088"/>
              <a:ext cx="312515" cy="312515"/>
            </a:xfrm>
            <a:prstGeom prst="diamond">
              <a:avLst/>
            </a:prstGeom>
            <a:solidFill>
              <a:srgbClr val="FFFFFF">
                <a:alpha val="100000"/>
              </a:srgbClr>
            </a:solidFill>
            <a:ln/>
          </p:spPr>
        </p:sp>
      </p:grpSp>
      <p:sp>
        <p:nvSpPr>
          <p:cNvPr id="9" name="AutoShape 9"/>
          <p:cNvSpPr/>
          <p:nvPr/>
        </p:nvSpPr>
        <p:spPr>
          <a:xfrm>
            <a:off x="0" y="2600498"/>
            <a:ext cx="6134100" cy="2384854"/>
          </a:xfrm>
          <a:prstGeom prst="rect">
            <a:avLst/>
          </a:prstGeom>
          <a:solidFill>
            <a:srgbClr val="AAC2AC">
              <a:alpha val="100000"/>
            </a:srgbClr>
          </a:solidFill>
          <a:ln/>
        </p:spPr>
      </p:sp>
      <p:sp>
        <p:nvSpPr>
          <p:cNvPr id="10" name="AutoShape 10"/>
          <p:cNvSpPr/>
          <p:nvPr/>
        </p:nvSpPr>
        <p:spPr>
          <a:xfrm>
            <a:off x="6134098" y="2600498"/>
            <a:ext cx="6134100" cy="2384854"/>
          </a:xfrm>
          <a:prstGeom prst="rect">
            <a:avLst/>
          </a:prstGeom>
          <a:solidFill>
            <a:srgbClr val="AAC2AC">
              <a:alpha val="100000"/>
            </a:srgbClr>
          </a:solidFill>
          <a:ln/>
        </p:spPr>
      </p:sp>
      <p:sp>
        <p:nvSpPr>
          <p:cNvPr id="11" name="矩形 10">
            <a:extLst>
              <a:ext uri="{FF2B5EF4-FFF2-40B4-BE49-F238E27FC236}">
                <a16:creationId xmlns:a16="http://schemas.microsoft.com/office/drawing/2014/main" id="{C95F3F2A-1AA8-42CF-72CF-E90C406541BB}"/>
              </a:ext>
            </a:extLst>
          </p:cNvPr>
          <p:cNvSpPr/>
          <p:nvPr/>
        </p:nvSpPr>
        <p:spPr>
          <a:xfrm>
            <a:off x="3617984" y="3073257"/>
            <a:ext cx="5032147" cy="923330"/>
          </a:xfrm>
          <a:prstGeom prst="rect">
            <a:avLst/>
          </a:prstGeom>
          <a:noFill/>
        </p:spPr>
        <p:txBody>
          <a:bodyPr wrap="none" lIns="91440" tIns="45720" rIns="91440" bIns="45720">
            <a:spAutoFit/>
          </a:bodyPr>
          <a:lstStyle/>
          <a:p>
            <a:pPr algn="ct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微软雅黑 Light"/>
                <a:ea typeface="微软雅黑 Light"/>
              </a:rPr>
              <a:t>风险评估与对策</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grpSp>
        <p:nvGrpSpPr>
          <p:cNvPr id="4" name="Group 4"/>
          <p:cNvGrpSpPr/>
          <p:nvPr/>
        </p:nvGrpSpPr>
        <p:grpSpPr>
          <a:xfrm>
            <a:off x="5698613" y="3019988"/>
            <a:ext cx="5508580" cy="1117013"/>
            <a:chOff x="5698613" y="3019988"/>
            <a:chExt cx="5508580" cy="1117013"/>
          </a:xfrm>
        </p:grpSpPr>
        <p:sp>
          <p:nvSpPr>
            <p:cNvPr id="5" name="TextBox 5"/>
            <p:cNvSpPr txBox="1"/>
            <p:nvPr/>
          </p:nvSpPr>
          <p:spPr>
            <a:xfrm>
              <a:off x="5698613" y="3019988"/>
              <a:ext cx="4306342" cy="379596"/>
            </a:xfrm>
            <a:prstGeom prst="rect">
              <a:avLst/>
            </a:prstGeom>
            <a:ln/>
          </p:spPr>
          <p:txBody>
            <a:bodyPr vert="horz" wrap="square" lIns="114300" tIns="57150" rIns="114300" bIns="57150" rtlCol="0" anchor="t" anchorCtr="0">
              <a:normAutofit lnSpcReduction="10000"/>
            </a:bodyPr>
            <a:lstStyle/>
            <a:p>
              <a:pPr>
                <a:lnSpc>
                  <a:spcPct val="77000"/>
                </a:lnSpc>
              </a:pPr>
              <a:r>
                <a:rPr lang="en-US" sz="2250" b="1">
                  <a:solidFill>
                    <a:schemeClr val="accent1">
                      <a:alpha val="100000"/>
                    </a:schemeClr>
                  </a:solidFill>
                  <a:latin typeface="Microsoft Yahei"/>
                  <a:ea typeface="Microsoft Yahei"/>
                  <a:cs typeface="Microsoft Yahei"/>
                </a:rPr>
                <a:t>技术使用风险</a:t>
              </a:r>
            </a:p>
          </p:txBody>
        </p:sp>
        <p:sp>
          <p:nvSpPr>
            <p:cNvPr id="6" name="TextBox 6"/>
            <p:cNvSpPr txBox="1"/>
            <p:nvPr/>
          </p:nvSpPr>
          <p:spPr>
            <a:xfrm>
              <a:off x="5698613" y="3468172"/>
              <a:ext cx="5508580"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在系统上新后，用户对于系统的谈话内容或者故事内容的兴趣程度不高。</a:t>
              </a:r>
            </a:p>
          </p:txBody>
        </p:sp>
      </p:grpSp>
      <p:grpSp>
        <p:nvGrpSpPr>
          <p:cNvPr id="7" name="Group 7"/>
          <p:cNvGrpSpPr/>
          <p:nvPr/>
        </p:nvGrpSpPr>
        <p:grpSpPr>
          <a:xfrm>
            <a:off x="5698613" y="4594142"/>
            <a:ext cx="5508580" cy="1117013"/>
            <a:chOff x="5698613" y="4594142"/>
            <a:chExt cx="5508580" cy="1117013"/>
          </a:xfrm>
        </p:grpSpPr>
        <p:sp>
          <p:nvSpPr>
            <p:cNvPr id="8" name="TextBox 8"/>
            <p:cNvSpPr txBox="1"/>
            <p:nvPr/>
          </p:nvSpPr>
          <p:spPr>
            <a:xfrm>
              <a:off x="5698613" y="4594142"/>
              <a:ext cx="4306342" cy="379596"/>
            </a:xfrm>
            <a:prstGeom prst="rect">
              <a:avLst/>
            </a:prstGeom>
            <a:ln/>
          </p:spPr>
          <p:txBody>
            <a:bodyPr vert="horz" wrap="square" lIns="114300" tIns="57150" rIns="114300" bIns="57150" rtlCol="0" anchor="t" anchorCtr="0">
              <a:normAutofit lnSpcReduction="10000"/>
            </a:bodyPr>
            <a:lstStyle/>
            <a:p>
              <a:pPr>
                <a:lnSpc>
                  <a:spcPct val="77000"/>
                </a:lnSpc>
              </a:pPr>
              <a:r>
                <a:rPr lang="en-US" sz="2250" b="1">
                  <a:solidFill>
                    <a:schemeClr val="accent1">
                      <a:alpha val="100000"/>
                    </a:schemeClr>
                  </a:solidFill>
                  <a:latin typeface="Microsoft Yahei"/>
                  <a:ea typeface="Microsoft Yahei"/>
                  <a:cs typeface="Microsoft Yahei"/>
                </a:rPr>
                <a:t>拓宽人才队伍</a:t>
              </a:r>
            </a:p>
          </p:txBody>
        </p:sp>
        <p:sp>
          <p:nvSpPr>
            <p:cNvPr id="9" name="TextBox 9"/>
            <p:cNvSpPr txBox="1"/>
            <p:nvPr/>
          </p:nvSpPr>
          <p:spPr>
            <a:xfrm>
              <a:off x="5698613" y="5042326"/>
              <a:ext cx="5508580"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招聘更多关于计算机专业和人工智能专业的人才，研发新技术，维护系统平稳进行。</a:t>
              </a:r>
            </a:p>
          </p:txBody>
        </p:sp>
      </p:grpSp>
      <p:sp>
        <p:nvSpPr>
          <p:cNvPr id="10" name="AutoShape 10"/>
          <p:cNvSpPr/>
          <p:nvPr/>
        </p:nvSpPr>
        <p:spPr>
          <a:xfrm>
            <a:off x="4577378" y="4679677"/>
            <a:ext cx="771749" cy="771749"/>
          </a:xfrm>
          <a:prstGeom prst="ellipse">
            <a:avLst/>
          </a:prstGeom>
          <a:solidFill>
            <a:schemeClr val="accent2">
              <a:alpha val="100000"/>
            </a:schemeClr>
          </a:solidFill>
          <a:ln/>
        </p:spPr>
      </p:sp>
      <p:grpSp>
        <p:nvGrpSpPr>
          <p:cNvPr id="11" name="Group 11"/>
          <p:cNvGrpSpPr/>
          <p:nvPr/>
        </p:nvGrpSpPr>
        <p:grpSpPr>
          <a:xfrm>
            <a:off x="5698613" y="1449658"/>
            <a:ext cx="5416996" cy="1117013"/>
            <a:chOff x="5698613" y="1449658"/>
            <a:chExt cx="5416996" cy="1117013"/>
          </a:xfrm>
        </p:grpSpPr>
        <p:sp>
          <p:nvSpPr>
            <p:cNvPr id="12" name="TextBox 12"/>
            <p:cNvSpPr txBox="1"/>
            <p:nvPr/>
          </p:nvSpPr>
          <p:spPr>
            <a:xfrm>
              <a:off x="5698613" y="1449658"/>
              <a:ext cx="4306342" cy="379596"/>
            </a:xfrm>
            <a:prstGeom prst="rect">
              <a:avLst/>
            </a:prstGeom>
            <a:ln/>
          </p:spPr>
          <p:txBody>
            <a:bodyPr vert="horz" wrap="square" lIns="114300" tIns="57150" rIns="114300" bIns="57150" rtlCol="0" anchor="t" anchorCtr="0">
              <a:normAutofit lnSpcReduction="10000"/>
            </a:bodyPr>
            <a:lstStyle/>
            <a:p>
              <a:pPr>
                <a:lnSpc>
                  <a:spcPct val="77000"/>
                </a:lnSpc>
              </a:pPr>
              <a:r>
                <a:rPr lang="en-US" sz="2250" b="1">
                  <a:solidFill>
                    <a:schemeClr val="accent1">
                      <a:alpha val="100000"/>
                    </a:schemeClr>
                  </a:solidFill>
                  <a:latin typeface="Microsoft Yahei"/>
                  <a:ea typeface="Microsoft Yahei"/>
                  <a:cs typeface="Microsoft Yahei"/>
                </a:rPr>
                <a:t>技术运行风险</a:t>
              </a:r>
            </a:p>
          </p:txBody>
        </p:sp>
        <p:sp>
          <p:nvSpPr>
            <p:cNvPr id="13" name="TextBox 13"/>
            <p:cNvSpPr txBox="1"/>
            <p:nvPr/>
          </p:nvSpPr>
          <p:spPr>
            <a:xfrm>
              <a:off x="5698613" y="1897842"/>
              <a:ext cx="5416996" cy="668829"/>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系统的功能的研发和运行的时候可能会出现卡顿、动作错误、黑屏的情况。</a:t>
              </a:r>
            </a:p>
          </p:txBody>
        </p:sp>
      </p:grpSp>
      <p:sp>
        <p:nvSpPr>
          <p:cNvPr id="14" name="AutoShape 14"/>
          <p:cNvSpPr/>
          <p:nvPr/>
        </p:nvSpPr>
        <p:spPr>
          <a:xfrm>
            <a:off x="4577378" y="3117136"/>
            <a:ext cx="771749" cy="771749"/>
          </a:xfrm>
          <a:prstGeom prst="ellipse">
            <a:avLst/>
          </a:prstGeom>
          <a:solidFill>
            <a:schemeClr val="accent1">
              <a:alpha val="100000"/>
            </a:schemeClr>
          </a:solidFill>
          <a:ln/>
        </p:spPr>
      </p:sp>
      <p:sp>
        <p:nvSpPr>
          <p:cNvPr id="15" name="AutoShape 15"/>
          <p:cNvSpPr/>
          <p:nvPr/>
        </p:nvSpPr>
        <p:spPr>
          <a:xfrm>
            <a:off x="4577378" y="1534940"/>
            <a:ext cx="771749" cy="771749"/>
          </a:xfrm>
          <a:prstGeom prst="ellipse">
            <a:avLst/>
          </a:prstGeom>
          <a:solidFill>
            <a:schemeClr val="accent2">
              <a:alpha val="100000"/>
            </a:schemeClr>
          </a:solidFill>
          <a:ln/>
        </p:spPr>
      </p:sp>
      <p:sp>
        <p:nvSpPr>
          <p:cNvPr id="16" name="Freeform 16"/>
          <p:cNvSpPr/>
          <p:nvPr/>
        </p:nvSpPr>
        <p:spPr>
          <a:xfrm>
            <a:off x="4776261" y="3320653"/>
            <a:ext cx="373065" cy="373065"/>
          </a:xfrm>
          <a:custGeom>
            <a:avLst/>
            <a:gdLst/>
            <a:ahLst/>
            <a:cxnLst/>
            <a:rect l="l" t="t" r="r" b="b"/>
            <a:pathLst>
              <a:path w="304800" h="304800">
                <a:moveTo>
                  <a:pt x="288693" y="85468"/>
                </a:moveTo>
                <a:lnTo>
                  <a:pt x="193700" y="180461"/>
                </a:lnTo>
                <a:lnTo>
                  <a:pt x="301971" y="180461"/>
                </a:lnTo>
                <a:cubicBezTo>
                  <a:pt x="303686" y="171298"/>
                  <a:pt x="304800" y="162001"/>
                  <a:pt x="304800" y="152400"/>
                </a:cubicBezTo>
                <a:cubicBezTo>
                  <a:pt x="304800" y="128273"/>
                  <a:pt x="298694" y="105747"/>
                  <a:pt x="288693" y="85468"/>
                </a:cubicBezTo>
                <a:close/>
                <a:moveTo>
                  <a:pt x="200549" y="145161"/>
                </a:moveTo>
                <a:lnTo>
                  <a:pt x="278682" y="67066"/>
                </a:lnTo>
                <a:cubicBezTo>
                  <a:pt x="260080" y="39643"/>
                  <a:pt x="232543" y="19241"/>
                  <a:pt x="200549" y="8525"/>
                </a:cubicBezTo>
                <a:lnTo>
                  <a:pt x="200549" y="145161"/>
                </a:lnTo>
                <a:close/>
                <a:moveTo>
                  <a:pt x="159525" y="200549"/>
                </a:moveTo>
                <a:lnTo>
                  <a:pt x="237677" y="278721"/>
                </a:lnTo>
                <a:cubicBezTo>
                  <a:pt x="265138" y="260156"/>
                  <a:pt x="285560" y="232581"/>
                  <a:pt x="296275" y="200549"/>
                </a:cubicBezTo>
                <a:lnTo>
                  <a:pt x="159525" y="200549"/>
                </a:lnTo>
                <a:close/>
                <a:moveTo>
                  <a:pt x="180432" y="111862"/>
                </a:moveTo>
                <a:lnTo>
                  <a:pt x="180432" y="2829"/>
                </a:lnTo>
                <a:cubicBezTo>
                  <a:pt x="171317" y="1133"/>
                  <a:pt x="162001" y="0"/>
                  <a:pt x="152400" y="0"/>
                </a:cubicBezTo>
                <a:cubicBezTo>
                  <a:pt x="128064" y="0"/>
                  <a:pt x="105366" y="6229"/>
                  <a:pt x="84963" y="16393"/>
                </a:cubicBezTo>
                <a:lnTo>
                  <a:pt x="180432" y="111862"/>
                </a:lnTo>
                <a:close/>
                <a:moveTo>
                  <a:pt x="124368" y="193853"/>
                </a:moveTo>
                <a:lnTo>
                  <a:pt x="124368" y="301981"/>
                </a:lnTo>
                <a:cubicBezTo>
                  <a:pt x="133483" y="303686"/>
                  <a:pt x="142799" y="304800"/>
                  <a:pt x="152400" y="304800"/>
                </a:cubicBezTo>
                <a:cubicBezTo>
                  <a:pt x="176508" y="304800"/>
                  <a:pt x="198987" y="298694"/>
                  <a:pt x="219266" y="288722"/>
                </a:cubicBezTo>
                <a:lnTo>
                  <a:pt x="124368" y="193853"/>
                </a:lnTo>
                <a:close/>
                <a:moveTo>
                  <a:pt x="104232" y="159763"/>
                </a:moveTo>
                <a:lnTo>
                  <a:pt x="26194" y="237792"/>
                </a:lnTo>
                <a:cubicBezTo>
                  <a:pt x="44758" y="265176"/>
                  <a:pt x="72276" y="285569"/>
                  <a:pt x="104232" y="296285"/>
                </a:cubicBezTo>
                <a:lnTo>
                  <a:pt x="104232" y="159763"/>
                </a:lnTo>
                <a:close/>
                <a:moveTo>
                  <a:pt x="2829" y="124368"/>
                </a:moveTo>
                <a:cubicBezTo>
                  <a:pt x="1133" y="133483"/>
                  <a:pt x="0" y="142799"/>
                  <a:pt x="0" y="152400"/>
                </a:cubicBezTo>
                <a:cubicBezTo>
                  <a:pt x="0" y="176584"/>
                  <a:pt x="6144" y="199130"/>
                  <a:pt x="16145" y="219408"/>
                </a:cubicBezTo>
                <a:lnTo>
                  <a:pt x="111195" y="124358"/>
                </a:lnTo>
                <a:lnTo>
                  <a:pt x="2829" y="124358"/>
                </a:lnTo>
                <a:close/>
                <a:moveTo>
                  <a:pt x="66637" y="26489"/>
                </a:moveTo>
                <a:cubicBezTo>
                  <a:pt x="39443" y="45053"/>
                  <a:pt x="19183" y="72428"/>
                  <a:pt x="8525" y="104232"/>
                </a:cubicBezTo>
                <a:lnTo>
                  <a:pt x="144389" y="104232"/>
                </a:lnTo>
                <a:lnTo>
                  <a:pt x="66637" y="26489"/>
                </a:lnTo>
                <a:close/>
              </a:path>
            </a:pathLst>
          </a:custGeom>
          <a:solidFill>
            <a:srgbClr val="FFFFFF">
              <a:alpha val="100000"/>
            </a:srgbClr>
          </a:solidFill>
          <a:ln/>
        </p:spPr>
      </p:sp>
      <p:sp>
        <p:nvSpPr>
          <p:cNvPr id="17" name="Freeform 17"/>
          <p:cNvSpPr/>
          <p:nvPr/>
        </p:nvSpPr>
        <p:spPr>
          <a:xfrm>
            <a:off x="4776261" y="1710221"/>
            <a:ext cx="373065" cy="373065"/>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sp>
        <p:nvSpPr>
          <p:cNvPr id="18" name="Freeform 18"/>
          <p:cNvSpPr/>
          <p:nvPr/>
        </p:nvSpPr>
        <p:spPr>
          <a:xfrm>
            <a:off x="4787874" y="4885326"/>
            <a:ext cx="360452" cy="360452"/>
          </a:xfrm>
          <a:custGeom>
            <a:avLst/>
            <a:gdLst/>
            <a:ahLst/>
            <a:cxnLst/>
            <a:rect l="l" t="t" r="r" b="b"/>
            <a:pathLst>
              <a:path w="304800" h="304800">
                <a:moveTo>
                  <a:pt x="209550" y="0"/>
                </a:moveTo>
                <a:cubicBezTo>
                  <a:pt x="156943" y="0"/>
                  <a:pt x="114300" y="42643"/>
                  <a:pt x="114300" y="95250"/>
                </a:cubicBezTo>
                <a:cubicBezTo>
                  <a:pt x="114300" y="101213"/>
                  <a:pt x="114852" y="107042"/>
                  <a:pt x="115900" y="112700"/>
                </a:cubicBezTo>
                <a:lnTo>
                  <a:pt x="0" y="228600"/>
                </a:lnTo>
                <a:lnTo>
                  <a:pt x="0" y="285750"/>
                </a:lnTo>
                <a:cubicBezTo>
                  <a:pt x="0" y="296275"/>
                  <a:pt x="8525" y="304800"/>
                  <a:pt x="19050" y="304800"/>
                </a:cubicBezTo>
                <a:lnTo>
                  <a:pt x="38100" y="304800"/>
                </a:lnTo>
                <a:lnTo>
                  <a:pt x="38100" y="285750"/>
                </a:lnTo>
                <a:lnTo>
                  <a:pt x="76200" y="285750"/>
                </a:lnTo>
                <a:lnTo>
                  <a:pt x="76200" y="247650"/>
                </a:lnTo>
                <a:lnTo>
                  <a:pt x="114300" y="247650"/>
                </a:lnTo>
                <a:lnTo>
                  <a:pt x="114300" y="209550"/>
                </a:lnTo>
                <a:lnTo>
                  <a:pt x="152400" y="209550"/>
                </a:lnTo>
                <a:lnTo>
                  <a:pt x="177117" y="184833"/>
                </a:lnTo>
                <a:cubicBezTo>
                  <a:pt x="187242" y="188500"/>
                  <a:pt x="198158" y="190500"/>
                  <a:pt x="209550" y="190500"/>
                </a:cubicBezTo>
                <a:cubicBezTo>
                  <a:pt x="262157" y="190500"/>
                  <a:pt x="304800" y="147857"/>
                  <a:pt x="304800" y="95250"/>
                </a:cubicBezTo>
                <a:cubicBezTo>
                  <a:pt x="304800" y="42643"/>
                  <a:pt x="262157" y="0"/>
                  <a:pt x="209550" y="0"/>
                </a:cubicBezTo>
                <a:close/>
                <a:moveTo>
                  <a:pt x="238087" y="95288"/>
                </a:moveTo>
                <a:cubicBezTo>
                  <a:pt x="222304" y="95288"/>
                  <a:pt x="209512" y="82496"/>
                  <a:pt x="209512" y="66713"/>
                </a:cubicBezTo>
                <a:cubicBezTo>
                  <a:pt x="209512" y="50930"/>
                  <a:pt x="222304" y="38138"/>
                  <a:pt x="238087" y="38138"/>
                </a:cubicBezTo>
                <a:cubicBezTo>
                  <a:pt x="253870" y="38138"/>
                  <a:pt x="266662" y="50930"/>
                  <a:pt x="266662" y="66713"/>
                </a:cubicBezTo>
                <a:cubicBezTo>
                  <a:pt x="266662" y="82496"/>
                  <a:pt x="253870" y="95288"/>
                  <a:pt x="238087" y="95288"/>
                </a:cubicBezTo>
                <a:close/>
              </a:path>
            </a:pathLst>
          </a:custGeom>
          <a:solidFill>
            <a:srgbClr val="FFFFFF">
              <a:alpha val="100000"/>
            </a:srgbClr>
          </a:solidFill>
          <a:ln/>
        </p:spPr>
      </p:sp>
      <p:pic>
        <p:nvPicPr>
          <p:cNvPr id="19" name="Picture 19"/>
          <p:cNvPicPr>
            <a:picLocks noChangeAspect="1"/>
          </p:cNvPicPr>
          <p:nvPr/>
        </p:nvPicPr>
        <p:blipFill>
          <a:blip r:embed="rId2">
            <a:alphaModFix/>
          </a:blip>
          <a:srcRect l="17549" r="17549"/>
          <a:stretch>
            <a:fillRect/>
          </a:stretch>
        </p:blipFill>
        <p:spPr>
          <a:xfrm>
            <a:off x="610988" y="1794415"/>
            <a:ext cx="3545956" cy="3496708"/>
          </a:xfrm>
          <a:prstGeom prst="rect">
            <a:avLst/>
          </a:prstGeom>
        </p:spPr>
      </p:pic>
      <p:sp>
        <p:nvSpPr>
          <p:cNvPr id="20" name="AutoShape 20"/>
          <p:cNvSpPr/>
          <p:nvPr/>
        </p:nvSpPr>
        <p:spPr>
          <a:xfrm>
            <a:off x="730700" y="190138"/>
            <a:ext cx="3057247" cy="523220"/>
          </a:xfrm>
          <a:prstGeom prst="rect">
            <a:avLst/>
          </a:prstGeom>
          <a:noFill/>
          <a:ln/>
        </p:spPr>
        <p:txBody>
          <a:bodyPr vert="horz" wrap="square" lIns="91440" tIns="45720" rIns="91440" bIns="45720" rtlCol="0" anchor="t" anchorCtr="0">
            <a:normAutofit fontScale="85000" lnSpcReduction="10000"/>
          </a:bodyPr>
          <a:lstStyle/>
          <a:p>
            <a:pPr algn="l">
              <a:defRPr/>
            </a:pPr>
            <a:r>
              <a:rPr lang="en-US" sz="2799">
                <a:solidFill>
                  <a:srgbClr val="787878">
                    <a:alpha val="100000"/>
                  </a:srgbClr>
                </a:solidFill>
                <a:latin typeface="微软雅黑 Light"/>
                <a:ea typeface="微软雅黑 Light"/>
                <a:cs typeface="微软雅黑 Light"/>
              </a:rPr>
              <a:t>技术风险分析与对策</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Freeform 4"/>
          <p:cNvSpPr/>
          <p:nvPr/>
        </p:nvSpPr>
        <p:spPr>
          <a:xfrm>
            <a:off x="8774438" y="2769956"/>
            <a:ext cx="2699808" cy="151330"/>
          </a:xfrm>
          <a:custGeom>
            <a:avLst/>
            <a:gdLst/>
            <a:ahLst/>
            <a:cxnLst/>
            <a:rect l="l" t="t" r="r" b="b"/>
            <a:pathLst>
              <a:path w="516" h="29">
                <a:moveTo>
                  <a:pt x="506" y="0"/>
                </a:moveTo>
                <a:cubicBezTo>
                  <a:pt x="0" y="0"/>
                  <a:pt x="0" y="0"/>
                  <a:pt x="0" y="0"/>
                </a:cubicBezTo>
                <a:cubicBezTo>
                  <a:pt x="1" y="5"/>
                  <a:pt x="2" y="9"/>
                  <a:pt x="2" y="14"/>
                </a:cubicBezTo>
                <a:cubicBezTo>
                  <a:pt x="2" y="19"/>
                  <a:pt x="1" y="24"/>
                  <a:pt x="0" y="29"/>
                </a:cubicBezTo>
                <a:cubicBezTo>
                  <a:pt x="506" y="29"/>
                  <a:pt x="506" y="29"/>
                  <a:pt x="506" y="29"/>
                </a:cubicBezTo>
                <a:cubicBezTo>
                  <a:pt x="511" y="29"/>
                  <a:pt x="516" y="22"/>
                  <a:pt x="516" y="14"/>
                </a:cubicBezTo>
                <a:cubicBezTo>
                  <a:pt x="516" y="7"/>
                  <a:pt x="511" y="0"/>
                  <a:pt x="506" y="0"/>
                </a:cubicBezTo>
              </a:path>
            </a:pathLst>
          </a:custGeom>
          <a:solidFill>
            <a:srgbClr val="BFBFBF">
              <a:alpha val="100000"/>
            </a:srgbClr>
          </a:solidFill>
          <a:ln/>
        </p:spPr>
      </p:sp>
      <p:sp>
        <p:nvSpPr>
          <p:cNvPr id="5" name="Freeform 5"/>
          <p:cNvSpPr/>
          <p:nvPr/>
        </p:nvSpPr>
        <p:spPr>
          <a:xfrm>
            <a:off x="871809" y="2769956"/>
            <a:ext cx="7725738" cy="151330"/>
          </a:xfrm>
          <a:custGeom>
            <a:avLst/>
            <a:gdLst/>
            <a:ahLst/>
            <a:cxnLst/>
            <a:rect l="l" t="t" r="r" b="b"/>
            <a:pathLst>
              <a:path w="1477" h="29">
                <a:moveTo>
                  <a:pt x="1477" y="0"/>
                </a:moveTo>
                <a:cubicBezTo>
                  <a:pt x="11" y="0"/>
                  <a:pt x="11" y="0"/>
                  <a:pt x="11" y="0"/>
                </a:cubicBezTo>
                <a:cubicBezTo>
                  <a:pt x="5" y="0"/>
                  <a:pt x="0" y="7"/>
                  <a:pt x="0" y="14"/>
                </a:cubicBezTo>
                <a:cubicBezTo>
                  <a:pt x="0" y="22"/>
                  <a:pt x="5" y="29"/>
                  <a:pt x="11" y="29"/>
                </a:cubicBezTo>
                <a:cubicBezTo>
                  <a:pt x="1477" y="29"/>
                  <a:pt x="1477" y="29"/>
                  <a:pt x="1477" y="29"/>
                </a:cubicBezTo>
                <a:cubicBezTo>
                  <a:pt x="1477" y="0"/>
                  <a:pt x="1477" y="0"/>
                  <a:pt x="1477" y="0"/>
                </a:cubicBezTo>
              </a:path>
            </a:pathLst>
          </a:custGeom>
          <a:solidFill>
            <a:srgbClr val="7F7F7F">
              <a:alpha val="100000"/>
            </a:srgbClr>
          </a:solidFill>
          <a:ln/>
        </p:spPr>
      </p:sp>
      <p:grpSp>
        <p:nvGrpSpPr>
          <p:cNvPr id="6" name="Group 6"/>
          <p:cNvGrpSpPr/>
          <p:nvPr/>
        </p:nvGrpSpPr>
        <p:grpSpPr>
          <a:xfrm>
            <a:off x="8414004" y="2659094"/>
            <a:ext cx="371475" cy="372999"/>
            <a:chOff x="8414004" y="2659094"/>
            <a:chExt cx="371475" cy="372999"/>
          </a:xfrm>
        </p:grpSpPr>
        <p:sp>
          <p:nvSpPr>
            <p:cNvPr id="7" name="AutoShape 7"/>
            <p:cNvSpPr/>
            <p:nvPr/>
          </p:nvSpPr>
          <p:spPr>
            <a:xfrm>
              <a:off x="8414004" y="2659094"/>
              <a:ext cx="371475" cy="372999"/>
            </a:xfrm>
            <a:prstGeom prst="ellipse">
              <a:avLst/>
            </a:prstGeom>
            <a:solidFill>
              <a:srgbClr val="262626">
                <a:alpha val="100000"/>
              </a:srgbClr>
            </a:solidFill>
            <a:ln/>
          </p:spPr>
        </p:sp>
        <p:sp>
          <p:nvSpPr>
            <p:cNvPr id="8" name="AutoShape 8"/>
            <p:cNvSpPr/>
            <p:nvPr/>
          </p:nvSpPr>
          <p:spPr>
            <a:xfrm>
              <a:off x="8548878" y="2795492"/>
              <a:ext cx="106109" cy="100203"/>
            </a:xfrm>
            <a:prstGeom prst="ellipse">
              <a:avLst/>
            </a:prstGeom>
            <a:solidFill>
              <a:srgbClr val="FFFFFF">
                <a:alpha val="100000"/>
              </a:srgbClr>
            </a:solidFill>
            <a:ln/>
          </p:spPr>
        </p:sp>
      </p:grpSp>
      <p:grpSp>
        <p:nvGrpSpPr>
          <p:cNvPr id="9" name="Group 9"/>
          <p:cNvGrpSpPr/>
          <p:nvPr/>
        </p:nvGrpSpPr>
        <p:grpSpPr>
          <a:xfrm>
            <a:off x="5479828" y="2659094"/>
            <a:ext cx="371475" cy="372999"/>
            <a:chOff x="5479828" y="2659094"/>
            <a:chExt cx="371475" cy="372999"/>
          </a:xfrm>
        </p:grpSpPr>
        <p:sp>
          <p:nvSpPr>
            <p:cNvPr id="10" name="AutoShape 10"/>
            <p:cNvSpPr/>
            <p:nvPr/>
          </p:nvSpPr>
          <p:spPr>
            <a:xfrm>
              <a:off x="5479828" y="2659094"/>
              <a:ext cx="371475" cy="372999"/>
            </a:xfrm>
            <a:prstGeom prst="ellipse">
              <a:avLst/>
            </a:prstGeom>
            <a:solidFill>
              <a:srgbClr val="595959">
                <a:alpha val="100000"/>
              </a:srgbClr>
            </a:solidFill>
            <a:ln/>
          </p:spPr>
        </p:sp>
        <p:sp>
          <p:nvSpPr>
            <p:cNvPr id="11" name="AutoShape 11"/>
            <p:cNvSpPr/>
            <p:nvPr/>
          </p:nvSpPr>
          <p:spPr>
            <a:xfrm>
              <a:off x="5614701" y="2795492"/>
              <a:ext cx="106109" cy="100203"/>
            </a:xfrm>
            <a:prstGeom prst="ellipse">
              <a:avLst/>
            </a:prstGeom>
            <a:solidFill>
              <a:srgbClr val="FFFFFF">
                <a:alpha val="100000"/>
              </a:srgbClr>
            </a:solidFill>
            <a:ln/>
          </p:spPr>
        </p:sp>
      </p:grpSp>
      <p:grpSp>
        <p:nvGrpSpPr>
          <p:cNvPr id="12" name="Group 12"/>
          <p:cNvGrpSpPr/>
          <p:nvPr/>
        </p:nvGrpSpPr>
        <p:grpSpPr>
          <a:xfrm>
            <a:off x="3109531" y="2659094"/>
            <a:ext cx="371475" cy="372999"/>
            <a:chOff x="3109531" y="2659094"/>
            <a:chExt cx="371475" cy="372999"/>
          </a:xfrm>
        </p:grpSpPr>
        <p:sp>
          <p:nvSpPr>
            <p:cNvPr id="13" name="AutoShape 13"/>
            <p:cNvSpPr/>
            <p:nvPr/>
          </p:nvSpPr>
          <p:spPr>
            <a:xfrm>
              <a:off x="3109531" y="2659094"/>
              <a:ext cx="371475" cy="372999"/>
            </a:xfrm>
            <a:prstGeom prst="ellipse">
              <a:avLst/>
            </a:prstGeom>
            <a:solidFill>
              <a:srgbClr val="595959">
                <a:alpha val="100000"/>
              </a:srgbClr>
            </a:solidFill>
            <a:ln/>
          </p:spPr>
        </p:sp>
        <p:sp>
          <p:nvSpPr>
            <p:cNvPr id="14" name="AutoShape 14"/>
            <p:cNvSpPr/>
            <p:nvPr/>
          </p:nvSpPr>
          <p:spPr>
            <a:xfrm>
              <a:off x="3246596" y="2795492"/>
              <a:ext cx="99536" cy="100203"/>
            </a:xfrm>
            <a:prstGeom prst="ellipse">
              <a:avLst/>
            </a:prstGeom>
            <a:solidFill>
              <a:srgbClr val="FFFFFF">
                <a:alpha val="100000"/>
              </a:srgbClr>
            </a:solidFill>
            <a:ln/>
          </p:spPr>
        </p:sp>
      </p:grpSp>
      <p:grpSp>
        <p:nvGrpSpPr>
          <p:cNvPr id="15" name="Group 15"/>
          <p:cNvGrpSpPr/>
          <p:nvPr/>
        </p:nvGrpSpPr>
        <p:grpSpPr>
          <a:xfrm>
            <a:off x="772287" y="2659094"/>
            <a:ext cx="371475" cy="372999"/>
            <a:chOff x="772287" y="2659094"/>
            <a:chExt cx="371475" cy="372999"/>
          </a:xfrm>
        </p:grpSpPr>
        <p:sp>
          <p:nvSpPr>
            <p:cNvPr id="16" name="AutoShape 16"/>
            <p:cNvSpPr/>
            <p:nvPr/>
          </p:nvSpPr>
          <p:spPr>
            <a:xfrm>
              <a:off x="772287" y="2659094"/>
              <a:ext cx="371475" cy="372999"/>
            </a:xfrm>
            <a:prstGeom prst="ellipse">
              <a:avLst/>
            </a:prstGeom>
            <a:solidFill>
              <a:srgbClr val="595959">
                <a:alpha val="100000"/>
              </a:srgbClr>
            </a:solidFill>
            <a:ln/>
          </p:spPr>
        </p:sp>
        <p:sp>
          <p:nvSpPr>
            <p:cNvPr id="17" name="AutoShape 17"/>
            <p:cNvSpPr/>
            <p:nvPr/>
          </p:nvSpPr>
          <p:spPr>
            <a:xfrm>
              <a:off x="907161" y="2795492"/>
              <a:ext cx="99536" cy="100203"/>
            </a:xfrm>
            <a:prstGeom prst="ellipse">
              <a:avLst/>
            </a:prstGeom>
            <a:solidFill>
              <a:srgbClr val="FFFFFF">
                <a:alpha val="100000"/>
              </a:srgbClr>
            </a:solidFill>
            <a:ln/>
          </p:spPr>
        </p:sp>
      </p:grpSp>
      <p:sp>
        <p:nvSpPr>
          <p:cNvPr id="18" name="TextBox 18"/>
          <p:cNvSpPr txBox="1"/>
          <p:nvPr/>
        </p:nvSpPr>
        <p:spPr>
          <a:xfrm>
            <a:off x="743434" y="2182263"/>
            <a:ext cx="1301959" cy="532262"/>
          </a:xfrm>
          <a:prstGeom prst="rect">
            <a:avLst/>
          </a:prstGeom>
          <a:noFill/>
          <a:ln/>
        </p:spPr>
        <p:txBody>
          <a:bodyPr vert="horz" wrap="square" lIns="91440" tIns="45720" rIns="91440" bIns="0" rtlCol="0" anchor="t" anchorCtr="0">
            <a:spAutoFit/>
          </a:bodyPr>
          <a:lstStyle/>
          <a:p>
            <a:pPr algn="l">
              <a:lnSpc>
                <a:spcPct val="80000"/>
              </a:lnSpc>
              <a:spcBef>
                <a:spcPct val="0"/>
              </a:spcBef>
              <a:spcAft>
                <a:spcPct val="0"/>
              </a:spcAft>
            </a:pPr>
            <a:r>
              <a:rPr lang="zh-CN" altLang="en-US" sz="1950" dirty="0">
                <a:solidFill>
                  <a:srgbClr val="787878">
                    <a:alpha val="100000"/>
                  </a:srgbClr>
                </a:solidFill>
                <a:latin typeface="Calibri"/>
                <a:ea typeface="Calibri"/>
                <a:cs typeface="Calibri"/>
              </a:rPr>
              <a:t>购买新设备</a:t>
            </a:r>
            <a:endParaRPr lang="en-US" sz="1950" dirty="0">
              <a:solidFill>
                <a:srgbClr val="787878">
                  <a:alpha val="100000"/>
                </a:srgbClr>
              </a:solidFill>
              <a:latin typeface="Calibri"/>
              <a:ea typeface="Calibri"/>
              <a:cs typeface="Calibri"/>
            </a:endParaRPr>
          </a:p>
        </p:txBody>
      </p:sp>
      <p:sp>
        <p:nvSpPr>
          <p:cNvPr id="19" name="TextBox 19"/>
          <p:cNvSpPr txBox="1"/>
          <p:nvPr/>
        </p:nvSpPr>
        <p:spPr>
          <a:xfrm>
            <a:off x="2991079" y="2249659"/>
            <a:ext cx="1301959" cy="400110"/>
          </a:xfrm>
          <a:prstGeom prst="rect">
            <a:avLst/>
          </a:prstGeom>
          <a:noFill/>
          <a:ln/>
        </p:spPr>
        <p:txBody>
          <a:bodyPr vert="horz" wrap="square" lIns="91440" tIns="45720" rIns="91440" bIns="0" rtlCol="0" anchor="t" anchorCtr="0">
            <a:spAutoFit/>
          </a:bodyPr>
          <a:lstStyle/>
          <a:p>
            <a:pPr algn="l">
              <a:lnSpc>
                <a:spcPct val="80000"/>
              </a:lnSpc>
              <a:spcBef>
                <a:spcPct val="0"/>
              </a:spcBef>
              <a:spcAft>
                <a:spcPct val="0"/>
              </a:spcAft>
            </a:pPr>
            <a:r>
              <a:rPr lang="en-US" sz="1950">
                <a:solidFill>
                  <a:srgbClr val="787878">
                    <a:alpha val="100000"/>
                  </a:srgbClr>
                </a:solidFill>
                <a:latin typeface="Calibri"/>
                <a:ea typeface="Calibri"/>
                <a:cs typeface="Calibri"/>
              </a:rPr>
              <a:t>意愿合作</a:t>
            </a:r>
          </a:p>
        </p:txBody>
      </p:sp>
      <p:sp>
        <p:nvSpPr>
          <p:cNvPr id="20" name="TextBox 20"/>
          <p:cNvSpPr txBox="1"/>
          <p:nvPr/>
        </p:nvSpPr>
        <p:spPr>
          <a:xfrm>
            <a:off x="5392723" y="2160358"/>
            <a:ext cx="1301959" cy="400110"/>
          </a:xfrm>
          <a:prstGeom prst="rect">
            <a:avLst/>
          </a:prstGeom>
          <a:noFill/>
          <a:ln/>
        </p:spPr>
        <p:txBody>
          <a:bodyPr vert="horz" wrap="square" lIns="91440" tIns="45720" rIns="91440" bIns="0" rtlCol="0" anchor="t" anchorCtr="0">
            <a:spAutoFit/>
          </a:bodyPr>
          <a:lstStyle/>
          <a:p>
            <a:pPr algn="l">
              <a:lnSpc>
                <a:spcPct val="80000"/>
              </a:lnSpc>
              <a:spcBef>
                <a:spcPct val="0"/>
              </a:spcBef>
              <a:spcAft>
                <a:spcPct val="0"/>
              </a:spcAft>
            </a:pPr>
            <a:r>
              <a:rPr lang="en-US" sz="1950">
                <a:solidFill>
                  <a:srgbClr val="787878">
                    <a:alpha val="100000"/>
                  </a:srgbClr>
                </a:solidFill>
                <a:latin typeface="Calibri"/>
                <a:ea typeface="Calibri"/>
                <a:cs typeface="Calibri"/>
              </a:rPr>
              <a:t>收集与分析</a:t>
            </a:r>
          </a:p>
        </p:txBody>
      </p:sp>
      <p:sp>
        <p:nvSpPr>
          <p:cNvPr id="21" name="TextBox 21"/>
          <p:cNvSpPr txBox="1"/>
          <p:nvPr/>
        </p:nvSpPr>
        <p:spPr>
          <a:xfrm>
            <a:off x="8291348" y="2249659"/>
            <a:ext cx="1301959" cy="400110"/>
          </a:xfrm>
          <a:prstGeom prst="rect">
            <a:avLst/>
          </a:prstGeom>
          <a:noFill/>
          <a:ln/>
        </p:spPr>
        <p:txBody>
          <a:bodyPr vert="horz" wrap="square" lIns="91440" tIns="45720" rIns="91440" bIns="0" rtlCol="0" anchor="t" anchorCtr="0">
            <a:spAutoFit/>
          </a:bodyPr>
          <a:lstStyle/>
          <a:p>
            <a:pPr algn="l">
              <a:lnSpc>
                <a:spcPct val="80000"/>
              </a:lnSpc>
              <a:spcBef>
                <a:spcPct val="0"/>
              </a:spcBef>
              <a:spcAft>
                <a:spcPct val="0"/>
              </a:spcAft>
            </a:pPr>
            <a:r>
              <a:rPr lang="en-US" sz="1950">
                <a:solidFill>
                  <a:srgbClr val="787878">
                    <a:alpha val="100000"/>
                  </a:srgbClr>
                </a:solidFill>
                <a:latin typeface="Calibri"/>
                <a:ea typeface="Calibri"/>
                <a:cs typeface="Calibri"/>
              </a:rPr>
              <a:t>内部试验</a:t>
            </a:r>
          </a:p>
        </p:txBody>
      </p:sp>
      <p:grpSp>
        <p:nvGrpSpPr>
          <p:cNvPr id="22" name="Group 22"/>
          <p:cNvGrpSpPr/>
          <p:nvPr/>
        </p:nvGrpSpPr>
        <p:grpSpPr>
          <a:xfrm>
            <a:off x="704183" y="3157442"/>
            <a:ext cx="1913191" cy="2174463"/>
            <a:chOff x="704183" y="3157442"/>
            <a:chExt cx="1913191" cy="2174463"/>
          </a:xfrm>
        </p:grpSpPr>
        <p:sp>
          <p:nvSpPr>
            <p:cNvPr id="23" name="AutoShape 23"/>
            <p:cNvSpPr/>
            <p:nvPr/>
          </p:nvSpPr>
          <p:spPr>
            <a:xfrm>
              <a:off x="704183" y="3157442"/>
              <a:ext cx="1569625" cy="369284"/>
            </a:xfrm>
            <a:prstGeom prst="rect">
              <a:avLst/>
            </a:prstGeom>
            <a:noFill/>
            <a:ln/>
          </p:spPr>
        </p:sp>
        <p:sp>
          <p:nvSpPr>
            <p:cNvPr id="24" name="TextBox 24"/>
            <p:cNvSpPr txBox="1"/>
            <p:nvPr/>
          </p:nvSpPr>
          <p:spPr>
            <a:xfrm>
              <a:off x="721042" y="3619119"/>
              <a:ext cx="1896332" cy="1712786"/>
            </a:xfrm>
            <a:prstGeom prst="rect">
              <a:avLst/>
            </a:prstGeom>
            <a:ln/>
          </p:spPr>
          <p:txBody>
            <a:bodyPr vert="horz" wrap="square" lIns="91440" tIns="45720" rIns="91440" bIns="0" rtlCol="0" anchor="t" anchorCtr="0">
              <a:spAutoFit/>
            </a:bodyPr>
            <a:lstStyle/>
            <a:p>
              <a:pPr algn="l">
                <a:lnSpc>
                  <a:spcPct val="130000"/>
                </a:lnSpc>
                <a:spcBef>
                  <a:spcPct val="0"/>
                </a:spcBef>
                <a:spcAft>
                  <a:spcPct val="0"/>
                </a:spcAft>
              </a:pPr>
              <a:r>
                <a:rPr lang="en-US" sz="1350">
                  <a:solidFill>
                    <a:srgbClr val="787878">
                      <a:alpha val="100000"/>
                    </a:srgbClr>
                  </a:solidFill>
                  <a:latin typeface="微软雅黑 Light"/>
                  <a:ea typeface="微软雅黑 Light"/>
                  <a:cs typeface="微软雅黑 Light"/>
                </a:rPr>
                <a:t>提高电脑的运行能力，加大机器的承载能力，保护系统正常运行。</a:t>
              </a:r>
            </a:p>
          </p:txBody>
        </p:sp>
      </p:grpSp>
      <p:sp>
        <p:nvSpPr>
          <p:cNvPr id="26" name="AutoShape 26"/>
          <p:cNvSpPr/>
          <p:nvPr/>
        </p:nvSpPr>
        <p:spPr>
          <a:xfrm>
            <a:off x="3017901" y="3157442"/>
            <a:ext cx="1569625" cy="369284"/>
          </a:xfrm>
          <a:prstGeom prst="rect">
            <a:avLst/>
          </a:prstGeom>
          <a:noFill/>
          <a:ln/>
        </p:spPr>
      </p:sp>
      <p:sp>
        <p:nvSpPr>
          <p:cNvPr id="29" name="AutoShape 29"/>
          <p:cNvSpPr/>
          <p:nvPr/>
        </p:nvSpPr>
        <p:spPr>
          <a:xfrm>
            <a:off x="5395341" y="3157442"/>
            <a:ext cx="1569625" cy="369284"/>
          </a:xfrm>
          <a:prstGeom prst="rect">
            <a:avLst/>
          </a:prstGeom>
          <a:noFill/>
          <a:ln/>
        </p:spPr>
      </p:sp>
      <p:sp>
        <p:nvSpPr>
          <p:cNvPr id="32" name="AutoShape 32"/>
          <p:cNvSpPr/>
          <p:nvPr/>
        </p:nvSpPr>
        <p:spPr>
          <a:xfrm>
            <a:off x="8480025" y="3241581"/>
            <a:ext cx="1569625" cy="369284"/>
          </a:xfrm>
          <a:prstGeom prst="rect">
            <a:avLst/>
          </a:prstGeom>
          <a:noFill/>
          <a:ln/>
        </p:spPr>
      </p:sp>
      <p:sp>
        <p:nvSpPr>
          <p:cNvPr id="34" name="AutoShape 34"/>
          <p:cNvSpPr/>
          <p:nvPr/>
        </p:nvSpPr>
        <p:spPr>
          <a:xfrm>
            <a:off x="763865" y="166034"/>
            <a:ext cx="3057247" cy="523220"/>
          </a:xfrm>
          <a:prstGeom prst="rect">
            <a:avLst/>
          </a:prstGeom>
          <a:noFill/>
          <a:ln/>
        </p:spPr>
        <p:txBody>
          <a:bodyPr vert="horz" wrap="square" lIns="91440" tIns="45720" rIns="91440" bIns="45720" rtlCol="0" anchor="t" anchorCtr="0">
            <a:normAutofit fontScale="85000" lnSpcReduction="10000"/>
          </a:bodyPr>
          <a:lstStyle/>
          <a:p>
            <a:pPr algn="l">
              <a:defRPr/>
            </a:pPr>
            <a:r>
              <a:rPr lang="en-US" sz="2799">
                <a:solidFill>
                  <a:srgbClr val="787878">
                    <a:alpha val="100000"/>
                  </a:srgbClr>
                </a:solidFill>
                <a:latin typeface="微软雅黑 Light"/>
                <a:ea typeface="微软雅黑 Light"/>
                <a:cs typeface="微软雅黑 Light"/>
              </a:rPr>
              <a:t>技术风险分析与对策</a:t>
            </a:r>
            <a:endParaRPr lang="en-US" sz="1100"/>
          </a:p>
        </p:txBody>
      </p:sp>
      <p:sp>
        <p:nvSpPr>
          <p:cNvPr id="36" name="文本框 35">
            <a:extLst>
              <a:ext uri="{FF2B5EF4-FFF2-40B4-BE49-F238E27FC236}">
                <a16:creationId xmlns:a16="http://schemas.microsoft.com/office/drawing/2014/main" id="{D617D291-3EF8-AAD5-4BA5-E4C7729033BC}"/>
              </a:ext>
            </a:extLst>
          </p:cNvPr>
          <p:cNvSpPr txBox="1"/>
          <p:nvPr/>
        </p:nvSpPr>
        <p:spPr>
          <a:xfrm>
            <a:off x="5265753" y="3670138"/>
            <a:ext cx="1828800" cy="1131079"/>
          </a:xfrm>
          <a:prstGeom prst="rect">
            <a:avLst/>
          </a:prstGeom>
          <a:noFill/>
        </p:spPr>
        <p:txBody>
          <a:bodyPr wrap="square" rtlCol="0">
            <a:spAutoFit/>
          </a:bodyPr>
          <a:lstStyle/>
          <a:p>
            <a:r>
              <a:rPr lang="zh-CN" altLang="en-US" sz="1350" dirty="0">
                <a:latin typeface="微软雅黑 Light" panose="020B0502040204020203" pitchFamily="34" charset="-122"/>
                <a:ea typeface="微软雅黑 Light" panose="020B0502040204020203" pitchFamily="34" charset="-122"/>
              </a:rPr>
              <a:t>加大对于用户年龄范围内的情绪问题的收集与分析，增加对话内容的亲和性、严谨性和科学性</a:t>
            </a:r>
          </a:p>
        </p:txBody>
      </p:sp>
      <p:sp>
        <p:nvSpPr>
          <p:cNvPr id="37" name="文本框 36">
            <a:extLst>
              <a:ext uri="{FF2B5EF4-FFF2-40B4-BE49-F238E27FC236}">
                <a16:creationId xmlns:a16="http://schemas.microsoft.com/office/drawing/2014/main" id="{AF7BE95B-E851-038C-81B1-F8C55C86B0A4}"/>
              </a:ext>
            </a:extLst>
          </p:cNvPr>
          <p:cNvSpPr txBox="1"/>
          <p:nvPr/>
        </p:nvSpPr>
        <p:spPr>
          <a:xfrm>
            <a:off x="3059739" y="3690682"/>
            <a:ext cx="1569625" cy="784830"/>
          </a:xfrm>
          <a:prstGeom prst="rect">
            <a:avLst/>
          </a:prstGeom>
          <a:noFill/>
        </p:spPr>
        <p:txBody>
          <a:bodyPr wrap="square" rtlCol="0">
            <a:spAutoFit/>
          </a:bodyPr>
          <a:lstStyle/>
          <a:p>
            <a:r>
              <a:rPr lang="zh-CN" altLang="en-US" sz="1350" dirty="0">
                <a:latin typeface="微软雅黑 Light" panose="020B0502040204020203" pitchFamily="34" charset="-122"/>
                <a:ea typeface="微软雅黑 Light" panose="020B0502040204020203" pitchFamily="34" charset="-122"/>
              </a:rPr>
              <a:t>与其他公司达成意愿合作，购买其专利。升级系统</a:t>
            </a:r>
            <a:r>
              <a:rPr lang="zh-CN" altLang="en-US" dirty="0"/>
              <a:t>。</a:t>
            </a:r>
          </a:p>
        </p:txBody>
      </p:sp>
      <p:sp>
        <p:nvSpPr>
          <p:cNvPr id="38" name="TextBox 27">
            <a:extLst>
              <a:ext uri="{FF2B5EF4-FFF2-40B4-BE49-F238E27FC236}">
                <a16:creationId xmlns:a16="http://schemas.microsoft.com/office/drawing/2014/main" id="{DA6DE977-5CEB-4692-2E01-4D893EE675A1}"/>
              </a:ext>
            </a:extLst>
          </p:cNvPr>
          <p:cNvSpPr txBox="1"/>
          <p:nvPr/>
        </p:nvSpPr>
        <p:spPr>
          <a:xfrm>
            <a:off x="3034760" y="3621119"/>
            <a:ext cx="1896332" cy="291298"/>
          </a:xfrm>
          <a:prstGeom prst="rect">
            <a:avLst/>
          </a:prstGeom>
          <a:ln/>
        </p:spPr>
        <p:txBody>
          <a:bodyPr vert="horz" wrap="square" lIns="91440" tIns="45720" rIns="91440" bIns="0" rtlCol="0" anchor="t" anchorCtr="0">
            <a:spAutoFit/>
          </a:bodyPr>
          <a:lstStyle/>
          <a:p>
            <a:pPr algn="l">
              <a:lnSpc>
                <a:spcPct val="130000"/>
              </a:lnSpc>
              <a:spcBef>
                <a:spcPct val="0"/>
              </a:spcBef>
              <a:spcAft>
                <a:spcPct val="0"/>
              </a:spcAft>
            </a:pPr>
            <a:endParaRPr lang="en-US" sz="1350" dirty="0">
              <a:solidFill>
                <a:srgbClr val="787878">
                  <a:alpha val="100000"/>
                </a:srgbClr>
              </a:solidFill>
              <a:latin typeface="微软雅黑 Light"/>
              <a:ea typeface="微软雅黑 Light"/>
              <a:cs typeface="微软雅黑 Light"/>
            </a:endParaRPr>
          </a:p>
        </p:txBody>
      </p:sp>
      <p:sp>
        <p:nvSpPr>
          <p:cNvPr id="39" name="文本框 38">
            <a:extLst>
              <a:ext uri="{FF2B5EF4-FFF2-40B4-BE49-F238E27FC236}">
                <a16:creationId xmlns:a16="http://schemas.microsoft.com/office/drawing/2014/main" id="{B031F68B-5E10-BB82-037F-8581CFD3458D}"/>
              </a:ext>
            </a:extLst>
          </p:cNvPr>
          <p:cNvSpPr txBox="1"/>
          <p:nvPr/>
        </p:nvSpPr>
        <p:spPr>
          <a:xfrm>
            <a:off x="7924800" y="3670138"/>
            <a:ext cx="1896332" cy="992579"/>
          </a:xfrm>
          <a:prstGeom prst="rect">
            <a:avLst/>
          </a:prstGeom>
          <a:noFill/>
        </p:spPr>
        <p:txBody>
          <a:bodyPr wrap="square" rtlCol="0">
            <a:spAutoFit/>
          </a:bodyPr>
          <a:lstStyle/>
          <a:p>
            <a:r>
              <a:rPr lang="zh-CN" altLang="en-US" sz="1350" dirty="0">
                <a:latin typeface="微软雅黑 Light" panose="020B0502040204020203" pitchFamily="34" charset="-122"/>
                <a:ea typeface="微软雅黑 Light" panose="020B0502040204020203" pitchFamily="34" charset="-122"/>
              </a:rPr>
              <a:t>在系统上新之前多次内部试验系统，根据反馈进行修改。</a:t>
            </a:r>
            <a:br>
              <a:rPr lang="zh-CN" altLang="en-US" dirty="0"/>
            </a:b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sp>
        <p:nvSpPr>
          <p:cNvPr id="4" name="AutoShape 4"/>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499">
                <a:solidFill>
                  <a:srgbClr val="787878">
                    <a:alpha val="100000"/>
                  </a:srgbClr>
                </a:solidFill>
                <a:latin typeface="微软雅黑 Light"/>
                <a:ea typeface="微软雅黑 Light"/>
                <a:cs typeface="微软雅黑 Light"/>
              </a:rPr>
              <a:t>营销风险分析与对策</a:t>
            </a:r>
            <a:endParaRPr lang="en-US" sz="1100"/>
          </a:p>
        </p:txBody>
      </p:sp>
      <p:grpSp>
        <p:nvGrpSpPr>
          <p:cNvPr id="5" name="Group 5"/>
          <p:cNvGrpSpPr/>
          <p:nvPr/>
        </p:nvGrpSpPr>
        <p:grpSpPr>
          <a:xfrm>
            <a:off x="1822418" y="2064544"/>
            <a:ext cx="1355122" cy="1363218"/>
            <a:chOff x="1822418" y="2064544"/>
            <a:chExt cx="1355122" cy="1363218"/>
          </a:xfrm>
        </p:grpSpPr>
        <p:sp>
          <p:nvSpPr>
            <p:cNvPr id="6" name="AutoShape 6"/>
            <p:cNvSpPr/>
            <p:nvPr/>
          </p:nvSpPr>
          <p:spPr>
            <a:xfrm>
              <a:off x="1822418" y="2064544"/>
              <a:ext cx="1355122" cy="1363218"/>
            </a:xfrm>
            <a:prstGeom prst="ellipse">
              <a:avLst/>
            </a:prstGeom>
            <a:solidFill>
              <a:srgbClr val="778495">
                <a:alpha val="100000"/>
              </a:srgbClr>
            </a:solidFill>
            <a:ln/>
          </p:spPr>
        </p:sp>
        <p:sp>
          <p:nvSpPr>
            <p:cNvPr id="7" name="Freeform 7"/>
            <p:cNvSpPr/>
            <p:nvPr/>
          </p:nvSpPr>
          <p:spPr>
            <a:xfrm>
              <a:off x="2095500" y="2539841"/>
              <a:ext cx="809054" cy="604742"/>
            </a:xfrm>
            <a:custGeom>
              <a:avLst/>
              <a:gdLst/>
              <a:ahLst/>
              <a:cxnLst/>
              <a:rect l="l" t="t" r="r" b="b"/>
              <a:pathLst>
                <a:path w="169" h="126">
                  <a:moveTo>
                    <a:pt x="150" y="0"/>
                  </a:moveTo>
                  <a:cubicBezTo>
                    <a:pt x="19" y="0"/>
                    <a:pt x="19" y="0"/>
                    <a:pt x="19" y="0"/>
                  </a:cubicBezTo>
                  <a:cubicBezTo>
                    <a:pt x="8" y="0"/>
                    <a:pt x="0" y="9"/>
                    <a:pt x="0" y="20"/>
                  </a:cubicBezTo>
                  <a:cubicBezTo>
                    <a:pt x="0" y="107"/>
                    <a:pt x="0" y="107"/>
                    <a:pt x="0" y="107"/>
                  </a:cubicBezTo>
                  <a:cubicBezTo>
                    <a:pt x="0" y="118"/>
                    <a:pt x="8" y="126"/>
                    <a:pt x="19" y="126"/>
                  </a:cubicBezTo>
                  <a:cubicBezTo>
                    <a:pt x="150" y="126"/>
                    <a:pt x="150" y="126"/>
                    <a:pt x="150" y="126"/>
                  </a:cubicBezTo>
                  <a:cubicBezTo>
                    <a:pt x="161" y="126"/>
                    <a:pt x="169" y="118"/>
                    <a:pt x="169" y="107"/>
                  </a:cubicBezTo>
                  <a:cubicBezTo>
                    <a:pt x="169" y="20"/>
                    <a:pt x="169" y="20"/>
                    <a:pt x="169" y="20"/>
                  </a:cubicBezTo>
                  <a:cubicBezTo>
                    <a:pt x="169" y="9"/>
                    <a:pt x="161" y="0"/>
                    <a:pt x="150" y="0"/>
                  </a:cubicBezTo>
                  <a:close/>
                  <a:moveTo>
                    <a:pt x="121" y="74"/>
                  </a:moveTo>
                  <a:cubicBezTo>
                    <a:pt x="121" y="77"/>
                    <a:pt x="119" y="79"/>
                    <a:pt x="116" y="79"/>
                  </a:cubicBezTo>
                  <a:cubicBezTo>
                    <a:pt x="100" y="79"/>
                    <a:pt x="100" y="79"/>
                    <a:pt x="100" y="79"/>
                  </a:cubicBezTo>
                  <a:cubicBezTo>
                    <a:pt x="100" y="95"/>
                    <a:pt x="100" y="95"/>
                    <a:pt x="100" y="95"/>
                  </a:cubicBezTo>
                  <a:cubicBezTo>
                    <a:pt x="100" y="98"/>
                    <a:pt x="98" y="100"/>
                    <a:pt x="94" y="100"/>
                  </a:cubicBezTo>
                  <a:cubicBezTo>
                    <a:pt x="74" y="100"/>
                    <a:pt x="74" y="100"/>
                    <a:pt x="74" y="100"/>
                  </a:cubicBezTo>
                  <a:cubicBezTo>
                    <a:pt x="71" y="100"/>
                    <a:pt x="69" y="98"/>
                    <a:pt x="69" y="95"/>
                  </a:cubicBezTo>
                  <a:cubicBezTo>
                    <a:pt x="69" y="79"/>
                    <a:pt x="69" y="79"/>
                    <a:pt x="69" y="79"/>
                  </a:cubicBezTo>
                  <a:cubicBezTo>
                    <a:pt x="53" y="79"/>
                    <a:pt x="53" y="79"/>
                    <a:pt x="53" y="79"/>
                  </a:cubicBezTo>
                  <a:cubicBezTo>
                    <a:pt x="50" y="79"/>
                    <a:pt x="47" y="77"/>
                    <a:pt x="47" y="74"/>
                  </a:cubicBezTo>
                  <a:cubicBezTo>
                    <a:pt x="47" y="53"/>
                    <a:pt x="47" y="53"/>
                    <a:pt x="47" y="53"/>
                  </a:cubicBezTo>
                  <a:cubicBezTo>
                    <a:pt x="47" y="50"/>
                    <a:pt x="50" y="48"/>
                    <a:pt x="53" y="48"/>
                  </a:cubicBezTo>
                  <a:cubicBezTo>
                    <a:pt x="69" y="48"/>
                    <a:pt x="69" y="48"/>
                    <a:pt x="69" y="48"/>
                  </a:cubicBezTo>
                  <a:cubicBezTo>
                    <a:pt x="69" y="32"/>
                    <a:pt x="69" y="32"/>
                    <a:pt x="69" y="32"/>
                  </a:cubicBezTo>
                  <a:cubicBezTo>
                    <a:pt x="69" y="29"/>
                    <a:pt x="71" y="27"/>
                    <a:pt x="74" y="27"/>
                  </a:cubicBezTo>
                  <a:cubicBezTo>
                    <a:pt x="94" y="27"/>
                    <a:pt x="94" y="27"/>
                    <a:pt x="94" y="27"/>
                  </a:cubicBezTo>
                  <a:cubicBezTo>
                    <a:pt x="98" y="27"/>
                    <a:pt x="100" y="29"/>
                    <a:pt x="100" y="32"/>
                  </a:cubicBezTo>
                  <a:cubicBezTo>
                    <a:pt x="100" y="48"/>
                    <a:pt x="100" y="48"/>
                    <a:pt x="100" y="48"/>
                  </a:cubicBezTo>
                  <a:cubicBezTo>
                    <a:pt x="116" y="48"/>
                    <a:pt x="116" y="48"/>
                    <a:pt x="116" y="48"/>
                  </a:cubicBezTo>
                  <a:cubicBezTo>
                    <a:pt x="119" y="48"/>
                    <a:pt x="121" y="50"/>
                    <a:pt x="121" y="53"/>
                  </a:cubicBezTo>
                  <a:lnTo>
                    <a:pt x="121" y="74"/>
                  </a:lnTo>
                  <a:close/>
                </a:path>
              </a:pathLst>
            </a:custGeom>
            <a:solidFill>
              <a:srgbClr val="FDFDFD">
                <a:alpha val="100000"/>
              </a:srgbClr>
            </a:solidFill>
            <a:ln/>
          </p:spPr>
        </p:sp>
        <p:sp>
          <p:nvSpPr>
            <p:cNvPr id="8" name="Freeform 8"/>
            <p:cNvSpPr/>
            <p:nvPr/>
          </p:nvSpPr>
          <p:spPr>
            <a:xfrm>
              <a:off x="2259330" y="2347722"/>
              <a:ext cx="483394" cy="173927"/>
            </a:xfrm>
            <a:custGeom>
              <a:avLst/>
              <a:gdLst/>
              <a:ahLst/>
              <a:cxnLst/>
              <a:rect l="l" t="t" r="r" b="b"/>
              <a:pathLst>
                <a:path w="101" h="36">
                  <a:moveTo>
                    <a:pt x="11" y="16"/>
                  </a:moveTo>
                  <a:cubicBezTo>
                    <a:pt x="11" y="13"/>
                    <a:pt x="13" y="11"/>
                    <a:pt x="16" y="11"/>
                  </a:cubicBezTo>
                  <a:cubicBezTo>
                    <a:pt x="85" y="11"/>
                    <a:pt x="85" y="11"/>
                    <a:pt x="85" y="11"/>
                  </a:cubicBezTo>
                  <a:cubicBezTo>
                    <a:pt x="88" y="11"/>
                    <a:pt x="90" y="13"/>
                    <a:pt x="90" y="16"/>
                  </a:cubicBezTo>
                  <a:cubicBezTo>
                    <a:pt x="90" y="36"/>
                    <a:pt x="90" y="36"/>
                    <a:pt x="90" y="36"/>
                  </a:cubicBezTo>
                  <a:cubicBezTo>
                    <a:pt x="101" y="36"/>
                    <a:pt x="101" y="36"/>
                    <a:pt x="101" y="36"/>
                  </a:cubicBezTo>
                  <a:cubicBezTo>
                    <a:pt x="101" y="7"/>
                    <a:pt x="101" y="7"/>
                    <a:pt x="101" y="7"/>
                  </a:cubicBezTo>
                  <a:cubicBezTo>
                    <a:pt x="101" y="3"/>
                    <a:pt x="98" y="0"/>
                    <a:pt x="94" y="0"/>
                  </a:cubicBezTo>
                  <a:cubicBezTo>
                    <a:pt x="6" y="0"/>
                    <a:pt x="6" y="0"/>
                    <a:pt x="6" y="0"/>
                  </a:cubicBezTo>
                  <a:cubicBezTo>
                    <a:pt x="3" y="0"/>
                    <a:pt x="0" y="3"/>
                    <a:pt x="0" y="7"/>
                  </a:cubicBezTo>
                  <a:cubicBezTo>
                    <a:pt x="0" y="36"/>
                    <a:pt x="0" y="36"/>
                    <a:pt x="0" y="36"/>
                  </a:cubicBezTo>
                  <a:cubicBezTo>
                    <a:pt x="11" y="36"/>
                    <a:pt x="11" y="36"/>
                    <a:pt x="11" y="36"/>
                  </a:cubicBezTo>
                  <a:lnTo>
                    <a:pt x="11" y="16"/>
                  </a:lnTo>
                  <a:close/>
                </a:path>
              </a:pathLst>
            </a:custGeom>
            <a:solidFill>
              <a:srgbClr val="FDFDFD">
                <a:alpha val="100000"/>
              </a:srgbClr>
            </a:solidFill>
            <a:ln/>
          </p:spPr>
        </p:sp>
      </p:grpSp>
      <p:grpSp>
        <p:nvGrpSpPr>
          <p:cNvPr id="9" name="Group 9"/>
          <p:cNvGrpSpPr/>
          <p:nvPr/>
        </p:nvGrpSpPr>
        <p:grpSpPr>
          <a:xfrm>
            <a:off x="6668548" y="2064544"/>
            <a:ext cx="1359122" cy="1363218"/>
            <a:chOff x="6668548" y="2064544"/>
            <a:chExt cx="1359122" cy="1363218"/>
          </a:xfrm>
        </p:grpSpPr>
        <p:sp>
          <p:nvSpPr>
            <p:cNvPr id="10" name="AutoShape 10"/>
            <p:cNvSpPr/>
            <p:nvPr/>
          </p:nvSpPr>
          <p:spPr>
            <a:xfrm>
              <a:off x="6668548" y="2064544"/>
              <a:ext cx="1359122" cy="1363218"/>
            </a:xfrm>
            <a:prstGeom prst="ellipse">
              <a:avLst/>
            </a:prstGeom>
            <a:solidFill>
              <a:srgbClr val="AAC2AC">
                <a:alpha val="100000"/>
              </a:srgbClr>
            </a:solidFill>
            <a:ln/>
          </p:spPr>
        </p:sp>
        <p:sp>
          <p:nvSpPr>
            <p:cNvPr id="11" name="Freeform 11"/>
            <p:cNvSpPr/>
            <p:nvPr/>
          </p:nvSpPr>
          <p:spPr>
            <a:xfrm>
              <a:off x="7487698" y="2361819"/>
              <a:ext cx="210312" cy="782765"/>
            </a:xfrm>
            <a:custGeom>
              <a:avLst/>
              <a:gdLst/>
              <a:ahLst/>
              <a:cxnLst/>
              <a:rect l="l" t="t" r="r" b="b"/>
              <a:pathLst>
                <a:path w="44" h="163">
                  <a:moveTo>
                    <a:pt x="38" y="0"/>
                  </a:moveTo>
                  <a:cubicBezTo>
                    <a:pt x="36" y="0"/>
                    <a:pt x="36" y="0"/>
                    <a:pt x="36" y="0"/>
                  </a:cubicBezTo>
                  <a:cubicBezTo>
                    <a:pt x="36" y="41"/>
                    <a:pt x="36" y="41"/>
                    <a:pt x="36" y="41"/>
                  </a:cubicBezTo>
                  <a:cubicBezTo>
                    <a:pt x="36" y="43"/>
                    <a:pt x="34" y="45"/>
                    <a:pt x="31" y="45"/>
                  </a:cubicBezTo>
                  <a:cubicBezTo>
                    <a:pt x="28" y="45"/>
                    <a:pt x="26" y="43"/>
                    <a:pt x="26" y="41"/>
                  </a:cubicBezTo>
                  <a:cubicBezTo>
                    <a:pt x="26" y="0"/>
                    <a:pt x="26" y="0"/>
                    <a:pt x="26" y="0"/>
                  </a:cubicBezTo>
                  <a:cubicBezTo>
                    <a:pt x="18" y="0"/>
                    <a:pt x="18" y="0"/>
                    <a:pt x="18" y="0"/>
                  </a:cubicBezTo>
                  <a:cubicBezTo>
                    <a:pt x="18" y="41"/>
                    <a:pt x="18" y="41"/>
                    <a:pt x="18" y="41"/>
                  </a:cubicBezTo>
                  <a:cubicBezTo>
                    <a:pt x="18" y="43"/>
                    <a:pt x="16" y="45"/>
                    <a:pt x="13" y="45"/>
                  </a:cubicBezTo>
                  <a:cubicBezTo>
                    <a:pt x="10" y="45"/>
                    <a:pt x="8" y="43"/>
                    <a:pt x="8" y="41"/>
                  </a:cubicBezTo>
                  <a:cubicBezTo>
                    <a:pt x="8" y="0"/>
                    <a:pt x="8" y="0"/>
                    <a:pt x="8" y="0"/>
                  </a:cubicBezTo>
                  <a:cubicBezTo>
                    <a:pt x="6" y="0"/>
                    <a:pt x="6" y="0"/>
                    <a:pt x="6" y="0"/>
                  </a:cubicBezTo>
                  <a:cubicBezTo>
                    <a:pt x="3" y="0"/>
                    <a:pt x="0" y="3"/>
                    <a:pt x="0" y="6"/>
                  </a:cubicBezTo>
                  <a:cubicBezTo>
                    <a:pt x="0" y="51"/>
                    <a:pt x="0" y="51"/>
                    <a:pt x="0" y="51"/>
                  </a:cubicBezTo>
                  <a:cubicBezTo>
                    <a:pt x="0" y="55"/>
                    <a:pt x="3" y="57"/>
                    <a:pt x="6" y="57"/>
                  </a:cubicBezTo>
                  <a:cubicBezTo>
                    <a:pt x="15" y="57"/>
                    <a:pt x="15" y="57"/>
                    <a:pt x="15" y="57"/>
                  </a:cubicBezTo>
                  <a:cubicBezTo>
                    <a:pt x="15" y="74"/>
                    <a:pt x="15" y="74"/>
                    <a:pt x="15" y="74"/>
                  </a:cubicBezTo>
                  <a:cubicBezTo>
                    <a:pt x="13" y="76"/>
                    <a:pt x="11" y="79"/>
                    <a:pt x="11" y="82"/>
                  </a:cubicBezTo>
                  <a:cubicBezTo>
                    <a:pt x="11" y="152"/>
                    <a:pt x="11" y="152"/>
                    <a:pt x="11" y="152"/>
                  </a:cubicBezTo>
                  <a:cubicBezTo>
                    <a:pt x="11" y="158"/>
                    <a:pt x="16" y="163"/>
                    <a:pt x="22" y="163"/>
                  </a:cubicBezTo>
                  <a:cubicBezTo>
                    <a:pt x="28" y="163"/>
                    <a:pt x="33" y="158"/>
                    <a:pt x="33" y="152"/>
                  </a:cubicBezTo>
                  <a:cubicBezTo>
                    <a:pt x="33" y="82"/>
                    <a:pt x="33" y="82"/>
                    <a:pt x="33" y="82"/>
                  </a:cubicBezTo>
                  <a:cubicBezTo>
                    <a:pt x="33" y="79"/>
                    <a:pt x="31" y="76"/>
                    <a:pt x="29" y="74"/>
                  </a:cubicBezTo>
                  <a:cubicBezTo>
                    <a:pt x="29" y="57"/>
                    <a:pt x="29" y="57"/>
                    <a:pt x="29" y="57"/>
                  </a:cubicBezTo>
                  <a:cubicBezTo>
                    <a:pt x="38" y="57"/>
                    <a:pt x="38" y="57"/>
                    <a:pt x="38" y="57"/>
                  </a:cubicBezTo>
                  <a:cubicBezTo>
                    <a:pt x="41" y="57"/>
                    <a:pt x="44" y="55"/>
                    <a:pt x="44" y="51"/>
                  </a:cubicBezTo>
                  <a:cubicBezTo>
                    <a:pt x="44" y="6"/>
                    <a:pt x="44" y="6"/>
                    <a:pt x="44" y="6"/>
                  </a:cubicBezTo>
                  <a:cubicBezTo>
                    <a:pt x="44" y="3"/>
                    <a:pt x="41" y="0"/>
                    <a:pt x="38" y="0"/>
                  </a:cubicBezTo>
                  <a:close/>
                </a:path>
              </a:pathLst>
            </a:custGeom>
            <a:solidFill>
              <a:srgbClr val="FDFDFD">
                <a:alpha val="100000"/>
              </a:srgbClr>
            </a:solidFill>
            <a:ln/>
          </p:spPr>
        </p:sp>
        <p:sp>
          <p:nvSpPr>
            <p:cNvPr id="12" name="Freeform 12"/>
            <p:cNvSpPr/>
            <p:nvPr/>
          </p:nvSpPr>
          <p:spPr>
            <a:xfrm>
              <a:off x="6998208" y="2353723"/>
              <a:ext cx="196215" cy="790861"/>
            </a:xfrm>
            <a:custGeom>
              <a:avLst/>
              <a:gdLst/>
              <a:ahLst/>
              <a:cxnLst/>
              <a:rect l="l" t="t" r="r" b="b"/>
              <a:pathLst>
                <a:path w="41" h="165">
                  <a:moveTo>
                    <a:pt x="21" y="0"/>
                  </a:moveTo>
                  <a:cubicBezTo>
                    <a:pt x="9" y="0"/>
                    <a:pt x="0" y="13"/>
                    <a:pt x="0" y="30"/>
                  </a:cubicBezTo>
                  <a:cubicBezTo>
                    <a:pt x="0" y="42"/>
                    <a:pt x="6" y="53"/>
                    <a:pt x="14" y="58"/>
                  </a:cubicBezTo>
                  <a:cubicBezTo>
                    <a:pt x="14" y="76"/>
                    <a:pt x="14" y="76"/>
                    <a:pt x="14" y="76"/>
                  </a:cubicBezTo>
                  <a:cubicBezTo>
                    <a:pt x="11" y="78"/>
                    <a:pt x="10" y="81"/>
                    <a:pt x="10" y="84"/>
                  </a:cubicBezTo>
                  <a:cubicBezTo>
                    <a:pt x="10" y="154"/>
                    <a:pt x="10" y="154"/>
                    <a:pt x="10" y="154"/>
                  </a:cubicBezTo>
                  <a:cubicBezTo>
                    <a:pt x="10" y="160"/>
                    <a:pt x="15" y="165"/>
                    <a:pt x="21" y="165"/>
                  </a:cubicBezTo>
                  <a:cubicBezTo>
                    <a:pt x="27" y="165"/>
                    <a:pt x="31" y="160"/>
                    <a:pt x="31" y="154"/>
                  </a:cubicBezTo>
                  <a:cubicBezTo>
                    <a:pt x="31" y="84"/>
                    <a:pt x="31" y="84"/>
                    <a:pt x="31" y="84"/>
                  </a:cubicBezTo>
                  <a:cubicBezTo>
                    <a:pt x="31" y="81"/>
                    <a:pt x="30" y="78"/>
                    <a:pt x="27" y="76"/>
                  </a:cubicBezTo>
                  <a:cubicBezTo>
                    <a:pt x="27" y="58"/>
                    <a:pt x="27" y="58"/>
                    <a:pt x="27" y="58"/>
                  </a:cubicBezTo>
                  <a:cubicBezTo>
                    <a:pt x="35" y="53"/>
                    <a:pt x="41" y="42"/>
                    <a:pt x="41" y="30"/>
                  </a:cubicBezTo>
                  <a:cubicBezTo>
                    <a:pt x="41" y="13"/>
                    <a:pt x="32" y="0"/>
                    <a:pt x="21" y="0"/>
                  </a:cubicBezTo>
                  <a:close/>
                </a:path>
              </a:pathLst>
            </a:custGeom>
            <a:solidFill>
              <a:srgbClr val="FDFDFD">
                <a:alpha val="100000"/>
              </a:srgbClr>
            </a:solidFill>
            <a:ln/>
          </p:spPr>
        </p:sp>
        <p:sp>
          <p:nvSpPr>
            <p:cNvPr id="13" name="Freeform 13"/>
            <p:cNvSpPr/>
            <p:nvPr/>
          </p:nvSpPr>
          <p:spPr>
            <a:xfrm>
              <a:off x="7271290" y="2353723"/>
              <a:ext cx="143637" cy="790861"/>
            </a:xfrm>
            <a:custGeom>
              <a:avLst/>
              <a:gdLst/>
              <a:ahLst/>
              <a:cxnLst/>
              <a:rect l="l" t="t" r="r" b="b"/>
              <a:pathLst>
                <a:path w="30" h="165">
                  <a:moveTo>
                    <a:pt x="26" y="76"/>
                  </a:moveTo>
                  <a:cubicBezTo>
                    <a:pt x="26" y="58"/>
                    <a:pt x="26" y="58"/>
                    <a:pt x="26" y="58"/>
                  </a:cubicBezTo>
                  <a:cubicBezTo>
                    <a:pt x="26" y="50"/>
                    <a:pt x="26" y="50"/>
                    <a:pt x="26" y="50"/>
                  </a:cubicBezTo>
                  <a:cubicBezTo>
                    <a:pt x="26" y="1"/>
                    <a:pt x="26" y="1"/>
                    <a:pt x="26" y="1"/>
                  </a:cubicBezTo>
                  <a:cubicBezTo>
                    <a:pt x="25" y="0"/>
                    <a:pt x="22" y="0"/>
                    <a:pt x="20" y="0"/>
                  </a:cubicBezTo>
                  <a:cubicBezTo>
                    <a:pt x="9" y="0"/>
                    <a:pt x="0" y="13"/>
                    <a:pt x="0" y="30"/>
                  </a:cubicBezTo>
                  <a:cubicBezTo>
                    <a:pt x="0" y="42"/>
                    <a:pt x="5" y="53"/>
                    <a:pt x="13" y="57"/>
                  </a:cubicBezTo>
                  <a:cubicBezTo>
                    <a:pt x="13" y="76"/>
                    <a:pt x="13" y="76"/>
                    <a:pt x="13" y="76"/>
                  </a:cubicBezTo>
                  <a:cubicBezTo>
                    <a:pt x="10" y="78"/>
                    <a:pt x="9" y="81"/>
                    <a:pt x="9" y="84"/>
                  </a:cubicBezTo>
                  <a:cubicBezTo>
                    <a:pt x="9" y="154"/>
                    <a:pt x="9" y="154"/>
                    <a:pt x="9" y="154"/>
                  </a:cubicBezTo>
                  <a:cubicBezTo>
                    <a:pt x="9" y="160"/>
                    <a:pt x="14" y="165"/>
                    <a:pt x="20" y="165"/>
                  </a:cubicBezTo>
                  <a:cubicBezTo>
                    <a:pt x="26" y="165"/>
                    <a:pt x="30" y="160"/>
                    <a:pt x="30" y="154"/>
                  </a:cubicBezTo>
                  <a:cubicBezTo>
                    <a:pt x="30" y="84"/>
                    <a:pt x="30" y="84"/>
                    <a:pt x="30" y="84"/>
                  </a:cubicBezTo>
                  <a:cubicBezTo>
                    <a:pt x="30" y="81"/>
                    <a:pt x="29" y="78"/>
                    <a:pt x="26" y="76"/>
                  </a:cubicBezTo>
                  <a:close/>
                </a:path>
              </a:pathLst>
            </a:custGeom>
            <a:solidFill>
              <a:srgbClr val="FDFDFD">
                <a:alpha val="100000"/>
              </a:srgbClr>
            </a:solidFill>
            <a:ln/>
          </p:spPr>
        </p:sp>
      </p:grpSp>
      <p:grpSp>
        <p:nvGrpSpPr>
          <p:cNvPr id="14" name="Group 14"/>
          <p:cNvGrpSpPr/>
          <p:nvPr/>
        </p:nvGrpSpPr>
        <p:grpSpPr>
          <a:xfrm>
            <a:off x="6668548" y="4184237"/>
            <a:ext cx="1359122" cy="1357122"/>
            <a:chOff x="6668548" y="4184237"/>
            <a:chExt cx="1359122" cy="1357122"/>
          </a:xfrm>
        </p:grpSpPr>
        <p:sp>
          <p:nvSpPr>
            <p:cNvPr id="15" name="AutoShape 15"/>
            <p:cNvSpPr/>
            <p:nvPr/>
          </p:nvSpPr>
          <p:spPr>
            <a:xfrm>
              <a:off x="6668548" y="4184237"/>
              <a:ext cx="1359122" cy="1357122"/>
            </a:xfrm>
            <a:prstGeom prst="ellipse">
              <a:avLst/>
            </a:prstGeom>
            <a:solidFill>
              <a:srgbClr val="8F8F8F">
                <a:alpha val="100000"/>
              </a:srgbClr>
            </a:solidFill>
            <a:ln/>
          </p:spPr>
        </p:sp>
        <p:sp>
          <p:nvSpPr>
            <p:cNvPr id="16" name="Freeform 16"/>
            <p:cNvSpPr/>
            <p:nvPr/>
          </p:nvSpPr>
          <p:spPr>
            <a:xfrm>
              <a:off x="7180231" y="5122640"/>
              <a:ext cx="339757" cy="115253"/>
            </a:xfrm>
            <a:custGeom>
              <a:avLst/>
              <a:gdLst/>
              <a:ahLst/>
              <a:cxnLst/>
              <a:rect l="l" t="t" r="r" b="b"/>
              <a:pathLst>
                <a:path w="71" h="24">
                  <a:moveTo>
                    <a:pt x="71" y="23"/>
                  </a:moveTo>
                  <a:cubicBezTo>
                    <a:pt x="71" y="22"/>
                    <a:pt x="67" y="22"/>
                    <a:pt x="64" y="21"/>
                  </a:cubicBezTo>
                  <a:cubicBezTo>
                    <a:pt x="60" y="21"/>
                    <a:pt x="60" y="16"/>
                    <a:pt x="60" y="11"/>
                  </a:cubicBezTo>
                  <a:cubicBezTo>
                    <a:pt x="59" y="8"/>
                    <a:pt x="59" y="3"/>
                    <a:pt x="59" y="0"/>
                  </a:cubicBezTo>
                  <a:cubicBezTo>
                    <a:pt x="12" y="0"/>
                    <a:pt x="12" y="0"/>
                    <a:pt x="12" y="0"/>
                  </a:cubicBezTo>
                  <a:cubicBezTo>
                    <a:pt x="11" y="3"/>
                    <a:pt x="11" y="8"/>
                    <a:pt x="11" y="11"/>
                  </a:cubicBezTo>
                  <a:cubicBezTo>
                    <a:pt x="10" y="16"/>
                    <a:pt x="10" y="21"/>
                    <a:pt x="7" y="21"/>
                  </a:cubicBezTo>
                  <a:cubicBezTo>
                    <a:pt x="3" y="22"/>
                    <a:pt x="0" y="22"/>
                    <a:pt x="0" y="23"/>
                  </a:cubicBezTo>
                  <a:cubicBezTo>
                    <a:pt x="0" y="24"/>
                    <a:pt x="0" y="24"/>
                    <a:pt x="0" y="24"/>
                  </a:cubicBezTo>
                  <a:cubicBezTo>
                    <a:pt x="0" y="24"/>
                    <a:pt x="4" y="24"/>
                    <a:pt x="6" y="24"/>
                  </a:cubicBezTo>
                  <a:cubicBezTo>
                    <a:pt x="35" y="24"/>
                    <a:pt x="35" y="24"/>
                    <a:pt x="35" y="24"/>
                  </a:cubicBezTo>
                  <a:cubicBezTo>
                    <a:pt x="35" y="24"/>
                    <a:pt x="35" y="24"/>
                    <a:pt x="36" y="24"/>
                  </a:cubicBezTo>
                  <a:cubicBezTo>
                    <a:pt x="65" y="24"/>
                    <a:pt x="65" y="24"/>
                    <a:pt x="65" y="24"/>
                  </a:cubicBezTo>
                  <a:cubicBezTo>
                    <a:pt x="67" y="24"/>
                    <a:pt x="71" y="24"/>
                    <a:pt x="71" y="24"/>
                  </a:cubicBezTo>
                  <a:lnTo>
                    <a:pt x="71" y="23"/>
                  </a:lnTo>
                  <a:close/>
                </a:path>
              </a:pathLst>
            </a:custGeom>
            <a:solidFill>
              <a:srgbClr val="FDFDFD">
                <a:alpha val="100000"/>
              </a:srgbClr>
            </a:solidFill>
            <a:ln/>
          </p:spPr>
        </p:sp>
        <p:sp>
          <p:nvSpPr>
            <p:cNvPr id="17" name="Freeform 17"/>
            <p:cNvSpPr/>
            <p:nvPr/>
          </p:nvSpPr>
          <p:spPr>
            <a:xfrm>
              <a:off x="6945630" y="4485513"/>
              <a:ext cx="804958" cy="629031"/>
            </a:xfrm>
            <a:custGeom>
              <a:avLst/>
              <a:gdLst/>
              <a:ahLst/>
              <a:cxnLst/>
              <a:rect l="l" t="t" r="r" b="b"/>
              <a:pathLst>
                <a:path w="168" h="131">
                  <a:moveTo>
                    <a:pt x="162" y="0"/>
                  </a:moveTo>
                  <a:cubicBezTo>
                    <a:pt x="7" y="0"/>
                    <a:pt x="7" y="0"/>
                    <a:pt x="7" y="0"/>
                  </a:cubicBezTo>
                  <a:cubicBezTo>
                    <a:pt x="3" y="0"/>
                    <a:pt x="0" y="3"/>
                    <a:pt x="0" y="6"/>
                  </a:cubicBezTo>
                  <a:cubicBezTo>
                    <a:pt x="0" y="125"/>
                    <a:pt x="0" y="125"/>
                    <a:pt x="0" y="125"/>
                  </a:cubicBezTo>
                  <a:cubicBezTo>
                    <a:pt x="0" y="128"/>
                    <a:pt x="3" y="131"/>
                    <a:pt x="7" y="131"/>
                  </a:cubicBezTo>
                  <a:cubicBezTo>
                    <a:pt x="61" y="131"/>
                    <a:pt x="61" y="131"/>
                    <a:pt x="61" y="131"/>
                  </a:cubicBezTo>
                  <a:cubicBezTo>
                    <a:pt x="61" y="131"/>
                    <a:pt x="61" y="131"/>
                    <a:pt x="61" y="131"/>
                  </a:cubicBezTo>
                  <a:cubicBezTo>
                    <a:pt x="108" y="131"/>
                    <a:pt x="108" y="131"/>
                    <a:pt x="108" y="131"/>
                  </a:cubicBezTo>
                  <a:cubicBezTo>
                    <a:pt x="108" y="131"/>
                    <a:pt x="108" y="131"/>
                    <a:pt x="108" y="131"/>
                  </a:cubicBezTo>
                  <a:cubicBezTo>
                    <a:pt x="162" y="131"/>
                    <a:pt x="162" y="131"/>
                    <a:pt x="162" y="131"/>
                  </a:cubicBezTo>
                  <a:cubicBezTo>
                    <a:pt x="165" y="131"/>
                    <a:pt x="168" y="128"/>
                    <a:pt x="168" y="125"/>
                  </a:cubicBezTo>
                  <a:cubicBezTo>
                    <a:pt x="168" y="6"/>
                    <a:pt x="168" y="6"/>
                    <a:pt x="168" y="6"/>
                  </a:cubicBezTo>
                  <a:cubicBezTo>
                    <a:pt x="168" y="3"/>
                    <a:pt x="165" y="0"/>
                    <a:pt x="162" y="0"/>
                  </a:cubicBezTo>
                  <a:close/>
                  <a:moveTo>
                    <a:pt x="84" y="123"/>
                  </a:moveTo>
                  <a:cubicBezTo>
                    <a:pt x="83" y="123"/>
                    <a:pt x="82" y="122"/>
                    <a:pt x="82" y="120"/>
                  </a:cubicBezTo>
                  <a:cubicBezTo>
                    <a:pt x="82" y="119"/>
                    <a:pt x="83" y="118"/>
                    <a:pt x="84" y="118"/>
                  </a:cubicBezTo>
                  <a:cubicBezTo>
                    <a:pt x="86" y="118"/>
                    <a:pt x="87" y="119"/>
                    <a:pt x="87" y="120"/>
                  </a:cubicBezTo>
                  <a:cubicBezTo>
                    <a:pt x="87" y="122"/>
                    <a:pt x="86" y="123"/>
                    <a:pt x="84" y="123"/>
                  </a:cubicBezTo>
                  <a:close/>
                  <a:moveTo>
                    <a:pt x="160" y="106"/>
                  </a:moveTo>
                  <a:cubicBezTo>
                    <a:pt x="8" y="106"/>
                    <a:pt x="8" y="106"/>
                    <a:pt x="8" y="106"/>
                  </a:cubicBezTo>
                  <a:cubicBezTo>
                    <a:pt x="8" y="8"/>
                    <a:pt x="8" y="8"/>
                    <a:pt x="8" y="8"/>
                  </a:cubicBezTo>
                  <a:cubicBezTo>
                    <a:pt x="160" y="8"/>
                    <a:pt x="160" y="8"/>
                    <a:pt x="160" y="8"/>
                  </a:cubicBezTo>
                  <a:lnTo>
                    <a:pt x="160" y="106"/>
                  </a:lnTo>
                  <a:close/>
                </a:path>
              </a:pathLst>
            </a:custGeom>
            <a:solidFill>
              <a:srgbClr val="FDFDFD">
                <a:alpha val="100000"/>
              </a:srgbClr>
            </a:solidFill>
            <a:ln/>
          </p:spPr>
        </p:sp>
        <p:sp>
          <p:nvSpPr>
            <p:cNvPr id="18" name="AutoShape 18"/>
            <p:cNvSpPr/>
            <p:nvPr/>
          </p:nvSpPr>
          <p:spPr>
            <a:xfrm>
              <a:off x="7457313" y="4653439"/>
              <a:ext cx="76867" cy="76867"/>
            </a:xfrm>
            <a:prstGeom prst="ellipse">
              <a:avLst/>
            </a:prstGeom>
            <a:solidFill>
              <a:srgbClr val="FDFDFD">
                <a:alpha val="100000"/>
              </a:srgbClr>
            </a:solidFill>
            <a:ln/>
          </p:spPr>
        </p:sp>
        <p:sp>
          <p:nvSpPr>
            <p:cNvPr id="19" name="AutoShape 19"/>
            <p:cNvSpPr/>
            <p:nvPr/>
          </p:nvSpPr>
          <p:spPr>
            <a:xfrm>
              <a:off x="7166039" y="4653439"/>
              <a:ext cx="70771" cy="76867"/>
            </a:xfrm>
            <a:prstGeom prst="ellipse">
              <a:avLst/>
            </a:prstGeom>
            <a:solidFill>
              <a:srgbClr val="FDFDFD">
                <a:alpha val="100000"/>
              </a:srgbClr>
            </a:solidFill>
            <a:ln/>
          </p:spPr>
        </p:sp>
        <p:sp>
          <p:nvSpPr>
            <p:cNvPr id="20" name="Freeform 20"/>
            <p:cNvSpPr/>
            <p:nvPr/>
          </p:nvSpPr>
          <p:spPr>
            <a:xfrm>
              <a:off x="7439120" y="4726210"/>
              <a:ext cx="147638" cy="171926"/>
            </a:xfrm>
            <a:custGeom>
              <a:avLst/>
              <a:gdLst/>
              <a:ahLst/>
              <a:cxnLst/>
              <a:rect l="l" t="t" r="r" b="b"/>
              <a:pathLst>
                <a:path w="31" h="36">
                  <a:moveTo>
                    <a:pt x="26" y="7"/>
                  </a:moveTo>
                  <a:cubicBezTo>
                    <a:pt x="26" y="3"/>
                    <a:pt x="22" y="0"/>
                    <a:pt x="18" y="0"/>
                  </a:cubicBezTo>
                  <a:cubicBezTo>
                    <a:pt x="18" y="0"/>
                    <a:pt x="18" y="0"/>
                    <a:pt x="18" y="0"/>
                  </a:cubicBezTo>
                  <a:cubicBezTo>
                    <a:pt x="16" y="1"/>
                    <a:pt x="14" y="2"/>
                    <a:pt x="12" y="2"/>
                  </a:cubicBezTo>
                  <a:cubicBezTo>
                    <a:pt x="10" y="2"/>
                    <a:pt x="7" y="1"/>
                    <a:pt x="6" y="0"/>
                  </a:cubicBezTo>
                  <a:cubicBezTo>
                    <a:pt x="5" y="0"/>
                    <a:pt x="5" y="0"/>
                    <a:pt x="5" y="0"/>
                  </a:cubicBezTo>
                  <a:cubicBezTo>
                    <a:pt x="3" y="0"/>
                    <a:pt x="2" y="1"/>
                    <a:pt x="0" y="2"/>
                  </a:cubicBezTo>
                  <a:cubicBezTo>
                    <a:pt x="1" y="3"/>
                    <a:pt x="1" y="5"/>
                    <a:pt x="1" y="6"/>
                  </a:cubicBezTo>
                  <a:cubicBezTo>
                    <a:pt x="9" y="36"/>
                    <a:pt x="9" y="36"/>
                    <a:pt x="9" y="36"/>
                  </a:cubicBezTo>
                  <a:cubicBezTo>
                    <a:pt x="9" y="36"/>
                    <a:pt x="9" y="36"/>
                    <a:pt x="9" y="36"/>
                  </a:cubicBezTo>
                  <a:cubicBezTo>
                    <a:pt x="24" y="36"/>
                    <a:pt x="24" y="36"/>
                    <a:pt x="24" y="36"/>
                  </a:cubicBezTo>
                  <a:cubicBezTo>
                    <a:pt x="27" y="36"/>
                    <a:pt x="31" y="33"/>
                    <a:pt x="31" y="29"/>
                  </a:cubicBezTo>
                  <a:lnTo>
                    <a:pt x="26" y="7"/>
                  </a:lnTo>
                  <a:close/>
                </a:path>
              </a:pathLst>
            </a:custGeom>
            <a:solidFill>
              <a:srgbClr val="FDFDFD">
                <a:alpha val="100000"/>
              </a:srgbClr>
            </a:solidFill>
            <a:ln/>
          </p:spPr>
        </p:sp>
        <p:sp>
          <p:nvSpPr>
            <p:cNvPr id="21" name="Freeform 21"/>
            <p:cNvSpPr/>
            <p:nvPr/>
          </p:nvSpPr>
          <p:spPr>
            <a:xfrm>
              <a:off x="7113461" y="4726210"/>
              <a:ext cx="143637" cy="171926"/>
            </a:xfrm>
            <a:custGeom>
              <a:avLst/>
              <a:gdLst/>
              <a:ahLst/>
              <a:cxnLst/>
              <a:rect l="l" t="t" r="r" b="b"/>
              <a:pathLst>
                <a:path w="30" h="36">
                  <a:moveTo>
                    <a:pt x="30" y="2"/>
                  </a:moveTo>
                  <a:cubicBezTo>
                    <a:pt x="29" y="1"/>
                    <a:pt x="27" y="0"/>
                    <a:pt x="25" y="0"/>
                  </a:cubicBezTo>
                  <a:cubicBezTo>
                    <a:pt x="25" y="0"/>
                    <a:pt x="25" y="0"/>
                    <a:pt x="25" y="0"/>
                  </a:cubicBezTo>
                  <a:cubicBezTo>
                    <a:pt x="23" y="1"/>
                    <a:pt x="21" y="2"/>
                    <a:pt x="19" y="2"/>
                  </a:cubicBezTo>
                  <a:cubicBezTo>
                    <a:pt x="16" y="2"/>
                    <a:pt x="14" y="1"/>
                    <a:pt x="12" y="0"/>
                  </a:cubicBezTo>
                  <a:cubicBezTo>
                    <a:pt x="12" y="0"/>
                    <a:pt x="12" y="0"/>
                    <a:pt x="12" y="0"/>
                  </a:cubicBezTo>
                  <a:cubicBezTo>
                    <a:pt x="8" y="0"/>
                    <a:pt x="5" y="3"/>
                    <a:pt x="5" y="7"/>
                  </a:cubicBezTo>
                  <a:cubicBezTo>
                    <a:pt x="0" y="29"/>
                    <a:pt x="0" y="29"/>
                    <a:pt x="0" y="29"/>
                  </a:cubicBezTo>
                  <a:cubicBezTo>
                    <a:pt x="0" y="33"/>
                    <a:pt x="3" y="36"/>
                    <a:pt x="7" y="36"/>
                  </a:cubicBezTo>
                  <a:cubicBezTo>
                    <a:pt x="22" y="36"/>
                    <a:pt x="22" y="36"/>
                    <a:pt x="22" y="36"/>
                  </a:cubicBezTo>
                  <a:cubicBezTo>
                    <a:pt x="22" y="36"/>
                    <a:pt x="22" y="36"/>
                    <a:pt x="22" y="36"/>
                  </a:cubicBezTo>
                  <a:cubicBezTo>
                    <a:pt x="29" y="6"/>
                    <a:pt x="29" y="6"/>
                    <a:pt x="29" y="6"/>
                  </a:cubicBezTo>
                  <a:cubicBezTo>
                    <a:pt x="29" y="5"/>
                    <a:pt x="29" y="3"/>
                    <a:pt x="30" y="2"/>
                  </a:cubicBezTo>
                  <a:close/>
                </a:path>
              </a:pathLst>
            </a:custGeom>
            <a:solidFill>
              <a:srgbClr val="FDFDFD">
                <a:alpha val="100000"/>
              </a:srgbClr>
            </a:solidFill>
            <a:ln/>
          </p:spPr>
        </p:sp>
        <p:sp>
          <p:nvSpPr>
            <p:cNvPr id="22" name="Freeform 22"/>
            <p:cNvSpPr/>
            <p:nvPr/>
          </p:nvSpPr>
          <p:spPr>
            <a:xfrm>
              <a:off x="7228808" y="4706017"/>
              <a:ext cx="242697" cy="234601"/>
            </a:xfrm>
            <a:custGeom>
              <a:avLst/>
              <a:gdLst/>
              <a:ahLst/>
              <a:cxnLst/>
              <a:rect l="l" t="t" r="r" b="b"/>
              <a:pathLst>
                <a:path w="51" h="49">
                  <a:moveTo>
                    <a:pt x="44" y="10"/>
                  </a:moveTo>
                  <a:cubicBezTo>
                    <a:pt x="44" y="5"/>
                    <a:pt x="40" y="0"/>
                    <a:pt x="34" y="0"/>
                  </a:cubicBezTo>
                  <a:cubicBezTo>
                    <a:pt x="34" y="0"/>
                    <a:pt x="34" y="0"/>
                    <a:pt x="34" y="0"/>
                  </a:cubicBezTo>
                  <a:cubicBezTo>
                    <a:pt x="31" y="2"/>
                    <a:pt x="28" y="4"/>
                    <a:pt x="25" y="4"/>
                  </a:cubicBezTo>
                  <a:cubicBezTo>
                    <a:pt x="22" y="4"/>
                    <a:pt x="19" y="2"/>
                    <a:pt x="17" y="0"/>
                  </a:cubicBezTo>
                  <a:cubicBezTo>
                    <a:pt x="16" y="0"/>
                    <a:pt x="16" y="0"/>
                    <a:pt x="16" y="0"/>
                  </a:cubicBezTo>
                  <a:cubicBezTo>
                    <a:pt x="11" y="0"/>
                    <a:pt x="6" y="5"/>
                    <a:pt x="6" y="10"/>
                  </a:cubicBezTo>
                  <a:cubicBezTo>
                    <a:pt x="0" y="40"/>
                    <a:pt x="0" y="40"/>
                    <a:pt x="0" y="40"/>
                  </a:cubicBezTo>
                  <a:cubicBezTo>
                    <a:pt x="0" y="45"/>
                    <a:pt x="4" y="49"/>
                    <a:pt x="9" y="49"/>
                  </a:cubicBezTo>
                  <a:cubicBezTo>
                    <a:pt x="41" y="49"/>
                    <a:pt x="41" y="49"/>
                    <a:pt x="41" y="49"/>
                  </a:cubicBezTo>
                  <a:cubicBezTo>
                    <a:pt x="46" y="49"/>
                    <a:pt x="51" y="45"/>
                    <a:pt x="51" y="40"/>
                  </a:cubicBezTo>
                  <a:lnTo>
                    <a:pt x="44" y="10"/>
                  </a:lnTo>
                  <a:close/>
                </a:path>
              </a:pathLst>
            </a:custGeom>
            <a:solidFill>
              <a:srgbClr val="FDFDFD">
                <a:alpha val="100000"/>
              </a:srgbClr>
            </a:solidFill>
            <a:ln/>
          </p:spPr>
        </p:sp>
        <p:sp>
          <p:nvSpPr>
            <p:cNvPr id="23" name="AutoShape 23"/>
            <p:cNvSpPr/>
            <p:nvPr/>
          </p:nvSpPr>
          <p:spPr>
            <a:xfrm>
              <a:off x="7295483" y="4610957"/>
              <a:ext cx="105156" cy="99060"/>
            </a:xfrm>
            <a:prstGeom prst="ellipse">
              <a:avLst/>
            </a:prstGeom>
            <a:solidFill>
              <a:srgbClr val="FDFDFD">
                <a:alpha val="100000"/>
              </a:srgbClr>
            </a:solidFill>
            <a:ln/>
          </p:spPr>
        </p:sp>
      </p:grpSp>
      <p:grpSp>
        <p:nvGrpSpPr>
          <p:cNvPr id="24" name="Group 24"/>
          <p:cNvGrpSpPr/>
          <p:nvPr/>
        </p:nvGrpSpPr>
        <p:grpSpPr>
          <a:xfrm>
            <a:off x="1822418" y="4184237"/>
            <a:ext cx="1355122" cy="1357122"/>
            <a:chOff x="1822418" y="4184237"/>
            <a:chExt cx="1355122" cy="1357122"/>
          </a:xfrm>
        </p:grpSpPr>
        <p:sp>
          <p:nvSpPr>
            <p:cNvPr id="25" name="AutoShape 25"/>
            <p:cNvSpPr/>
            <p:nvPr/>
          </p:nvSpPr>
          <p:spPr>
            <a:xfrm>
              <a:off x="1822418" y="4184237"/>
              <a:ext cx="1355122" cy="1357122"/>
            </a:xfrm>
            <a:prstGeom prst="ellipse">
              <a:avLst/>
            </a:prstGeom>
            <a:solidFill>
              <a:srgbClr val="EBB690">
                <a:alpha val="100000"/>
              </a:srgbClr>
            </a:solidFill>
            <a:ln/>
          </p:spPr>
        </p:sp>
        <p:sp>
          <p:nvSpPr>
            <p:cNvPr id="26" name="Freeform 26"/>
            <p:cNvSpPr/>
            <p:nvPr/>
          </p:nvSpPr>
          <p:spPr>
            <a:xfrm>
              <a:off x="2095500" y="4404646"/>
              <a:ext cx="809054" cy="560260"/>
            </a:xfrm>
            <a:custGeom>
              <a:avLst/>
              <a:gdLst/>
              <a:ahLst/>
              <a:cxnLst/>
              <a:rect l="l" t="t" r="r" b="b"/>
              <a:pathLst>
                <a:path w="169" h="117">
                  <a:moveTo>
                    <a:pt x="169" y="117"/>
                  </a:moveTo>
                  <a:cubicBezTo>
                    <a:pt x="169" y="115"/>
                    <a:pt x="169" y="113"/>
                    <a:pt x="169" y="112"/>
                  </a:cubicBezTo>
                  <a:cubicBezTo>
                    <a:pt x="169" y="74"/>
                    <a:pt x="135" y="42"/>
                    <a:pt x="92" y="39"/>
                  </a:cubicBezTo>
                  <a:cubicBezTo>
                    <a:pt x="92" y="30"/>
                    <a:pt x="92" y="30"/>
                    <a:pt x="92" y="30"/>
                  </a:cubicBezTo>
                  <a:cubicBezTo>
                    <a:pt x="97" y="27"/>
                    <a:pt x="100" y="22"/>
                    <a:pt x="100" y="16"/>
                  </a:cubicBezTo>
                  <a:cubicBezTo>
                    <a:pt x="100" y="7"/>
                    <a:pt x="93" y="0"/>
                    <a:pt x="84" y="0"/>
                  </a:cubicBezTo>
                  <a:cubicBezTo>
                    <a:pt x="76" y="0"/>
                    <a:pt x="69" y="7"/>
                    <a:pt x="69" y="16"/>
                  </a:cubicBezTo>
                  <a:cubicBezTo>
                    <a:pt x="69" y="22"/>
                    <a:pt x="72" y="27"/>
                    <a:pt x="77" y="30"/>
                  </a:cubicBezTo>
                  <a:cubicBezTo>
                    <a:pt x="77" y="39"/>
                    <a:pt x="77" y="39"/>
                    <a:pt x="77" y="39"/>
                  </a:cubicBezTo>
                  <a:cubicBezTo>
                    <a:pt x="34" y="42"/>
                    <a:pt x="0" y="74"/>
                    <a:pt x="0" y="112"/>
                  </a:cubicBezTo>
                  <a:cubicBezTo>
                    <a:pt x="0" y="113"/>
                    <a:pt x="0" y="115"/>
                    <a:pt x="0" y="117"/>
                  </a:cubicBezTo>
                  <a:lnTo>
                    <a:pt x="169" y="117"/>
                  </a:lnTo>
                  <a:close/>
                </a:path>
              </a:pathLst>
            </a:custGeom>
            <a:solidFill>
              <a:srgbClr val="FDFDFD">
                <a:alpha val="100000"/>
              </a:srgbClr>
            </a:solidFill>
            <a:ln/>
          </p:spPr>
        </p:sp>
        <p:sp>
          <p:nvSpPr>
            <p:cNvPr id="27" name="Freeform 27"/>
            <p:cNvSpPr/>
            <p:nvPr/>
          </p:nvSpPr>
          <p:spPr>
            <a:xfrm>
              <a:off x="2028730" y="5007388"/>
              <a:ext cx="942499" cy="121348"/>
            </a:xfrm>
            <a:custGeom>
              <a:avLst/>
              <a:gdLst/>
              <a:ahLst/>
              <a:cxnLst/>
              <a:rect l="l" t="t" r="r" b="b"/>
              <a:pathLst>
                <a:path w="466" h="60">
                  <a:moveTo>
                    <a:pt x="433" y="29"/>
                  </a:moveTo>
                  <a:lnTo>
                    <a:pt x="433" y="0"/>
                  </a:lnTo>
                  <a:lnTo>
                    <a:pt x="33" y="0"/>
                  </a:lnTo>
                  <a:lnTo>
                    <a:pt x="33" y="29"/>
                  </a:lnTo>
                  <a:lnTo>
                    <a:pt x="0" y="29"/>
                  </a:lnTo>
                  <a:lnTo>
                    <a:pt x="0" y="60"/>
                  </a:lnTo>
                  <a:lnTo>
                    <a:pt x="466" y="60"/>
                  </a:lnTo>
                  <a:lnTo>
                    <a:pt x="466" y="29"/>
                  </a:lnTo>
                  <a:lnTo>
                    <a:pt x="433" y="29"/>
                  </a:lnTo>
                  <a:close/>
                </a:path>
              </a:pathLst>
            </a:custGeom>
            <a:solidFill>
              <a:srgbClr val="FDFDFD">
                <a:alpha val="100000"/>
              </a:srgbClr>
            </a:solidFill>
            <a:ln/>
          </p:spPr>
        </p:sp>
      </p:grpSp>
      <p:sp>
        <p:nvSpPr>
          <p:cNvPr id="44" name="文本框 43">
            <a:extLst>
              <a:ext uri="{FF2B5EF4-FFF2-40B4-BE49-F238E27FC236}">
                <a16:creationId xmlns:a16="http://schemas.microsoft.com/office/drawing/2014/main" id="{1DDC1B66-839D-9505-221B-EBBA3743FD4D}"/>
              </a:ext>
            </a:extLst>
          </p:cNvPr>
          <p:cNvSpPr txBox="1"/>
          <p:nvPr/>
        </p:nvSpPr>
        <p:spPr>
          <a:xfrm>
            <a:off x="3330411" y="1626927"/>
            <a:ext cx="2603087" cy="1754326"/>
          </a:xfrm>
          <a:prstGeom prst="rect">
            <a:avLst/>
          </a:prstGeom>
          <a:noFill/>
        </p:spPr>
        <p:txBody>
          <a:bodyPr wrap="square" rtlCol="0">
            <a:spAutoFit/>
          </a:bodyPr>
          <a:lstStyle/>
          <a:p>
            <a:br>
              <a:rPr lang="zh-CN" altLang="en-US" dirty="0">
                <a:latin typeface="微软雅黑 Light" panose="020B0502040204020203" pitchFamily="34" charset="-122"/>
                <a:ea typeface="微软雅黑 Light" panose="020B0502040204020203" pitchFamily="34" charset="-122"/>
              </a:rPr>
            </a:br>
            <a:r>
              <a:rPr lang="zh-CN" altLang="en-US" b="1" u="sng" dirty="0">
                <a:latin typeface="微软雅黑 Light" panose="020B0502040204020203" pitchFamily="34" charset="-122"/>
                <a:ea typeface="微软雅黑 Light" panose="020B0502040204020203" pitchFamily="34" charset="-122"/>
              </a:rPr>
              <a:t>业务人员专业素质不足</a:t>
            </a:r>
            <a:br>
              <a:rPr lang="zh-CN" altLang="en-US" dirty="0">
                <a:latin typeface="微软雅黑 Light" panose="020B0502040204020203" pitchFamily="34" charset="-122"/>
                <a:ea typeface="微软雅黑 Light" panose="020B0502040204020203" pitchFamily="34" charset="-122"/>
              </a:rPr>
            </a:b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公司进行人才筛选，对于系统的了解不足，不利于系统的推广。</a:t>
            </a:r>
          </a:p>
        </p:txBody>
      </p:sp>
      <p:sp>
        <p:nvSpPr>
          <p:cNvPr id="45" name="文本框 44">
            <a:extLst>
              <a:ext uri="{FF2B5EF4-FFF2-40B4-BE49-F238E27FC236}">
                <a16:creationId xmlns:a16="http://schemas.microsoft.com/office/drawing/2014/main" id="{1A0250D8-E9C0-50D7-C3B2-43F89B83D614}"/>
              </a:ext>
            </a:extLst>
          </p:cNvPr>
          <p:cNvSpPr txBox="1"/>
          <p:nvPr/>
        </p:nvSpPr>
        <p:spPr>
          <a:xfrm>
            <a:off x="8394668" y="1853642"/>
            <a:ext cx="2743200" cy="1477328"/>
          </a:xfrm>
          <a:prstGeom prst="rect">
            <a:avLst/>
          </a:prstGeom>
          <a:noFill/>
        </p:spPr>
        <p:txBody>
          <a:bodyPr wrap="square" rtlCol="0">
            <a:spAutoFit/>
          </a:bodyPr>
          <a:lstStyle/>
          <a:p>
            <a:r>
              <a:rPr lang="zh-CN" altLang="en-US" b="1" u="sng" dirty="0">
                <a:latin typeface="微软雅黑 Light" panose="020B0502040204020203" pitchFamily="34" charset="-122"/>
                <a:ea typeface="微软雅黑 Light" panose="020B0502040204020203" pitchFamily="34" charset="-122"/>
              </a:rPr>
              <a:t>公司进行人才筛选</a:t>
            </a:r>
            <a:endParaRPr lang="en-US" altLang="zh-CN" b="1" u="sng"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聘请专业人士对于新加员工进行培训，提高他们的专业素质能力。</a:t>
            </a:r>
          </a:p>
        </p:txBody>
      </p:sp>
      <p:sp>
        <p:nvSpPr>
          <p:cNvPr id="46" name="文本框 45">
            <a:extLst>
              <a:ext uri="{FF2B5EF4-FFF2-40B4-BE49-F238E27FC236}">
                <a16:creationId xmlns:a16="http://schemas.microsoft.com/office/drawing/2014/main" id="{36030BB8-BC1D-B2B8-E623-2A4ED06E923B}"/>
              </a:ext>
            </a:extLst>
          </p:cNvPr>
          <p:cNvSpPr txBox="1"/>
          <p:nvPr/>
        </p:nvSpPr>
        <p:spPr>
          <a:xfrm>
            <a:off x="3359562" y="4064031"/>
            <a:ext cx="2830455" cy="1477328"/>
          </a:xfrm>
          <a:prstGeom prst="rect">
            <a:avLst/>
          </a:prstGeom>
          <a:noFill/>
        </p:spPr>
        <p:txBody>
          <a:bodyPr wrap="square" rtlCol="0">
            <a:spAutoFit/>
          </a:bodyPr>
          <a:lstStyle/>
          <a:p>
            <a:r>
              <a:rPr lang="zh-CN" altLang="en-US" b="1" u="sng" dirty="0">
                <a:latin typeface="微软雅黑 Light" panose="020B0502040204020203" pitchFamily="34" charset="-122"/>
                <a:ea typeface="微软雅黑 Light" panose="020B0502040204020203" pitchFamily="34" charset="-122"/>
              </a:rPr>
              <a:t>公司营销策略方向错误</a:t>
            </a:r>
            <a:endParaRPr lang="en-US" altLang="zh-CN" b="1" u="sng"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引发用户不满导致系统的评分降低，不利于系统的推广。</a:t>
            </a:r>
          </a:p>
        </p:txBody>
      </p:sp>
      <p:sp>
        <p:nvSpPr>
          <p:cNvPr id="47" name="文本框 46">
            <a:extLst>
              <a:ext uri="{FF2B5EF4-FFF2-40B4-BE49-F238E27FC236}">
                <a16:creationId xmlns:a16="http://schemas.microsoft.com/office/drawing/2014/main" id="{8B02FBFD-4FE7-06DC-DA3B-4B26F95F4CD7}"/>
              </a:ext>
            </a:extLst>
          </p:cNvPr>
          <p:cNvSpPr txBox="1"/>
          <p:nvPr/>
        </p:nvSpPr>
        <p:spPr>
          <a:xfrm>
            <a:off x="8506201" y="4126045"/>
            <a:ext cx="2971800" cy="1200329"/>
          </a:xfrm>
          <a:prstGeom prst="rect">
            <a:avLst/>
          </a:prstGeom>
          <a:noFill/>
        </p:spPr>
        <p:txBody>
          <a:bodyPr wrap="square" rtlCol="0">
            <a:spAutoFit/>
          </a:bodyPr>
          <a:lstStyle/>
          <a:p>
            <a:r>
              <a:rPr lang="zh-CN" altLang="en-US" b="1" u="sng" dirty="0">
                <a:latin typeface="微软雅黑 Light" panose="020B0502040204020203" pitchFamily="34" charset="-122"/>
                <a:ea typeface="微软雅黑 Light" panose="020B0502040204020203" pitchFamily="34" charset="-122"/>
              </a:rPr>
              <a:t>加强公司制度建设</a:t>
            </a:r>
            <a:endParaRPr lang="en-US" altLang="zh-CN" b="1" u="sng"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建立完善的审批制度，将制作的营销方案进行严格审核</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grpSp>
        <p:nvGrpSpPr>
          <p:cNvPr id="4" name="Group 4"/>
          <p:cNvGrpSpPr/>
          <p:nvPr/>
        </p:nvGrpSpPr>
        <p:grpSpPr>
          <a:xfrm>
            <a:off x="4211574" y="4310920"/>
            <a:ext cx="774383" cy="2547080"/>
            <a:chOff x="4211574" y="4310920"/>
            <a:chExt cx="774383" cy="2547080"/>
          </a:xfrm>
        </p:grpSpPr>
        <p:sp>
          <p:nvSpPr>
            <p:cNvPr id="5" name="Freeform 5"/>
            <p:cNvSpPr/>
            <p:nvPr/>
          </p:nvSpPr>
          <p:spPr>
            <a:xfrm>
              <a:off x="4211574" y="4310920"/>
              <a:ext cx="774383" cy="2547080"/>
            </a:xfrm>
            <a:custGeom>
              <a:avLst/>
              <a:gdLst/>
              <a:ahLst/>
              <a:cxnLst/>
              <a:rect l="l" t="t" r="r" b="b"/>
              <a:pathLst>
                <a:path w="325" h="1069">
                  <a:moveTo>
                    <a:pt x="325" y="1069"/>
                  </a:moveTo>
                  <a:lnTo>
                    <a:pt x="0" y="1069"/>
                  </a:lnTo>
                  <a:lnTo>
                    <a:pt x="163" y="0"/>
                  </a:lnTo>
                  <a:lnTo>
                    <a:pt x="325" y="1069"/>
                  </a:lnTo>
                  <a:close/>
                </a:path>
              </a:pathLst>
            </a:custGeom>
            <a:solidFill>
              <a:srgbClr val="BFBFBF">
                <a:alpha val="100000"/>
              </a:srgbClr>
            </a:solidFill>
            <a:ln/>
          </p:spPr>
        </p:sp>
        <p:sp>
          <p:nvSpPr>
            <p:cNvPr id="6" name="TextBox 6"/>
            <p:cNvSpPr txBox="1"/>
            <p:nvPr/>
          </p:nvSpPr>
          <p:spPr>
            <a:xfrm>
              <a:off x="4279963"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7" name="Group 7"/>
          <p:cNvGrpSpPr/>
          <p:nvPr/>
        </p:nvGrpSpPr>
        <p:grpSpPr>
          <a:xfrm>
            <a:off x="4984718" y="1985963"/>
            <a:ext cx="769620" cy="4872038"/>
            <a:chOff x="4984718" y="1985963"/>
            <a:chExt cx="769620" cy="4872038"/>
          </a:xfrm>
        </p:grpSpPr>
        <p:sp>
          <p:nvSpPr>
            <p:cNvPr id="8" name="Freeform 8"/>
            <p:cNvSpPr/>
            <p:nvPr/>
          </p:nvSpPr>
          <p:spPr>
            <a:xfrm>
              <a:off x="4984718" y="1985963"/>
              <a:ext cx="769620" cy="4872038"/>
            </a:xfrm>
            <a:custGeom>
              <a:avLst/>
              <a:gdLst/>
              <a:ahLst/>
              <a:cxnLst/>
              <a:rect l="l" t="t" r="r" b="b"/>
              <a:pathLst>
                <a:path w="323" h="1386">
                  <a:moveTo>
                    <a:pt x="323" y="1386"/>
                  </a:moveTo>
                  <a:lnTo>
                    <a:pt x="0" y="1386"/>
                  </a:lnTo>
                  <a:lnTo>
                    <a:pt x="162" y="0"/>
                  </a:lnTo>
                  <a:lnTo>
                    <a:pt x="323" y="1386"/>
                  </a:lnTo>
                  <a:close/>
                </a:path>
              </a:pathLst>
            </a:custGeom>
            <a:solidFill>
              <a:srgbClr val="ADB5BF">
                <a:alpha val="100000"/>
              </a:srgbClr>
            </a:solidFill>
            <a:ln/>
          </p:spPr>
        </p:sp>
        <p:sp>
          <p:nvSpPr>
            <p:cNvPr id="9" name="TextBox 9"/>
            <p:cNvSpPr txBox="1"/>
            <p:nvPr/>
          </p:nvSpPr>
          <p:spPr>
            <a:xfrm>
              <a:off x="5030438"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10" name="Group 10"/>
          <p:cNvGrpSpPr/>
          <p:nvPr/>
        </p:nvGrpSpPr>
        <p:grpSpPr>
          <a:xfrm>
            <a:off x="5738908" y="2662619"/>
            <a:ext cx="769620" cy="4195381"/>
            <a:chOff x="5738908" y="2662619"/>
            <a:chExt cx="769620" cy="4195381"/>
          </a:xfrm>
        </p:grpSpPr>
        <p:sp>
          <p:nvSpPr>
            <p:cNvPr id="11" name="Freeform 11"/>
            <p:cNvSpPr/>
            <p:nvPr/>
          </p:nvSpPr>
          <p:spPr>
            <a:xfrm>
              <a:off x="5738908" y="2662619"/>
              <a:ext cx="769620" cy="4195381"/>
            </a:xfrm>
            <a:custGeom>
              <a:avLst/>
              <a:gdLst/>
              <a:ahLst/>
              <a:cxnLst/>
              <a:rect l="l" t="t" r="r" b="b"/>
              <a:pathLst>
                <a:path w="323" h="1705">
                  <a:moveTo>
                    <a:pt x="323" y="1705"/>
                  </a:moveTo>
                  <a:lnTo>
                    <a:pt x="0" y="1705"/>
                  </a:lnTo>
                  <a:lnTo>
                    <a:pt x="160" y="0"/>
                  </a:lnTo>
                  <a:lnTo>
                    <a:pt x="323" y="1705"/>
                  </a:lnTo>
                  <a:close/>
                </a:path>
              </a:pathLst>
            </a:custGeom>
            <a:solidFill>
              <a:srgbClr val="EBB690">
                <a:alpha val="100000"/>
              </a:srgbClr>
            </a:solidFill>
            <a:ln/>
          </p:spPr>
        </p:sp>
        <p:sp>
          <p:nvSpPr>
            <p:cNvPr id="12" name="TextBox 12"/>
            <p:cNvSpPr txBox="1"/>
            <p:nvPr/>
          </p:nvSpPr>
          <p:spPr>
            <a:xfrm>
              <a:off x="5805583"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13" name="Group 13"/>
          <p:cNvGrpSpPr/>
          <p:nvPr/>
        </p:nvGrpSpPr>
        <p:grpSpPr>
          <a:xfrm>
            <a:off x="6442520" y="3228594"/>
            <a:ext cx="769620" cy="3629406"/>
            <a:chOff x="6442520" y="3228594"/>
            <a:chExt cx="769620" cy="3629406"/>
          </a:xfrm>
        </p:grpSpPr>
        <p:sp>
          <p:nvSpPr>
            <p:cNvPr id="14" name="Freeform 14"/>
            <p:cNvSpPr/>
            <p:nvPr/>
          </p:nvSpPr>
          <p:spPr>
            <a:xfrm>
              <a:off x="6442520" y="3228594"/>
              <a:ext cx="769620" cy="3629406"/>
            </a:xfrm>
            <a:custGeom>
              <a:avLst/>
              <a:gdLst/>
              <a:ahLst/>
              <a:cxnLst/>
              <a:rect l="l" t="t" r="r" b="b"/>
              <a:pathLst>
                <a:path w="323" h="2137">
                  <a:moveTo>
                    <a:pt x="323" y="2137"/>
                  </a:moveTo>
                  <a:lnTo>
                    <a:pt x="0" y="2137"/>
                  </a:lnTo>
                  <a:lnTo>
                    <a:pt x="163" y="0"/>
                  </a:lnTo>
                  <a:lnTo>
                    <a:pt x="323" y="2137"/>
                  </a:lnTo>
                  <a:close/>
                </a:path>
              </a:pathLst>
            </a:custGeom>
            <a:solidFill>
              <a:srgbClr val="7F7F7F">
                <a:alpha val="100000"/>
              </a:srgbClr>
            </a:solidFill>
            <a:ln/>
          </p:spPr>
        </p:sp>
        <p:sp>
          <p:nvSpPr>
            <p:cNvPr id="15" name="TextBox 15"/>
            <p:cNvSpPr txBox="1"/>
            <p:nvPr/>
          </p:nvSpPr>
          <p:spPr>
            <a:xfrm>
              <a:off x="6506813"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grpSp>
        <p:nvGrpSpPr>
          <p:cNvPr id="16" name="Group 16"/>
          <p:cNvGrpSpPr/>
          <p:nvPr/>
        </p:nvGrpSpPr>
        <p:grpSpPr>
          <a:xfrm>
            <a:off x="7158514" y="4825651"/>
            <a:ext cx="769620" cy="2032349"/>
            <a:chOff x="7158514" y="4825651"/>
            <a:chExt cx="769620" cy="2032349"/>
          </a:xfrm>
        </p:grpSpPr>
        <p:sp>
          <p:nvSpPr>
            <p:cNvPr id="17" name="Freeform 17"/>
            <p:cNvSpPr/>
            <p:nvPr/>
          </p:nvSpPr>
          <p:spPr>
            <a:xfrm>
              <a:off x="7158514" y="4825651"/>
              <a:ext cx="769620" cy="2032349"/>
            </a:xfrm>
            <a:custGeom>
              <a:avLst/>
              <a:gdLst/>
              <a:ahLst/>
              <a:cxnLst/>
              <a:rect l="l" t="t" r="r" b="b"/>
              <a:pathLst>
                <a:path w="323" h="853">
                  <a:moveTo>
                    <a:pt x="323" y="853"/>
                  </a:moveTo>
                  <a:lnTo>
                    <a:pt x="0" y="853"/>
                  </a:lnTo>
                  <a:lnTo>
                    <a:pt x="163" y="0"/>
                  </a:lnTo>
                  <a:lnTo>
                    <a:pt x="323" y="853"/>
                  </a:lnTo>
                  <a:close/>
                </a:path>
              </a:pathLst>
            </a:custGeom>
            <a:solidFill>
              <a:srgbClr val="AAC2AC">
                <a:alpha val="100000"/>
              </a:srgbClr>
            </a:solidFill>
            <a:ln/>
          </p:spPr>
        </p:sp>
        <p:sp>
          <p:nvSpPr>
            <p:cNvPr id="18" name="TextBox 18"/>
            <p:cNvSpPr txBox="1"/>
            <p:nvPr/>
          </p:nvSpPr>
          <p:spPr>
            <a:xfrm>
              <a:off x="7245001" y="6178868"/>
              <a:ext cx="561403" cy="369379"/>
            </a:xfrm>
            <a:prstGeom prst="rect">
              <a:avLst/>
            </a:prstGeom>
            <a:noFill/>
            <a:ln/>
          </p:spPr>
          <p:txBody>
            <a:bodyPr vert="horz" wrap="none" lIns="91440" tIns="45720" rIns="91440" bIns="45720" rtlCol="0" anchor="t" anchorCtr="0">
              <a:spAutoFit/>
            </a:bodyPr>
            <a:lstStyle/>
            <a:p>
              <a:pPr algn="l">
                <a:defRPr/>
              </a:pPr>
              <a:endParaRPr lang="en-US" sz="1100"/>
            </a:p>
          </p:txBody>
        </p:sp>
      </p:grpSp>
      <p:sp>
        <p:nvSpPr>
          <p:cNvPr id="19" name="Freeform 19"/>
          <p:cNvSpPr/>
          <p:nvPr/>
        </p:nvSpPr>
        <p:spPr>
          <a:xfrm>
            <a:off x="7561026" y="4508101"/>
            <a:ext cx="996553" cy="971947"/>
          </a:xfrm>
          <a:custGeom>
            <a:avLst/>
            <a:gdLst/>
            <a:ahLst/>
            <a:cxnLst/>
            <a:rect l="l" t="t" r="r" b="b"/>
            <a:pathLst>
              <a:path w="952500" h="742950">
                <a:moveTo>
                  <a:pt x="0" y="742950"/>
                </a:moveTo>
                <a:lnTo>
                  <a:pt x="952500" y="0"/>
                </a:lnTo>
              </a:path>
            </a:pathLst>
          </a:custGeom>
          <a:noFill/>
          <a:ln w="6350">
            <a:solidFill>
              <a:schemeClr val="dk1">
                <a:alpha val="100000"/>
              </a:schemeClr>
            </a:solidFill>
            <a:prstDash val="solid"/>
            <a:tailEnd type="oval"/>
          </a:ln>
        </p:spPr>
      </p:sp>
      <p:sp>
        <p:nvSpPr>
          <p:cNvPr id="20" name="Freeform 20"/>
          <p:cNvSpPr/>
          <p:nvPr/>
        </p:nvSpPr>
        <p:spPr>
          <a:xfrm>
            <a:off x="6810536" y="2601117"/>
            <a:ext cx="1783953" cy="1550193"/>
          </a:xfrm>
          <a:custGeom>
            <a:avLst/>
            <a:gdLst/>
            <a:ahLst/>
            <a:cxnLst/>
            <a:rect l="l" t="t" r="r" b="b"/>
            <a:pathLst>
              <a:path w="1495425" h="962025">
                <a:moveTo>
                  <a:pt x="0" y="962025"/>
                </a:moveTo>
                <a:lnTo>
                  <a:pt x="1495425" y="0"/>
                </a:lnTo>
              </a:path>
            </a:pathLst>
          </a:custGeom>
          <a:noFill/>
          <a:ln w="6350">
            <a:solidFill>
              <a:schemeClr val="dk1">
                <a:alpha val="100000"/>
              </a:schemeClr>
            </a:solidFill>
            <a:prstDash val="solid"/>
            <a:tailEnd type="oval"/>
          </a:ln>
        </p:spPr>
      </p:sp>
      <p:sp>
        <p:nvSpPr>
          <p:cNvPr id="21" name="Freeform 21"/>
          <p:cNvSpPr/>
          <p:nvPr/>
        </p:nvSpPr>
        <p:spPr>
          <a:xfrm>
            <a:off x="4485246" y="2404267"/>
            <a:ext cx="1587103" cy="1304131"/>
          </a:xfrm>
          <a:custGeom>
            <a:avLst/>
            <a:gdLst/>
            <a:ahLst/>
            <a:cxnLst/>
            <a:rect l="l" t="t" r="r" b="b"/>
            <a:pathLst>
              <a:path w="1228725" h="1009650">
                <a:moveTo>
                  <a:pt x="1228725" y="1009650"/>
                </a:moveTo>
                <a:lnTo>
                  <a:pt x="0" y="0"/>
                </a:lnTo>
              </a:path>
            </a:pathLst>
          </a:custGeom>
          <a:noFill/>
          <a:ln w="6350">
            <a:solidFill>
              <a:schemeClr val="dk1">
                <a:alpha val="100000"/>
              </a:schemeClr>
            </a:solidFill>
            <a:prstDash val="solid"/>
            <a:tailEnd type="oval"/>
          </a:ln>
        </p:spPr>
      </p:sp>
      <p:sp>
        <p:nvSpPr>
          <p:cNvPr id="22" name="Freeform 22"/>
          <p:cNvSpPr/>
          <p:nvPr/>
        </p:nvSpPr>
        <p:spPr>
          <a:xfrm>
            <a:off x="4226880" y="3819126"/>
            <a:ext cx="1131887" cy="959644"/>
          </a:xfrm>
          <a:custGeom>
            <a:avLst/>
            <a:gdLst/>
            <a:ahLst/>
            <a:cxnLst/>
            <a:rect l="l" t="t" r="r" b="b"/>
            <a:pathLst>
              <a:path w="876300" h="742950">
                <a:moveTo>
                  <a:pt x="876300" y="742950"/>
                </a:moveTo>
                <a:lnTo>
                  <a:pt x="876300" y="742950"/>
                </a:lnTo>
                <a:lnTo>
                  <a:pt x="0" y="0"/>
                </a:lnTo>
              </a:path>
            </a:pathLst>
          </a:custGeom>
          <a:noFill/>
          <a:ln w="6350">
            <a:solidFill>
              <a:schemeClr val="dk1">
                <a:alpha val="100000"/>
              </a:schemeClr>
            </a:solidFill>
            <a:prstDash val="solid"/>
            <a:tailEnd type="oval"/>
          </a:ln>
        </p:spPr>
      </p:sp>
      <p:sp>
        <p:nvSpPr>
          <p:cNvPr id="23" name="Freeform 23"/>
          <p:cNvSpPr/>
          <p:nvPr/>
        </p:nvSpPr>
        <p:spPr>
          <a:xfrm>
            <a:off x="3943908" y="5049438"/>
            <a:ext cx="615156" cy="553641"/>
          </a:xfrm>
          <a:custGeom>
            <a:avLst/>
            <a:gdLst/>
            <a:ahLst/>
            <a:cxnLst/>
            <a:rect l="l" t="t" r="r" b="b"/>
            <a:pathLst>
              <a:path w="476250" h="428625">
                <a:moveTo>
                  <a:pt x="476250" y="428625"/>
                </a:moveTo>
                <a:lnTo>
                  <a:pt x="0" y="0"/>
                </a:lnTo>
              </a:path>
            </a:pathLst>
          </a:custGeom>
          <a:noFill/>
          <a:ln w="6350">
            <a:solidFill>
              <a:schemeClr val="dk1">
                <a:alpha val="100000"/>
              </a:schemeClr>
            </a:solidFill>
            <a:prstDash val="solid"/>
            <a:tailEnd type="oval"/>
          </a:ln>
        </p:spPr>
      </p:sp>
      <p:sp>
        <p:nvSpPr>
          <p:cNvPr id="39" name="AutoShape 39"/>
          <p:cNvSpPr/>
          <p:nvPr/>
        </p:nvSpPr>
        <p:spPr>
          <a:xfrm>
            <a:off x="763865" y="166034"/>
            <a:ext cx="3057247" cy="523220"/>
          </a:xfrm>
          <a:prstGeom prst="rect">
            <a:avLst/>
          </a:prstGeom>
          <a:noFill/>
          <a:ln/>
        </p:spPr>
        <p:txBody>
          <a:bodyPr vert="horz" wrap="square" lIns="91440" tIns="45720" rIns="91440" bIns="45720" rtlCol="0" anchor="t" anchorCtr="0">
            <a:normAutofit fontScale="85000" lnSpcReduction="10000"/>
          </a:bodyPr>
          <a:lstStyle/>
          <a:p>
            <a:pPr algn="l">
              <a:defRPr/>
            </a:pPr>
            <a:r>
              <a:rPr lang="en-US" sz="2799">
                <a:solidFill>
                  <a:srgbClr val="787878">
                    <a:alpha val="100000"/>
                  </a:srgbClr>
                </a:solidFill>
                <a:latin typeface="微软雅黑 Light"/>
                <a:ea typeface="微软雅黑 Light"/>
                <a:cs typeface="微软雅黑 Light"/>
              </a:rPr>
              <a:t>市场风险分析与对策</a:t>
            </a:r>
            <a:endParaRPr lang="en-US" sz="1100"/>
          </a:p>
        </p:txBody>
      </p:sp>
      <p:sp>
        <p:nvSpPr>
          <p:cNvPr id="40" name="文本框 39">
            <a:extLst>
              <a:ext uri="{FF2B5EF4-FFF2-40B4-BE49-F238E27FC236}">
                <a16:creationId xmlns:a16="http://schemas.microsoft.com/office/drawing/2014/main" id="{CED3A40D-45CF-B1C6-4D2D-C6C3A67907D1}"/>
              </a:ext>
            </a:extLst>
          </p:cNvPr>
          <p:cNvSpPr txBox="1"/>
          <p:nvPr/>
        </p:nvSpPr>
        <p:spPr>
          <a:xfrm>
            <a:off x="2619999" y="1733295"/>
            <a:ext cx="1896332" cy="1007968"/>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市场竞争激烈</a:t>
            </a:r>
            <a:endParaRPr lang="en-US" altLang="zh-CN" dirty="0">
              <a:latin typeface="微软雅黑 Light" panose="020B0502040204020203" pitchFamily="34" charset="-122"/>
              <a:ea typeface="微软雅黑 Light" panose="020B0502040204020203" pitchFamily="34" charset="-122"/>
            </a:endParaRPr>
          </a:p>
          <a:p>
            <a:br>
              <a:rPr lang="zh-CN" altLang="en-US" sz="1350" dirty="0">
                <a:latin typeface="微软雅黑 Light" panose="020B0502040204020203" pitchFamily="34" charset="-122"/>
                <a:ea typeface="微软雅黑 Light" panose="020B0502040204020203" pitchFamily="34" charset="-122"/>
              </a:rPr>
            </a:br>
            <a:r>
              <a:rPr lang="zh-CN" altLang="en-US" sz="1400" dirty="0">
                <a:latin typeface="微软雅黑 Light" panose="020B0502040204020203" pitchFamily="34" charset="-122"/>
                <a:ea typeface="微软雅黑 Light" panose="020B0502040204020203" pitchFamily="34" charset="-122"/>
              </a:rPr>
              <a:t>无法预测未来的市场走向</a:t>
            </a:r>
          </a:p>
        </p:txBody>
      </p:sp>
      <p:sp>
        <p:nvSpPr>
          <p:cNvPr id="41" name="文本框 40">
            <a:extLst>
              <a:ext uri="{FF2B5EF4-FFF2-40B4-BE49-F238E27FC236}">
                <a16:creationId xmlns:a16="http://schemas.microsoft.com/office/drawing/2014/main" id="{05F36961-0D2D-7D5F-AE64-B6D7CFF01289}"/>
              </a:ext>
            </a:extLst>
          </p:cNvPr>
          <p:cNvSpPr txBox="1"/>
          <p:nvPr/>
        </p:nvSpPr>
        <p:spPr>
          <a:xfrm>
            <a:off x="1910521" y="3206058"/>
            <a:ext cx="2882302" cy="1138773"/>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客户需求和喜好变化随着时代变化而改变</a:t>
            </a:r>
            <a:endParaRPr lang="en-US" altLang="zh-CN" dirty="0">
              <a:latin typeface="微软雅黑 Light" panose="020B0502040204020203" pitchFamily="34" charset="-122"/>
              <a:ea typeface="微软雅黑 Light" panose="020B0502040204020203" pitchFamily="34" charset="-122"/>
            </a:endParaRPr>
          </a:p>
          <a:p>
            <a:r>
              <a:rPr lang="en-US" altLang="zh-CN" dirty="0">
                <a:latin typeface="微软雅黑 Light" panose="020B0502040204020203" pitchFamily="34" charset="-122"/>
                <a:ea typeface="微软雅黑 Light" panose="020B0502040204020203" pitchFamily="34" charset="-122"/>
              </a:rPr>
              <a:t> </a:t>
            </a:r>
          </a:p>
          <a:p>
            <a:r>
              <a:rPr lang="zh-CN" altLang="en-US" sz="1400" dirty="0">
                <a:latin typeface="微软雅黑 Light" panose="020B0502040204020203" pitchFamily="34" charset="-122"/>
                <a:ea typeface="微软雅黑 Light" panose="020B0502040204020203" pitchFamily="34" charset="-122"/>
              </a:rPr>
              <a:t>公司需适应变化并调整相应策略。</a:t>
            </a:r>
          </a:p>
        </p:txBody>
      </p:sp>
      <p:sp>
        <p:nvSpPr>
          <p:cNvPr id="46" name="文本框 45">
            <a:extLst>
              <a:ext uri="{FF2B5EF4-FFF2-40B4-BE49-F238E27FC236}">
                <a16:creationId xmlns:a16="http://schemas.microsoft.com/office/drawing/2014/main" id="{C0FFA145-9166-91C9-3177-1DB791B0DE51}"/>
              </a:ext>
            </a:extLst>
          </p:cNvPr>
          <p:cNvSpPr txBox="1"/>
          <p:nvPr/>
        </p:nvSpPr>
        <p:spPr>
          <a:xfrm>
            <a:off x="1148856" y="4778770"/>
            <a:ext cx="2760013" cy="1538883"/>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增强故事内容新颖性研发系统新功能</a:t>
            </a:r>
            <a:endParaRPr lang="en-US" altLang="zh-CN"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r>
              <a:rPr lang="zh-CN" altLang="en-US" sz="1400" dirty="0">
                <a:latin typeface="微软雅黑 Light" panose="020B0502040204020203" pitchFamily="34" charset="-122"/>
                <a:ea typeface="微软雅黑 Light" panose="020B0502040204020203" pitchFamily="34" charset="-122"/>
              </a:rPr>
              <a:t>打造系统自身特色，增强市场竞争力。</a:t>
            </a:r>
            <a:br>
              <a:rPr lang="zh-CN" altLang="en-US" sz="1200" dirty="0">
                <a:latin typeface="微软雅黑 Light" panose="020B0502040204020203" pitchFamily="34" charset="-122"/>
                <a:ea typeface="微软雅黑 Light" panose="020B0502040204020203" pitchFamily="34" charset="-122"/>
              </a:rPr>
            </a:br>
            <a:endParaRPr lang="zh-CN" altLang="en-US" sz="1200" dirty="0">
              <a:latin typeface="微软雅黑 Light" panose="020B0502040204020203" pitchFamily="34" charset="-122"/>
              <a:ea typeface="微软雅黑 Light" panose="020B0502040204020203" pitchFamily="34" charset="-122"/>
            </a:endParaRPr>
          </a:p>
        </p:txBody>
      </p:sp>
      <p:sp>
        <p:nvSpPr>
          <p:cNvPr id="47" name="文本框 46">
            <a:extLst>
              <a:ext uri="{FF2B5EF4-FFF2-40B4-BE49-F238E27FC236}">
                <a16:creationId xmlns:a16="http://schemas.microsoft.com/office/drawing/2014/main" id="{44D6919A-1E16-331C-F17C-8EF55F199F72}"/>
              </a:ext>
            </a:extLst>
          </p:cNvPr>
          <p:cNvSpPr txBox="1"/>
          <p:nvPr/>
        </p:nvSpPr>
        <p:spPr>
          <a:xfrm>
            <a:off x="8759653" y="1811187"/>
            <a:ext cx="3294237" cy="1077218"/>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定期收集用户反馈</a:t>
            </a:r>
            <a:endParaRPr lang="en-US" altLang="zh-CN" dirty="0">
              <a:latin typeface="微软雅黑 Light" panose="020B0502040204020203" pitchFamily="34" charset="-122"/>
              <a:ea typeface="微软雅黑 Light" panose="020B0502040204020203" pitchFamily="34" charset="-122"/>
            </a:endParaRPr>
          </a:p>
          <a:p>
            <a:br>
              <a:rPr lang="zh-CN" altLang="en-US" dirty="0">
                <a:latin typeface="微软雅黑 Light" panose="020B0502040204020203" pitchFamily="34" charset="-122"/>
                <a:ea typeface="微软雅黑 Light" panose="020B0502040204020203" pitchFamily="34" charset="-122"/>
              </a:rPr>
            </a:br>
            <a:r>
              <a:rPr lang="zh-CN" altLang="en-US" sz="1400" dirty="0">
                <a:latin typeface="微软雅黑 Light" panose="020B0502040204020203" pitchFamily="34" charset="-122"/>
                <a:ea typeface="微软雅黑 Light" panose="020B0502040204020203" pitchFamily="34" charset="-122"/>
              </a:rPr>
              <a:t>通过发送调查表等方式收集用户反馈，及时调整策略。</a:t>
            </a:r>
          </a:p>
        </p:txBody>
      </p:sp>
      <p:sp>
        <p:nvSpPr>
          <p:cNvPr id="48" name="文本框 47">
            <a:extLst>
              <a:ext uri="{FF2B5EF4-FFF2-40B4-BE49-F238E27FC236}">
                <a16:creationId xmlns:a16="http://schemas.microsoft.com/office/drawing/2014/main" id="{4D1473C9-2A59-A746-FA1E-7C5EBFA1A903}"/>
              </a:ext>
            </a:extLst>
          </p:cNvPr>
          <p:cNvSpPr txBox="1"/>
          <p:nvPr/>
        </p:nvSpPr>
        <p:spPr>
          <a:xfrm>
            <a:off x="8735010" y="4031150"/>
            <a:ext cx="3057874" cy="1077218"/>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提高思想高度</a:t>
            </a:r>
            <a:endParaRPr lang="en-US" altLang="zh-CN" dirty="0">
              <a:latin typeface="微软雅黑 Light" panose="020B0502040204020203" pitchFamily="34" charset="-122"/>
              <a:ea typeface="微软雅黑 Light" panose="020B0502040204020203" pitchFamily="34" charset="-122"/>
            </a:endParaRPr>
          </a:p>
          <a:p>
            <a:br>
              <a:rPr lang="zh-CN" altLang="en-US" dirty="0">
                <a:latin typeface="微软雅黑 Light" panose="020B0502040204020203" pitchFamily="34" charset="-122"/>
                <a:ea typeface="微软雅黑 Light" panose="020B0502040204020203" pitchFamily="34" charset="-122"/>
              </a:rPr>
            </a:br>
            <a:r>
              <a:rPr lang="zh-CN" altLang="en-US" sz="1400" dirty="0">
                <a:latin typeface="微软雅黑 Light" panose="020B0502040204020203" pitchFamily="34" charset="-122"/>
                <a:ea typeface="微软雅黑 Light" panose="020B0502040204020203" pitchFamily="34" charset="-122"/>
              </a:rPr>
              <a:t>员工需定期商讨热点事件和历史事件，进行头脑风暴，提高自身的思想高度。</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pic>
        <p:nvPicPr>
          <p:cNvPr id="12" name="Picture 12"/>
          <p:cNvPicPr>
            <a:picLocks noChangeAspect="1"/>
          </p:cNvPicPr>
          <p:nvPr/>
        </p:nvPicPr>
        <p:blipFill>
          <a:blip r:embed="rId2"/>
          <a:srcRect l="16667" r="16667"/>
          <a:stretch>
            <a:fillRect/>
          </a:stretch>
        </p:blipFill>
        <p:spPr>
          <a:xfrm>
            <a:off x="827728" y="1232187"/>
            <a:ext cx="4346281" cy="4346281"/>
          </a:xfrm>
          <a:prstGeom prst="diamond">
            <a:avLst/>
          </a:prstGeom>
        </p:spPr>
      </p:pic>
      <p:sp>
        <p:nvSpPr>
          <p:cNvPr id="13" name="AutoShape 13"/>
          <p:cNvSpPr/>
          <p:nvPr/>
        </p:nvSpPr>
        <p:spPr>
          <a:xfrm>
            <a:off x="818301" y="159022"/>
            <a:ext cx="3057247" cy="523220"/>
          </a:xfrm>
          <a:prstGeom prst="rect">
            <a:avLst/>
          </a:prstGeom>
          <a:noFill/>
          <a:ln/>
        </p:spPr>
        <p:txBody>
          <a:bodyPr vert="horz" wrap="square" lIns="91440" tIns="45720" rIns="91440" bIns="45720" rtlCol="0" anchor="t" anchorCtr="0">
            <a:normAutofit/>
          </a:bodyPr>
          <a:lstStyle/>
          <a:p>
            <a:pPr algn="l">
              <a:defRPr/>
            </a:pPr>
            <a:r>
              <a:rPr lang="en-US" sz="2799" dirty="0" err="1">
                <a:solidFill>
                  <a:srgbClr val="787878">
                    <a:alpha val="100000"/>
                  </a:srgbClr>
                </a:solidFill>
                <a:latin typeface="微软雅黑 Light"/>
                <a:ea typeface="微软雅黑 Light"/>
                <a:cs typeface="微软雅黑 Light"/>
              </a:rPr>
              <a:t>风险分析与对策</a:t>
            </a:r>
            <a:endParaRPr lang="en-US" sz="1100" dirty="0"/>
          </a:p>
        </p:txBody>
      </p:sp>
      <p:sp>
        <p:nvSpPr>
          <p:cNvPr id="14" name="文本框 13">
            <a:extLst>
              <a:ext uri="{FF2B5EF4-FFF2-40B4-BE49-F238E27FC236}">
                <a16:creationId xmlns:a16="http://schemas.microsoft.com/office/drawing/2014/main" id="{E5D912FE-3DC0-DA4F-9FDF-47A61047C05B}"/>
              </a:ext>
            </a:extLst>
          </p:cNvPr>
          <p:cNvSpPr txBox="1"/>
          <p:nvPr/>
        </p:nvSpPr>
        <p:spPr>
          <a:xfrm>
            <a:off x="5638800" y="838200"/>
            <a:ext cx="6112387" cy="1338828"/>
          </a:xfrm>
          <a:prstGeom prst="rect">
            <a:avLst/>
          </a:prstGeom>
          <a:noFill/>
        </p:spPr>
        <p:txBody>
          <a:bodyPr wrap="square" rtlCol="0">
            <a:spAutoFit/>
          </a:bodyPr>
          <a:lstStyle/>
          <a:p>
            <a:r>
              <a:rPr lang="zh-CN" altLang="en-US" sz="2250" b="1" dirty="0">
                <a:solidFill>
                  <a:schemeClr val="accent1"/>
                </a:solidFill>
              </a:rPr>
              <a:t>模式风险</a:t>
            </a:r>
            <a:endParaRPr lang="en-US" altLang="zh-CN" sz="2250" b="1" dirty="0">
              <a:solidFill>
                <a:schemeClr val="accent1"/>
              </a:solidFill>
            </a:endParaRPr>
          </a:p>
          <a:p>
            <a:endParaRPr lang="en-US" altLang="zh-CN" sz="2250" dirty="0"/>
          </a:p>
          <a:p>
            <a:r>
              <a:rPr lang="zh-CN" altLang="en-US" dirty="0"/>
              <a:t>目以核心模式基于用户心理测试，选择陪伴对象，通过谈话、互动解决情绪问题。</a:t>
            </a:r>
          </a:p>
        </p:txBody>
      </p:sp>
      <p:sp>
        <p:nvSpPr>
          <p:cNvPr id="16" name="文本框 15">
            <a:extLst>
              <a:ext uri="{FF2B5EF4-FFF2-40B4-BE49-F238E27FC236}">
                <a16:creationId xmlns:a16="http://schemas.microsoft.com/office/drawing/2014/main" id="{8A941C2F-7BF6-6B71-06C8-9E91484BDF3E}"/>
              </a:ext>
            </a:extLst>
          </p:cNvPr>
          <p:cNvSpPr txBox="1"/>
          <p:nvPr/>
        </p:nvSpPr>
        <p:spPr>
          <a:xfrm>
            <a:off x="5633503" y="2667000"/>
            <a:ext cx="5638800" cy="1269578"/>
          </a:xfrm>
          <a:prstGeom prst="rect">
            <a:avLst/>
          </a:prstGeom>
          <a:noFill/>
        </p:spPr>
        <p:txBody>
          <a:bodyPr wrap="square" rtlCol="0">
            <a:spAutoFit/>
          </a:bodyPr>
          <a:lstStyle/>
          <a:p>
            <a:r>
              <a:rPr lang="zh-CN" altLang="en-US" sz="2250" b="1" dirty="0">
                <a:solidFill>
                  <a:schemeClr val="accent1"/>
                </a:solidFill>
                <a:latin typeface="+mn-ea"/>
              </a:rPr>
              <a:t>政策风险</a:t>
            </a:r>
            <a:endParaRPr lang="en-US" altLang="zh-CN" sz="2250" b="1" dirty="0">
              <a:solidFill>
                <a:schemeClr val="accent1"/>
              </a:solidFill>
              <a:latin typeface="+mn-ea"/>
            </a:endParaRPr>
          </a:p>
          <a:p>
            <a:br>
              <a:rPr lang="zh-CN" altLang="en-US" dirty="0">
                <a:latin typeface="+mn-ea"/>
              </a:rPr>
            </a:br>
            <a:r>
              <a:rPr lang="zh-CN" altLang="en-US" dirty="0">
                <a:latin typeface="+mn-ea"/>
              </a:rPr>
              <a:t>国家重视年轻群体心理问题，通过扶持政策、合作宣传，避免收支不平衡。</a:t>
            </a:r>
          </a:p>
        </p:txBody>
      </p:sp>
      <p:sp>
        <p:nvSpPr>
          <p:cNvPr id="17" name="文本框 16">
            <a:extLst>
              <a:ext uri="{FF2B5EF4-FFF2-40B4-BE49-F238E27FC236}">
                <a16:creationId xmlns:a16="http://schemas.microsoft.com/office/drawing/2014/main" id="{017E78BA-C277-E07C-7E24-2F7A71C4704B}"/>
              </a:ext>
            </a:extLst>
          </p:cNvPr>
          <p:cNvSpPr txBox="1"/>
          <p:nvPr/>
        </p:nvSpPr>
        <p:spPr>
          <a:xfrm>
            <a:off x="5715000" y="4419599"/>
            <a:ext cx="5105400" cy="1546577"/>
          </a:xfrm>
          <a:prstGeom prst="rect">
            <a:avLst/>
          </a:prstGeom>
          <a:noFill/>
        </p:spPr>
        <p:txBody>
          <a:bodyPr wrap="square" rtlCol="0">
            <a:spAutoFit/>
          </a:bodyPr>
          <a:lstStyle/>
          <a:p>
            <a:r>
              <a:rPr lang="zh-CN" altLang="en-US" sz="2250" b="1" dirty="0">
                <a:solidFill>
                  <a:schemeClr val="accent1"/>
                </a:solidFill>
              </a:rPr>
              <a:t>市场风险</a:t>
            </a:r>
            <a:endParaRPr lang="en-US" altLang="zh-CN" sz="2250" b="1" dirty="0">
              <a:solidFill>
                <a:schemeClr val="accent1"/>
              </a:solidFill>
            </a:endParaRPr>
          </a:p>
          <a:p>
            <a:endParaRPr lang="en-US" altLang="zh-CN" dirty="0"/>
          </a:p>
          <a:p>
            <a:r>
              <a:rPr lang="zh-CN" altLang="en-US" dirty="0"/>
              <a:t>市场竞争激烈，客户喜好和需求随着时代变化，需增强故事内容新颖性，研发新功能，打造自身特色。</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pic>
        <p:nvPicPr>
          <p:cNvPr id="4" name="Picture 4"/>
          <p:cNvPicPr>
            <a:picLocks noChangeAspect="1"/>
          </p:cNvPicPr>
          <p:nvPr/>
        </p:nvPicPr>
        <p:blipFill>
          <a:blip r:embed="rId2"/>
          <a:srcRect l="16667" r="16667"/>
          <a:stretch>
            <a:fillRect/>
          </a:stretch>
        </p:blipFill>
        <p:spPr>
          <a:xfrm>
            <a:off x="671635" y="1198944"/>
            <a:ext cx="4896317" cy="4896317"/>
          </a:xfrm>
          <a:prstGeom prst="roundRect">
            <a:avLst/>
          </a:prstGeom>
        </p:spPr>
      </p:pic>
      <p:sp>
        <p:nvSpPr>
          <p:cNvPr id="5" name="TextBox 5"/>
          <p:cNvSpPr txBox="1"/>
          <p:nvPr/>
        </p:nvSpPr>
        <p:spPr>
          <a:xfrm>
            <a:off x="6117399" y="1833417"/>
            <a:ext cx="4823847" cy="947538"/>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系统功能研发运行中可能出现卡顿、动作错误、黑屏等情况，需拓宽人才队伍，招聘更多计算机和人工智能人才，研发新技术，维护系统平稳进行。</a:t>
            </a:r>
          </a:p>
        </p:txBody>
      </p:sp>
      <p:sp>
        <p:nvSpPr>
          <p:cNvPr id="6" name="TextBox 6"/>
          <p:cNvSpPr txBox="1"/>
          <p:nvPr/>
        </p:nvSpPr>
        <p:spPr>
          <a:xfrm>
            <a:off x="6117399" y="1466523"/>
            <a:ext cx="3971456" cy="349838"/>
          </a:xfrm>
          <a:prstGeom prst="rect">
            <a:avLst/>
          </a:prstGeom>
          <a:ln/>
        </p:spPr>
        <p:txBody>
          <a:bodyPr vert="horz" wrap="square" lIns="114300" tIns="57150" rIns="114300" bIns="57150" rtlCol="0" anchor="t" anchorCtr="0">
            <a:normAutofit/>
          </a:bodyPr>
          <a:lstStyle/>
          <a:p>
            <a:pPr>
              <a:lnSpc>
                <a:spcPct val="77000"/>
              </a:lnSpc>
            </a:pPr>
            <a:r>
              <a:rPr lang="en-US" sz="1500" b="1">
                <a:solidFill>
                  <a:schemeClr val="accent1">
                    <a:alpha val="100000"/>
                  </a:schemeClr>
                </a:solidFill>
                <a:latin typeface="Microsoft Yahei"/>
                <a:ea typeface="Microsoft Yahei"/>
                <a:cs typeface="Microsoft Yahei"/>
              </a:rPr>
              <a:t>技术风险</a:t>
            </a:r>
          </a:p>
        </p:txBody>
      </p:sp>
      <p:sp>
        <p:nvSpPr>
          <p:cNvPr id="7" name="TextBox 7"/>
          <p:cNvSpPr txBox="1"/>
          <p:nvPr/>
        </p:nvSpPr>
        <p:spPr>
          <a:xfrm>
            <a:off x="6117399" y="3371805"/>
            <a:ext cx="4823847" cy="947538"/>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用户对系统谈话或故事内容兴趣不高或感到不满，系统吸引力低，需加大设备投入，提高运行能力和承载能力，保护系统正常运行。</a:t>
            </a:r>
          </a:p>
        </p:txBody>
      </p:sp>
      <p:sp>
        <p:nvSpPr>
          <p:cNvPr id="8" name="TextBox 8"/>
          <p:cNvSpPr txBox="1"/>
          <p:nvPr/>
        </p:nvSpPr>
        <p:spPr>
          <a:xfrm>
            <a:off x="6117399" y="3039750"/>
            <a:ext cx="3971456" cy="349838"/>
          </a:xfrm>
          <a:prstGeom prst="rect">
            <a:avLst/>
          </a:prstGeom>
          <a:ln/>
        </p:spPr>
        <p:txBody>
          <a:bodyPr vert="horz" wrap="square" lIns="114300" tIns="57150" rIns="114300" bIns="57150" rtlCol="0" anchor="t" anchorCtr="0">
            <a:normAutofit/>
          </a:bodyPr>
          <a:lstStyle/>
          <a:p>
            <a:pPr>
              <a:lnSpc>
                <a:spcPct val="77000"/>
              </a:lnSpc>
            </a:pPr>
            <a:r>
              <a:rPr lang="en-US" sz="1500" b="1">
                <a:solidFill>
                  <a:schemeClr val="accent1">
                    <a:alpha val="100000"/>
                  </a:schemeClr>
                </a:solidFill>
                <a:latin typeface="Microsoft Yahei"/>
                <a:ea typeface="Microsoft Yahei"/>
                <a:cs typeface="Microsoft Yahei"/>
              </a:rPr>
              <a:t>使用风险</a:t>
            </a:r>
          </a:p>
        </p:txBody>
      </p:sp>
      <p:sp>
        <p:nvSpPr>
          <p:cNvPr id="9" name="TextBox 9"/>
          <p:cNvSpPr txBox="1"/>
          <p:nvPr/>
        </p:nvSpPr>
        <p:spPr>
          <a:xfrm>
            <a:off x="6117399" y="4966332"/>
            <a:ext cx="4823847" cy="947538"/>
          </a:xfrm>
          <a:prstGeom prst="rect">
            <a:avLst/>
          </a:prstGeom>
          <a:ln/>
        </p:spPr>
        <p:txBody>
          <a:bodyPr vert="horz" wrap="square" lIns="114300" tIns="57150" rIns="114300" bIns="57150" rtlCol="0" anchor="t" anchorCtr="0">
            <a:normAutofit/>
          </a:bodyPr>
          <a:lstStyle/>
          <a:p>
            <a:pPr>
              <a:lnSpc>
                <a:spcPct val="120000"/>
              </a:lnSpc>
            </a:pPr>
            <a:r>
              <a:rPr lang="en-US" sz="1425">
                <a:solidFill>
                  <a:schemeClr val="dk1">
                    <a:alpha val="100000"/>
                  </a:schemeClr>
                </a:solidFill>
                <a:latin typeface="Microsoft Yahei"/>
                <a:ea typeface="Microsoft Yahei"/>
                <a:cs typeface="Microsoft Yahei"/>
              </a:rPr>
              <a:t>业务人员专业素质不足，公司营销策略方向错误，引发用户不满，导致系统评分降低，不利于系统推广。</a:t>
            </a:r>
          </a:p>
        </p:txBody>
      </p:sp>
      <p:sp>
        <p:nvSpPr>
          <p:cNvPr id="10" name="TextBox 10"/>
          <p:cNvSpPr txBox="1"/>
          <p:nvPr/>
        </p:nvSpPr>
        <p:spPr>
          <a:xfrm>
            <a:off x="6117399" y="4594438"/>
            <a:ext cx="3971456" cy="349838"/>
          </a:xfrm>
          <a:prstGeom prst="rect">
            <a:avLst/>
          </a:prstGeom>
          <a:ln/>
        </p:spPr>
        <p:txBody>
          <a:bodyPr vert="horz" wrap="square" lIns="114300" tIns="57150" rIns="114300" bIns="57150" rtlCol="0" anchor="t" anchorCtr="0">
            <a:normAutofit/>
          </a:bodyPr>
          <a:lstStyle/>
          <a:p>
            <a:pPr>
              <a:lnSpc>
                <a:spcPct val="77000"/>
              </a:lnSpc>
            </a:pPr>
            <a:r>
              <a:rPr lang="en-US" sz="1500" b="1">
                <a:solidFill>
                  <a:schemeClr val="accent1">
                    <a:alpha val="100000"/>
                  </a:schemeClr>
                </a:solidFill>
                <a:latin typeface="Microsoft Yahei"/>
                <a:ea typeface="Microsoft Yahei"/>
                <a:cs typeface="Microsoft Yahei"/>
              </a:rPr>
              <a:t>营销风险</a:t>
            </a:r>
          </a:p>
        </p:txBody>
      </p:sp>
      <p:sp>
        <p:nvSpPr>
          <p:cNvPr id="11" name="AutoShape 11"/>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649">
                <a:solidFill>
                  <a:srgbClr val="787878">
                    <a:alpha val="100000"/>
                  </a:srgbClr>
                </a:solidFill>
                <a:latin typeface="微软雅黑 Light"/>
                <a:ea typeface="微软雅黑 Light"/>
                <a:cs typeface="微软雅黑 Light"/>
              </a:rPr>
              <a:t>风险分析与对策</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37026"/>
            <a:ext cx="540000" cy="540000"/>
          </a:xfrm>
          <a:prstGeom prst="diamond">
            <a:avLst/>
          </a:prstGeom>
          <a:solidFill>
            <a:srgbClr val="AAC2AC">
              <a:alpha val="100000"/>
            </a:srgbClr>
          </a:solidFill>
          <a:ln/>
        </p:spPr>
      </p:sp>
      <p:sp>
        <p:nvSpPr>
          <p:cNvPr id="3" name="AutoShape 3"/>
          <p:cNvSpPr/>
          <p:nvPr/>
        </p:nvSpPr>
        <p:spPr>
          <a:xfrm>
            <a:off x="190500" y="137026"/>
            <a:ext cx="540000" cy="540000"/>
          </a:xfrm>
          <a:prstGeom prst="diamond">
            <a:avLst/>
          </a:prstGeom>
          <a:noFill/>
          <a:ln w="12700">
            <a:solidFill>
              <a:schemeClr val="accent3">
                <a:alpha val="100000"/>
              </a:schemeClr>
            </a:solidFill>
            <a:prstDash val="solid"/>
          </a:ln>
        </p:spPr>
      </p:sp>
      <p:pic>
        <p:nvPicPr>
          <p:cNvPr id="4" name="Picture 4"/>
          <p:cNvPicPr>
            <a:picLocks noChangeAspect="1"/>
          </p:cNvPicPr>
          <p:nvPr/>
        </p:nvPicPr>
        <p:blipFill>
          <a:blip r:embed="rId2">
            <a:alphaModFix amt="70000"/>
          </a:blip>
          <a:srcRect l="22042" r="22042"/>
          <a:stretch>
            <a:fillRect/>
          </a:stretch>
        </p:blipFill>
        <p:spPr>
          <a:xfrm>
            <a:off x="894857" y="1348099"/>
            <a:ext cx="4613239" cy="4613239"/>
          </a:xfrm>
          <a:prstGeom prst="roundRect">
            <a:avLst/>
          </a:prstGeom>
        </p:spPr>
      </p:pic>
      <p:sp>
        <p:nvSpPr>
          <p:cNvPr id="5" name="TextBox 5"/>
          <p:cNvSpPr txBox="1"/>
          <p:nvPr/>
        </p:nvSpPr>
        <p:spPr>
          <a:xfrm>
            <a:off x="5964315" y="1910609"/>
            <a:ext cx="4536281" cy="1751005"/>
          </a:xfrm>
          <a:prstGeom prst="rect">
            <a:avLst/>
          </a:prstGeom>
          <a:ln/>
        </p:spPr>
        <p:txBody>
          <a:bodyPr vert="horz" wrap="square" lIns="123825" tIns="123825" rIns="57150" bIns="123825" rtlCol="0" anchor="t" anchorCtr="0">
            <a:normAutofit/>
          </a:bodyPr>
          <a:lstStyle/>
          <a:p>
            <a:pPr>
              <a:lnSpc>
                <a:spcPct val="186000"/>
              </a:lnSpc>
            </a:pPr>
            <a:r>
              <a:rPr lang="en-US" sz="1275">
                <a:solidFill>
                  <a:schemeClr val="dk1">
                    <a:alpha val="100000"/>
                  </a:schemeClr>
                </a:solidFill>
                <a:latin typeface="Microsoft Yahei"/>
                <a:ea typeface="Microsoft Yahei"/>
                <a:cs typeface="Microsoft Yahei"/>
              </a:rPr>
              <a:t>公司进行人才筛选，聘请专业人士对于新加员工进行培训，提高他们的专业素质能力。加强公司制度建设，建立完善的审批制度。</a:t>
            </a:r>
          </a:p>
        </p:txBody>
      </p:sp>
      <p:sp>
        <p:nvSpPr>
          <p:cNvPr id="6" name="TextBox 6"/>
          <p:cNvSpPr txBox="1"/>
          <p:nvPr/>
        </p:nvSpPr>
        <p:spPr>
          <a:xfrm>
            <a:off x="5964315" y="1288469"/>
            <a:ext cx="4418338" cy="798385"/>
          </a:xfrm>
          <a:prstGeom prst="rect">
            <a:avLst/>
          </a:prstGeom>
          <a:ln/>
        </p:spPr>
        <p:txBody>
          <a:bodyPr vert="horz" wrap="square" lIns="123825" tIns="123825" rIns="57150" bIns="123825" rtlCol="0" anchor="t" anchorCtr="0">
            <a:normAutofit/>
          </a:bodyPr>
          <a:lstStyle/>
          <a:p>
            <a:pPr>
              <a:lnSpc>
                <a:spcPct val="186000"/>
              </a:lnSpc>
            </a:pPr>
            <a:r>
              <a:rPr lang="en-US" sz="1800" b="1">
                <a:solidFill>
                  <a:schemeClr val="accent1">
                    <a:alpha val="100000"/>
                  </a:schemeClr>
                </a:solidFill>
                <a:latin typeface="Microsoft Yahei"/>
                <a:ea typeface="Microsoft Yahei"/>
                <a:cs typeface="Microsoft Yahei"/>
              </a:rPr>
              <a:t>解决方案</a:t>
            </a:r>
          </a:p>
        </p:txBody>
      </p:sp>
      <p:sp>
        <p:nvSpPr>
          <p:cNvPr id="7" name="TextBox 7"/>
          <p:cNvSpPr txBox="1"/>
          <p:nvPr/>
        </p:nvSpPr>
        <p:spPr>
          <a:xfrm>
            <a:off x="5964315" y="4285654"/>
            <a:ext cx="4536281" cy="1751005"/>
          </a:xfrm>
          <a:prstGeom prst="rect">
            <a:avLst/>
          </a:prstGeom>
          <a:ln/>
        </p:spPr>
        <p:txBody>
          <a:bodyPr vert="horz" wrap="square" lIns="123825" tIns="123825" rIns="57150" bIns="123825" rtlCol="0" anchor="t" anchorCtr="0">
            <a:normAutofit/>
          </a:bodyPr>
          <a:lstStyle/>
          <a:p>
            <a:pPr>
              <a:lnSpc>
                <a:spcPct val="186000"/>
              </a:lnSpc>
            </a:pPr>
            <a:r>
              <a:rPr lang="en-US" sz="1275">
                <a:solidFill>
                  <a:schemeClr val="dk1">
                    <a:alpha val="100000"/>
                  </a:schemeClr>
                </a:solidFill>
                <a:latin typeface="Microsoft Yahei"/>
                <a:ea typeface="Microsoft Yahei"/>
                <a:cs typeface="Microsoft Yahei"/>
              </a:rPr>
              <a:t>营造良好的工作环境，建设良好的企业文化，有利于提高员工的工作效率和质量，从而促进企业的发展和壮大。</a:t>
            </a:r>
          </a:p>
        </p:txBody>
      </p:sp>
      <p:sp>
        <p:nvSpPr>
          <p:cNvPr id="9" name="AutoShape 9"/>
          <p:cNvSpPr/>
          <p:nvPr/>
        </p:nvSpPr>
        <p:spPr>
          <a:xfrm>
            <a:off x="730700" y="190138"/>
            <a:ext cx="3057247" cy="523220"/>
          </a:xfrm>
          <a:prstGeom prst="rect">
            <a:avLst/>
          </a:prstGeom>
          <a:noFill/>
          <a:ln/>
        </p:spPr>
        <p:txBody>
          <a:bodyPr vert="horz" wrap="square" lIns="91440" tIns="45720" rIns="91440" bIns="45720" rtlCol="0" anchor="t" anchorCtr="0">
            <a:normAutofit/>
          </a:bodyPr>
          <a:lstStyle/>
          <a:p>
            <a:pPr algn="l">
              <a:defRPr/>
            </a:pPr>
            <a:r>
              <a:rPr lang="en-US" sz="2649">
                <a:solidFill>
                  <a:srgbClr val="787878">
                    <a:alpha val="100000"/>
                  </a:srgbClr>
                </a:solidFill>
                <a:latin typeface="微软雅黑 Light"/>
                <a:ea typeface="微软雅黑 Light"/>
                <a:cs typeface="微软雅黑 Light"/>
              </a:rPr>
              <a:t>风险分析与对策</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32715" y="2540"/>
            <a:ext cx="4235450" cy="7025640"/>
          </a:xfrm>
          <a:prstGeom prst="rect">
            <a:avLst/>
          </a:prstGeom>
          <a:solidFill>
            <a:srgbClr val="AAC2AC">
              <a:alpha val="37000"/>
            </a:srgbClr>
          </a:solidFill>
          <a:ln w="12700">
            <a:solidFill>
              <a:srgbClr val="7C8E7D">
                <a:alpha val="100000"/>
              </a:srgbClr>
            </a:solidFill>
            <a:prstDash val="solid"/>
          </a:ln>
        </p:spPr>
      </p:sp>
      <p:sp>
        <p:nvSpPr>
          <p:cNvPr id="3" name="AutoShape 3"/>
          <p:cNvSpPr/>
          <p:nvPr/>
        </p:nvSpPr>
        <p:spPr>
          <a:xfrm>
            <a:off x="4102735" y="0"/>
            <a:ext cx="2407920" cy="6858000"/>
          </a:xfrm>
          <a:prstGeom prst="rect">
            <a:avLst/>
          </a:prstGeom>
          <a:solidFill>
            <a:srgbClr val="AAC2AC">
              <a:alpha val="100000"/>
            </a:srgbClr>
          </a:solidFill>
          <a:ln/>
        </p:spPr>
      </p:sp>
      <p:sp>
        <p:nvSpPr>
          <p:cNvPr id="4" name="AutoShape 4"/>
          <p:cNvSpPr/>
          <p:nvPr/>
        </p:nvSpPr>
        <p:spPr>
          <a:xfrm>
            <a:off x="1912573" y="1287254"/>
            <a:ext cx="3406471" cy="3406471"/>
          </a:xfrm>
          <a:prstGeom prst="diamond">
            <a:avLst/>
          </a:prstGeom>
          <a:solidFill>
            <a:srgbClr val="F3D3BC">
              <a:alpha val="100000"/>
            </a:srgbClr>
          </a:solidFill>
          <a:ln/>
          <a:effectLst>
            <a:outerShdw blurRad="50800" dist="38100" dir="2700000">
              <a:srgbClr val="000000">
                <a:alpha val="40000"/>
              </a:srgbClr>
            </a:outerShdw>
          </a:effectLst>
        </p:spPr>
      </p:sp>
      <p:sp>
        <p:nvSpPr>
          <p:cNvPr id="5" name="AutoShape 5"/>
          <p:cNvSpPr/>
          <p:nvPr/>
        </p:nvSpPr>
        <p:spPr>
          <a:xfrm>
            <a:off x="2224855" y="1599536"/>
            <a:ext cx="2781907" cy="2781907"/>
          </a:xfrm>
          <a:prstGeom prst="diamond">
            <a:avLst/>
          </a:prstGeom>
          <a:solidFill>
            <a:srgbClr val="FFFFFF">
              <a:alpha val="81000"/>
            </a:srgbClr>
          </a:solidFill>
          <a:ln/>
          <a:effectLst>
            <a:outerShdw blurRad="50800" dist="38100" dir="2700000">
              <a:srgbClr val="000000">
                <a:alpha val="40000"/>
              </a:srgbClr>
            </a:outerShdw>
          </a:effectLst>
        </p:spPr>
      </p:sp>
      <p:sp>
        <p:nvSpPr>
          <p:cNvPr id="6" name="AutoShape 6"/>
          <p:cNvSpPr/>
          <p:nvPr/>
        </p:nvSpPr>
        <p:spPr>
          <a:xfrm>
            <a:off x="2428079" y="1802760"/>
            <a:ext cx="2375459" cy="2375459"/>
          </a:xfrm>
          <a:prstGeom prst="diamond">
            <a:avLst/>
          </a:prstGeom>
          <a:solidFill>
            <a:srgbClr val="F3D3BC">
              <a:alpha val="100000"/>
            </a:srgbClr>
          </a:solidFill>
          <a:ln/>
          <a:effectLst>
            <a:outerShdw blurRad="50800" dist="38100" dir="2700000">
              <a:srgbClr val="000000">
                <a:alpha val="40000"/>
              </a:srgbClr>
            </a:outerShdw>
          </a:effectLst>
        </p:spPr>
        <p:txBody>
          <a:bodyPr vert="horz" wrap="square" lIns="91440" tIns="45720" rIns="91440" bIns="45720" rtlCol="0" anchor="ctr" anchorCtr="0">
            <a:noAutofit/>
          </a:bodyPr>
          <a:lstStyle/>
          <a:p>
            <a:pPr algn="ctr">
              <a:defRPr/>
            </a:pPr>
            <a:r>
              <a:rPr lang="en-US" sz="2400">
                <a:solidFill>
                  <a:srgbClr val="FFFFFF">
                    <a:alpha val="100000"/>
                  </a:srgbClr>
                </a:solidFill>
                <a:latin typeface="Georgia"/>
                <a:ea typeface="Georgia"/>
                <a:cs typeface="Georgia"/>
              </a:rPr>
              <a:t>LOGO</a:t>
            </a:r>
            <a:endParaRPr lang="en-US" sz="1100"/>
          </a:p>
        </p:txBody>
      </p:sp>
      <p:sp>
        <p:nvSpPr>
          <p:cNvPr id="7" name="AutoShape 7"/>
          <p:cNvSpPr/>
          <p:nvPr/>
        </p:nvSpPr>
        <p:spPr>
          <a:xfrm>
            <a:off x="2161840" y="1599578"/>
            <a:ext cx="602250" cy="602250"/>
          </a:xfrm>
          <a:prstGeom prst="diamond">
            <a:avLst/>
          </a:prstGeom>
          <a:solidFill>
            <a:srgbClr val="F3D3BC">
              <a:alpha val="100000"/>
            </a:srgbClr>
          </a:solidFill>
          <a:ln/>
          <a:effectLst>
            <a:outerShdw blurRad="50800" dist="38100" dir="2700000">
              <a:srgbClr val="000000">
                <a:alpha val="40000"/>
              </a:srgbClr>
            </a:outerShdw>
          </a:effectLst>
        </p:spPr>
      </p:sp>
      <p:sp>
        <p:nvSpPr>
          <p:cNvPr id="8" name="AutoShape 8"/>
          <p:cNvSpPr/>
          <p:nvPr/>
        </p:nvSpPr>
        <p:spPr>
          <a:xfrm>
            <a:off x="2763757" y="856158"/>
            <a:ext cx="422417" cy="422417"/>
          </a:xfrm>
          <a:prstGeom prst="diamond">
            <a:avLst/>
          </a:prstGeom>
          <a:solidFill>
            <a:srgbClr val="F3D3BC">
              <a:alpha val="100000"/>
            </a:srgbClr>
          </a:solidFill>
          <a:ln/>
          <a:effectLst>
            <a:outerShdw blurRad="50800" dist="38100" dir="2700000">
              <a:srgbClr val="000000">
                <a:alpha val="40000"/>
              </a:srgbClr>
            </a:outerShdw>
          </a:effectLst>
        </p:spPr>
      </p:sp>
      <p:grpSp>
        <p:nvGrpSpPr>
          <p:cNvPr id="9" name="Group 9"/>
          <p:cNvGrpSpPr/>
          <p:nvPr/>
        </p:nvGrpSpPr>
        <p:grpSpPr>
          <a:xfrm rot="16200000" flipH="1">
            <a:off x="4789947" y="2710785"/>
            <a:ext cx="1442023" cy="719425"/>
            <a:chOff x="4789947" y="2710785"/>
            <a:chExt cx="1442023" cy="719425"/>
          </a:xfrm>
        </p:grpSpPr>
        <p:cxnSp>
          <p:nvCxnSpPr>
            <p:cNvPr id="10" name="Connector 10"/>
            <p:cNvCxnSpPr/>
            <p:nvPr/>
          </p:nvCxnSpPr>
          <p:spPr>
            <a:xfrm flipH="1">
              <a:off x="5513340" y="2711579"/>
              <a:ext cx="718630" cy="718631"/>
            </a:xfrm>
            <a:prstGeom prst="line">
              <a:avLst/>
            </a:prstGeom>
            <a:ln w="38100">
              <a:solidFill>
                <a:srgbClr val="FFFFFF">
                  <a:alpha val="100000"/>
                </a:srgbClr>
              </a:solidFill>
              <a:prstDash val="solid"/>
              <a:headEnd type="none"/>
              <a:tailEnd type="none"/>
            </a:ln>
          </p:spPr>
        </p:cxnSp>
        <p:cxnSp>
          <p:nvCxnSpPr>
            <p:cNvPr id="11" name="Connector 11"/>
            <p:cNvCxnSpPr/>
            <p:nvPr/>
          </p:nvCxnSpPr>
          <p:spPr>
            <a:xfrm flipH="1">
              <a:off x="4789947" y="2710785"/>
              <a:ext cx="718630" cy="718631"/>
            </a:xfrm>
            <a:prstGeom prst="line">
              <a:avLst/>
            </a:prstGeom>
            <a:ln w="38100">
              <a:solidFill>
                <a:srgbClr val="FFFFFF">
                  <a:alpha val="100000"/>
                </a:srgbClr>
              </a:solidFill>
              <a:prstDash val="solid"/>
              <a:headEnd type="none"/>
              <a:tailEnd type="none"/>
            </a:ln>
          </p:spPr>
        </p:cxnSp>
      </p:grpSp>
      <p:sp>
        <p:nvSpPr>
          <p:cNvPr id="12" name="AutoShape 12"/>
          <p:cNvSpPr/>
          <p:nvPr/>
        </p:nvSpPr>
        <p:spPr>
          <a:xfrm>
            <a:off x="2139442" y="563860"/>
            <a:ext cx="288637" cy="288637"/>
          </a:xfrm>
          <a:prstGeom prst="diamond">
            <a:avLst/>
          </a:prstGeom>
          <a:solidFill>
            <a:srgbClr val="F3D3BC">
              <a:alpha val="100000"/>
            </a:srgbClr>
          </a:solidFill>
          <a:ln/>
          <a:effectLst>
            <a:outerShdw blurRad="50800" dist="38100" dir="2700000">
              <a:srgbClr val="000000">
                <a:alpha val="40000"/>
              </a:srgbClr>
            </a:outerShdw>
          </a:effectLst>
        </p:spPr>
      </p:sp>
      <p:grpSp>
        <p:nvGrpSpPr>
          <p:cNvPr id="13" name="Group 13"/>
          <p:cNvGrpSpPr/>
          <p:nvPr/>
        </p:nvGrpSpPr>
        <p:grpSpPr>
          <a:xfrm>
            <a:off x="5182600" y="5711062"/>
            <a:ext cx="369804" cy="856601"/>
            <a:chOff x="5182600" y="5711062"/>
            <a:chExt cx="369804" cy="856601"/>
          </a:xfrm>
        </p:grpSpPr>
        <p:grpSp>
          <p:nvGrpSpPr>
            <p:cNvPr id="14" name="Group 14"/>
            <p:cNvGrpSpPr/>
            <p:nvPr/>
          </p:nvGrpSpPr>
          <p:grpSpPr>
            <a:xfrm>
              <a:off x="5183210" y="6035217"/>
              <a:ext cx="369194" cy="184188"/>
              <a:chOff x="5183210" y="6035217"/>
              <a:chExt cx="369194" cy="184188"/>
            </a:xfrm>
          </p:grpSpPr>
          <p:cxnSp>
            <p:nvCxnSpPr>
              <p:cNvPr id="15" name="Connector 15"/>
              <p:cNvCxnSpPr/>
              <p:nvPr/>
            </p:nvCxnSpPr>
            <p:spPr>
              <a:xfrm flipH="1">
                <a:off x="5368417" y="6035418"/>
                <a:ext cx="183987" cy="183987"/>
              </a:xfrm>
              <a:prstGeom prst="line">
                <a:avLst/>
              </a:prstGeom>
              <a:ln w="38100">
                <a:solidFill>
                  <a:srgbClr val="FFFFFF">
                    <a:alpha val="100000"/>
                  </a:srgbClr>
                </a:solidFill>
                <a:prstDash val="solid"/>
                <a:headEnd type="none"/>
                <a:tailEnd type="none"/>
              </a:ln>
            </p:spPr>
          </p:cxnSp>
          <p:cxnSp>
            <p:nvCxnSpPr>
              <p:cNvPr id="16" name="Connector 16"/>
              <p:cNvCxnSpPr/>
              <p:nvPr/>
            </p:nvCxnSpPr>
            <p:spPr>
              <a:xfrm flipH="1">
                <a:off x="5183210" y="6035217"/>
                <a:ext cx="183987" cy="183988"/>
              </a:xfrm>
              <a:prstGeom prst="line">
                <a:avLst/>
              </a:prstGeom>
              <a:ln w="38100">
                <a:solidFill>
                  <a:srgbClr val="FFFFFF">
                    <a:alpha val="100000"/>
                  </a:srgbClr>
                </a:solidFill>
                <a:prstDash val="solid"/>
                <a:headEnd type="none"/>
                <a:tailEnd type="none"/>
              </a:ln>
            </p:spPr>
          </p:cxnSp>
        </p:grpSp>
        <p:grpSp>
          <p:nvGrpSpPr>
            <p:cNvPr id="17" name="Group 17"/>
            <p:cNvGrpSpPr/>
            <p:nvPr/>
          </p:nvGrpSpPr>
          <p:grpSpPr>
            <a:xfrm>
              <a:off x="5183210" y="5711062"/>
              <a:ext cx="369193" cy="184189"/>
              <a:chOff x="5183210" y="5711062"/>
              <a:chExt cx="369193" cy="184189"/>
            </a:xfrm>
          </p:grpSpPr>
          <p:cxnSp>
            <p:nvCxnSpPr>
              <p:cNvPr id="18" name="Connector 18"/>
              <p:cNvCxnSpPr/>
              <p:nvPr/>
            </p:nvCxnSpPr>
            <p:spPr>
              <a:xfrm flipH="1">
                <a:off x="5368417" y="5711264"/>
                <a:ext cx="183986" cy="183987"/>
              </a:xfrm>
              <a:prstGeom prst="line">
                <a:avLst/>
              </a:prstGeom>
              <a:ln w="38100">
                <a:solidFill>
                  <a:srgbClr val="FFFFFF">
                    <a:alpha val="100000"/>
                  </a:srgbClr>
                </a:solidFill>
                <a:prstDash val="solid"/>
                <a:headEnd type="none"/>
                <a:tailEnd type="none"/>
              </a:ln>
            </p:spPr>
          </p:cxnSp>
          <p:cxnSp>
            <p:nvCxnSpPr>
              <p:cNvPr id="19" name="Connector 19"/>
              <p:cNvCxnSpPr/>
              <p:nvPr/>
            </p:nvCxnSpPr>
            <p:spPr>
              <a:xfrm flipH="1">
                <a:off x="5183210" y="5711062"/>
                <a:ext cx="183986" cy="183987"/>
              </a:xfrm>
              <a:prstGeom prst="line">
                <a:avLst/>
              </a:prstGeom>
              <a:ln w="38100">
                <a:solidFill>
                  <a:srgbClr val="FFFFFF">
                    <a:alpha val="100000"/>
                  </a:srgbClr>
                </a:solidFill>
                <a:prstDash val="solid"/>
                <a:headEnd type="none"/>
                <a:tailEnd type="none"/>
              </a:ln>
            </p:spPr>
          </p:cxnSp>
        </p:grpSp>
        <p:grpSp>
          <p:nvGrpSpPr>
            <p:cNvPr id="20" name="Group 20"/>
            <p:cNvGrpSpPr/>
            <p:nvPr/>
          </p:nvGrpSpPr>
          <p:grpSpPr>
            <a:xfrm>
              <a:off x="5182600" y="6383473"/>
              <a:ext cx="369193" cy="184190"/>
              <a:chOff x="5182600" y="6383473"/>
              <a:chExt cx="369193" cy="184190"/>
            </a:xfrm>
          </p:grpSpPr>
          <p:cxnSp>
            <p:nvCxnSpPr>
              <p:cNvPr id="21" name="Connector 21"/>
              <p:cNvCxnSpPr/>
              <p:nvPr/>
            </p:nvCxnSpPr>
            <p:spPr>
              <a:xfrm flipH="1">
                <a:off x="5367807" y="6383676"/>
                <a:ext cx="183986" cy="183987"/>
              </a:xfrm>
              <a:prstGeom prst="line">
                <a:avLst/>
              </a:prstGeom>
              <a:ln w="38100">
                <a:solidFill>
                  <a:srgbClr val="FFFFFF">
                    <a:alpha val="100000"/>
                  </a:srgbClr>
                </a:solidFill>
                <a:prstDash val="solid"/>
                <a:headEnd type="none"/>
                <a:tailEnd type="none"/>
              </a:ln>
            </p:spPr>
          </p:cxnSp>
          <p:cxnSp>
            <p:nvCxnSpPr>
              <p:cNvPr id="22" name="Connector 22"/>
              <p:cNvCxnSpPr/>
              <p:nvPr/>
            </p:nvCxnSpPr>
            <p:spPr>
              <a:xfrm flipH="1">
                <a:off x="5182600" y="6383473"/>
                <a:ext cx="183986" cy="183987"/>
              </a:xfrm>
              <a:prstGeom prst="line">
                <a:avLst/>
              </a:prstGeom>
              <a:ln w="38100">
                <a:solidFill>
                  <a:srgbClr val="FFFFFF">
                    <a:alpha val="100000"/>
                  </a:srgbClr>
                </a:solidFill>
                <a:prstDash val="solid"/>
                <a:headEnd type="none"/>
                <a:tailEnd type="none"/>
              </a:ln>
            </p:spPr>
          </p:cxnSp>
        </p:grpSp>
      </p:grpSp>
      <p:sp>
        <p:nvSpPr>
          <p:cNvPr id="23" name="TextBox 23"/>
          <p:cNvSpPr txBox="1"/>
          <p:nvPr/>
        </p:nvSpPr>
        <p:spPr>
          <a:xfrm>
            <a:off x="9629140" y="1490345"/>
            <a:ext cx="2534285" cy="1014730"/>
          </a:xfrm>
          <a:prstGeom prst="rect">
            <a:avLst/>
          </a:prstGeom>
          <a:noFill/>
          <a:ln/>
        </p:spPr>
        <p:txBody>
          <a:bodyPr vert="horz" wrap="square" lIns="91440" tIns="45720" rIns="91440" bIns="45720" rtlCol="0" anchor="t" anchorCtr="0">
            <a:normAutofit/>
          </a:bodyPr>
          <a:lstStyle/>
          <a:p>
            <a:pPr algn="l">
              <a:lnSpc>
                <a:spcPct val="80000"/>
              </a:lnSpc>
            </a:pPr>
            <a:r>
              <a:rPr lang="en-US" sz="6000">
                <a:solidFill>
                  <a:srgbClr val="3F3F3F">
                    <a:alpha val="100000"/>
                  </a:srgbClr>
                </a:solidFill>
                <a:latin typeface="微软雅黑"/>
                <a:ea typeface="微软雅黑"/>
                <a:cs typeface="微软雅黑"/>
              </a:rPr>
              <a:t>201X</a:t>
            </a:r>
          </a:p>
        </p:txBody>
      </p:sp>
      <p:sp>
        <p:nvSpPr>
          <p:cNvPr id="24" name="TextBox 24"/>
          <p:cNvSpPr txBox="1"/>
          <p:nvPr/>
        </p:nvSpPr>
        <p:spPr>
          <a:xfrm>
            <a:off x="9173845" y="2505075"/>
            <a:ext cx="5121275" cy="768350"/>
          </a:xfrm>
          <a:prstGeom prst="rect">
            <a:avLst/>
          </a:prstGeom>
          <a:noFill/>
          <a:ln/>
        </p:spPr>
        <p:txBody>
          <a:bodyPr vert="horz" wrap="square" lIns="91440" tIns="45720" rIns="91440" bIns="45720" rtlCol="0" anchor="t" anchorCtr="0">
            <a:normAutofit/>
          </a:bodyPr>
          <a:lstStyle/>
          <a:p>
            <a:pPr algn="l">
              <a:lnSpc>
                <a:spcPct val="80000"/>
              </a:lnSpc>
            </a:pPr>
            <a:r>
              <a:rPr lang="en-US" sz="4400">
                <a:solidFill>
                  <a:srgbClr val="000000">
                    <a:alpha val="100000"/>
                  </a:srgbClr>
                </a:solidFill>
                <a:latin typeface="微软雅黑"/>
                <a:ea typeface="微软雅黑"/>
                <a:cs typeface="微软雅黑"/>
              </a:rPr>
              <a:t>谢谢观看</a:t>
            </a:r>
          </a:p>
        </p:txBody>
      </p:sp>
      <p:sp>
        <p:nvSpPr>
          <p:cNvPr id="25" name="TextBox 25"/>
          <p:cNvSpPr txBox="1"/>
          <p:nvPr/>
        </p:nvSpPr>
        <p:spPr>
          <a:xfrm>
            <a:off x="7675245" y="3305810"/>
            <a:ext cx="4815840" cy="337185"/>
          </a:xfrm>
          <a:prstGeom prst="rect">
            <a:avLst/>
          </a:prstGeom>
          <a:noFill/>
          <a:ln/>
        </p:spPr>
        <p:txBody>
          <a:bodyPr vert="horz" wrap="square" lIns="91440" tIns="45720" rIns="91440" bIns="45720" rtlCol="0" anchor="t" anchorCtr="0">
            <a:normAutofit/>
          </a:bodyPr>
          <a:lstStyle/>
          <a:p>
            <a:pPr algn="l">
              <a:lnSpc>
                <a:spcPct val="80000"/>
              </a:lnSpc>
            </a:pPr>
            <a:r>
              <a:rPr lang="en-US" sz="1599">
                <a:solidFill>
                  <a:srgbClr val="000000">
                    <a:alpha val="100000"/>
                  </a:srgbClr>
                </a:solidFill>
                <a:latin typeface="微软雅黑"/>
                <a:ea typeface="微软雅黑"/>
                <a:cs typeface="微软雅黑"/>
              </a:rPr>
              <a:t>Pure and fresh and enterprise template</a:t>
            </a:r>
          </a:p>
        </p:txBody>
      </p:sp>
      <p:sp>
        <p:nvSpPr>
          <p:cNvPr id="26" name="AutoShape 26"/>
          <p:cNvSpPr/>
          <p:nvPr/>
        </p:nvSpPr>
        <p:spPr>
          <a:xfrm>
            <a:off x="8287385" y="3732530"/>
            <a:ext cx="3591560" cy="521970"/>
          </a:xfrm>
          <a:prstGeom prst="rect">
            <a:avLst/>
          </a:prstGeom>
          <a:noFill/>
          <a:ln/>
        </p:spPr>
        <p:txBody>
          <a:bodyPr vert="horz" wrap="square" lIns="91440" tIns="45720" rIns="91440" bIns="45720" rtlCol="0" anchor="t" anchorCtr="0">
            <a:noAutofit/>
          </a:bodyPr>
          <a:lstStyle/>
          <a:p>
            <a:pPr algn="ctr">
              <a:defRPr/>
            </a:pPr>
            <a:r>
              <a:rPr lang="en-US" sz="1400">
                <a:solidFill>
                  <a:srgbClr val="595959">
                    <a:alpha val="100000"/>
                  </a:srgbClr>
                </a:solidFill>
                <a:latin typeface="Calibri Light"/>
                <a:ea typeface="Calibri Light"/>
                <a:cs typeface="Calibri Light"/>
              </a:rPr>
              <a:t>Lorem ipsum dolor sit amet, consecteturadipiscingelit. Utefficitur  </a:t>
            </a:r>
            <a:r>
              <a:rPr lang="en-US" sz="1400">
                <a:solidFill>
                  <a:srgbClr val="FFFFFF">
                    <a:alpha val="100000"/>
                  </a:srgbClr>
                </a:solidFill>
                <a:latin typeface="Calibri Light"/>
                <a:ea typeface="Calibri Light"/>
                <a:cs typeface="Calibri Light"/>
              </a:rPr>
              <a:t> </a:t>
            </a:r>
            <a:endParaRPr lang="en-US" sz="1100"/>
          </a:p>
        </p:txBody>
      </p:sp>
      <p:sp>
        <p:nvSpPr>
          <p:cNvPr id="27" name="AutoShape 27"/>
          <p:cNvSpPr/>
          <p:nvPr/>
        </p:nvSpPr>
        <p:spPr>
          <a:xfrm flipH="1">
            <a:off x="8424210" y="1632598"/>
            <a:ext cx="602250" cy="602250"/>
          </a:xfrm>
          <a:prstGeom prst="diamond">
            <a:avLst/>
          </a:prstGeom>
          <a:solidFill>
            <a:srgbClr val="AAC2AC">
              <a:alpha val="100000"/>
            </a:srgbClr>
          </a:solidFill>
          <a:ln/>
          <a:effectLst>
            <a:outerShdw blurRad="50800" dist="38100" dir="2700000">
              <a:srgbClr val="000000">
                <a:alpha val="40000"/>
              </a:srgbClr>
            </a:outerShdw>
          </a:effectLst>
        </p:spPr>
      </p:sp>
      <p:sp>
        <p:nvSpPr>
          <p:cNvPr id="28" name="AutoShape 28"/>
          <p:cNvSpPr/>
          <p:nvPr/>
        </p:nvSpPr>
        <p:spPr>
          <a:xfrm flipH="1">
            <a:off x="8986757" y="852983"/>
            <a:ext cx="422417" cy="422417"/>
          </a:xfrm>
          <a:prstGeom prst="diamond">
            <a:avLst/>
          </a:prstGeom>
          <a:solidFill>
            <a:srgbClr val="F3D3BC">
              <a:alpha val="100000"/>
            </a:srgbClr>
          </a:solidFill>
          <a:ln/>
          <a:effectLst>
            <a:outerShdw blurRad="50800" dist="38100" dir="2700000">
              <a:srgbClr val="000000">
                <a:alpha val="40000"/>
              </a:srgbClr>
            </a:outerShdw>
          </a:effectLst>
        </p:spPr>
      </p:sp>
      <p:sp>
        <p:nvSpPr>
          <p:cNvPr id="29" name="AutoShape 29"/>
          <p:cNvSpPr/>
          <p:nvPr/>
        </p:nvSpPr>
        <p:spPr>
          <a:xfrm flipH="1">
            <a:off x="11590147" y="1310620"/>
            <a:ext cx="288637" cy="288637"/>
          </a:xfrm>
          <a:prstGeom prst="diamond">
            <a:avLst/>
          </a:prstGeom>
          <a:solidFill>
            <a:srgbClr val="AAC2AC">
              <a:alpha val="100000"/>
            </a:srgbClr>
          </a:solidFill>
          <a:ln/>
          <a:effectLst>
            <a:outerShdw blurRad="50800" dist="38100" dir="2700000">
              <a:srgbClr val="000000">
                <a:alpha val="40000"/>
              </a:srgbClr>
            </a:outerShdw>
          </a:effectLst>
        </p:spPr>
      </p:sp>
      <p:sp>
        <p:nvSpPr>
          <p:cNvPr id="30" name="AutoShape 30"/>
          <p:cNvSpPr/>
          <p:nvPr/>
        </p:nvSpPr>
        <p:spPr>
          <a:xfrm>
            <a:off x="10522584" y="5177790"/>
            <a:ext cx="1203960" cy="441960"/>
          </a:xfrm>
          <a:prstGeom prst="rect">
            <a:avLst/>
          </a:prstGeom>
          <a:noFill/>
          <a:ln w="28575">
            <a:solidFill>
              <a:srgbClr val="05263F">
                <a:alpha val="100000"/>
              </a:srgbClr>
            </a:solidFill>
            <a:prstDash val="solid"/>
          </a:ln>
        </p:spPr>
      </p:sp>
      <p:sp>
        <p:nvSpPr>
          <p:cNvPr id="31" name="TextBox 31"/>
          <p:cNvSpPr txBox="1"/>
          <p:nvPr/>
        </p:nvSpPr>
        <p:spPr>
          <a:xfrm>
            <a:off x="10629265" y="5106670"/>
            <a:ext cx="1097280" cy="583565"/>
          </a:xfrm>
          <a:prstGeom prst="rect">
            <a:avLst/>
          </a:prstGeom>
          <a:noFill/>
          <a:ln/>
        </p:spPr>
        <p:txBody>
          <a:bodyPr vert="horz" wrap="square" lIns="91440" tIns="45720" rIns="91440" bIns="45720" rtlCol="0" anchor="t" anchorCtr="0">
            <a:normAutofit/>
          </a:bodyPr>
          <a:lstStyle/>
          <a:p>
            <a:pPr algn="l">
              <a:lnSpc>
                <a:spcPct val="80000"/>
              </a:lnSpc>
            </a:pPr>
            <a:r>
              <a:rPr lang="en-US" sz="3200">
                <a:solidFill>
                  <a:srgbClr val="000000">
                    <a:alpha val="100000"/>
                  </a:srgbClr>
                </a:solidFill>
                <a:latin typeface="Calibri Light"/>
                <a:ea typeface="Calibri Light"/>
                <a:cs typeface="Calibri Light"/>
              </a:rPr>
              <a:t>END</a:t>
            </a:r>
          </a:p>
        </p:txBody>
      </p:sp>
    </p:spTree>
  </p:cSld>
  <p:clrMapOvr>
    <a:masterClrMapping/>
  </p:clrMapOvr>
</p:sld>
</file>

<file path=ppt/theme/theme1.xml><?xml version="1.0" encoding="utf-8"?>
<a:theme xmlns:a="http://schemas.openxmlformats.org/drawingml/2006/main" name="Office Theme">
  <a:themeElements>
    <a:clrScheme name="Office">
      <a:dk1>
        <a:srgbClr val="787878"/>
      </a:dk1>
      <a:lt1>
        <a:srgbClr val="FFFFFF"/>
      </a:lt1>
      <a:dk2>
        <a:srgbClr val="778495"/>
      </a:dk2>
      <a:lt2>
        <a:srgbClr val="F0F0F0"/>
      </a:lt2>
      <a:accent1>
        <a:srgbClr val="AAC2AC"/>
      </a:accent1>
      <a:accent2>
        <a:srgbClr val="AAC2AC"/>
      </a:accent2>
      <a:accent3>
        <a:srgbClr val="AAC2AC"/>
      </a:accent3>
      <a:accent4>
        <a:srgbClr val="AAC2AC"/>
      </a:accent4>
      <a:accent5>
        <a:srgbClr val="0B4F76"/>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1061</Words>
  <Application>Microsoft Office PowerPoint</Application>
  <PresentationFormat>宽屏</PresentationFormat>
  <Paragraphs>229</Paragraphs>
  <Slides>30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Microsoft Yahei</vt:lpstr>
      <vt:lpstr>Microsoft Yahei</vt:lpstr>
      <vt:lpstr>微软雅黑 Light</vt:lpstr>
      <vt:lpstr>文泉驿微米黑</vt:lpstr>
      <vt:lpstr>Arial</vt:lpstr>
      <vt:lpstr>Calibri</vt:lpstr>
      <vt:lpstr>Calibri Light</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谓之 金草</cp:lastModifiedBy>
  <cp:revision>8</cp:revision>
  <dcterms:created xsi:type="dcterms:W3CDTF">2006-08-16T00:00:00Z</dcterms:created>
  <dcterms:modified xsi:type="dcterms:W3CDTF">2024-06-04T12:31:41Z</dcterms:modified>
</cp:coreProperties>
</file>